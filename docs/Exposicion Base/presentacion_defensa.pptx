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0" y="0"/>
            <a:ext cx="4937760" cy="6858000"/>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8032" y="0"/>
            <a:ext cx="118872" cy="6858000"/>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74920" y="594360"/>
            <a:ext cx="6812280" cy="384048"/>
          </a:xfrm>
          <a:prstGeom prst="rect">
            <a:avLst/>
          </a:prstGeom>
          <a:noFill/>
        </p:spPr>
        <p:txBody>
          <a:bodyPr wrap="square">
            <a:spAutoFit/>
          </a:bodyPr>
          <a:lstStyle/>
          <a:p>
            <a:pPr algn="l"/>
            <a:r>
              <a:rPr sz="1200" b="1" i="0">
                <a:solidFill>
                  <a:srgbClr val="8CC63F"/>
                </a:solidFill>
                <a:latin typeface="Calibri"/>
              </a:rPr>
              <a:t>CONSTRUCCIÓN DE UN MODELO PREDICTIVO</a:t>
            </a:r>
          </a:p>
        </p:txBody>
      </p:sp>
      <p:sp>
        <p:nvSpPr>
          <p:cNvPr id="5" name="TextBox 4"/>
          <p:cNvSpPr txBox="1"/>
          <p:nvPr/>
        </p:nvSpPr>
        <p:spPr>
          <a:xfrm>
            <a:off x="5074920" y="1024128"/>
            <a:ext cx="6812280" cy="3291840"/>
          </a:xfrm>
          <a:prstGeom prst="rect">
            <a:avLst/>
          </a:prstGeom>
          <a:noFill/>
        </p:spPr>
        <p:txBody>
          <a:bodyPr wrap="square">
            <a:spAutoFit/>
          </a:bodyPr>
          <a:lstStyle/>
          <a:p>
            <a:pPr algn="l"/>
            <a:r>
              <a:rPr sz="3000" b="1" i="0">
                <a:solidFill>
                  <a:srgbClr val="FFFFFF"/>
                </a:solidFill>
                <a:latin typeface="Calibri"/>
              </a:rPr>
              <a:t>PARA LA IDENTIFICACIÓN
ASISTIDA DE PACIENTES
QUE REQUIEREN
VALORACIÓN
PREANESTÉSICA</a:t>
            </a:r>
          </a:p>
        </p:txBody>
      </p:sp>
      <p:sp>
        <p:nvSpPr>
          <p:cNvPr id="6" name="TextBox 5"/>
          <p:cNvSpPr txBox="1"/>
          <p:nvPr/>
        </p:nvSpPr>
        <p:spPr>
          <a:xfrm>
            <a:off x="5074920" y="4572000"/>
            <a:ext cx="6812280" cy="1005840"/>
          </a:xfrm>
          <a:prstGeom prst="rect">
            <a:avLst/>
          </a:prstGeom>
          <a:noFill/>
        </p:spPr>
        <p:txBody>
          <a:bodyPr wrap="square">
            <a:spAutoFit/>
          </a:bodyPr>
          <a:lstStyle/>
          <a:p>
            <a:pPr algn="l"/>
            <a:r>
              <a:rPr sz="1400" b="0" i="0">
                <a:solidFill>
                  <a:srgbClr val="A8C4B4"/>
                </a:solidFill>
                <a:latin typeface="Calibri"/>
              </a:rPr>
              <a:t>María Alejandra Mantilla Coral
Silem Nabib Villa Contreras
Andrés David Parra García</a:t>
            </a:r>
          </a:p>
        </p:txBody>
      </p:sp>
      <p:sp>
        <p:nvSpPr>
          <p:cNvPr id="7" name="TextBox 6"/>
          <p:cNvSpPr txBox="1"/>
          <p:nvPr/>
        </p:nvSpPr>
        <p:spPr>
          <a:xfrm>
            <a:off x="5074920" y="5623560"/>
            <a:ext cx="6812280" cy="347472"/>
          </a:xfrm>
          <a:prstGeom prst="rect">
            <a:avLst/>
          </a:prstGeom>
          <a:noFill/>
        </p:spPr>
        <p:txBody>
          <a:bodyPr wrap="square">
            <a:spAutoFit/>
          </a:bodyPr>
          <a:lstStyle/>
          <a:p>
            <a:pPr algn="l"/>
            <a:r>
              <a:rPr sz="1100" b="0" i="0">
                <a:solidFill>
                  <a:srgbClr val="8CC63F"/>
                </a:solidFill>
                <a:latin typeface="Calibri"/>
              </a:rPr>
              <a:t>Tutores:  Anibal Sosa  ·  Ángela Villota  ·  Andrés Aristizábal</a:t>
            </a:r>
          </a:p>
        </p:txBody>
      </p:sp>
      <p:sp>
        <p:nvSpPr>
          <p:cNvPr id="8" name="TextBox 7"/>
          <p:cNvSpPr txBox="1"/>
          <p:nvPr/>
        </p:nvSpPr>
        <p:spPr>
          <a:xfrm>
            <a:off x="5074920" y="6080760"/>
            <a:ext cx="6812280" cy="320040"/>
          </a:xfrm>
          <a:prstGeom prst="rect">
            <a:avLst/>
          </a:prstGeom>
          <a:noFill/>
        </p:spPr>
        <p:txBody>
          <a:bodyPr wrap="square">
            <a:spAutoFit/>
          </a:bodyPr>
          <a:lstStyle/>
          <a:p>
            <a:pPr algn="l"/>
            <a:r>
              <a:rPr sz="1000" b="0" i="1">
                <a:solidFill>
                  <a:srgbClr val="A8C4B4"/>
                </a:solidFill>
                <a:latin typeface="Calibri"/>
              </a:rPr>
              <a:t>Proyecto de Grado  ·  Ingeniería de Sistemas  ·  ICESI  ·  2026</a:t>
            </a:r>
          </a:p>
        </p:txBody>
      </p:sp>
      <p:sp>
        <p:nvSpPr>
          <p:cNvPr id="9" name="TextBox 8"/>
          <p:cNvSpPr txBox="1"/>
          <p:nvPr/>
        </p:nvSpPr>
        <p:spPr>
          <a:xfrm>
            <a:off x="274320" y="274320"/>
            <a:ext cx="4389120" cy="457200"/>
          </a:xfrm>
          <a:prstGeom prst="rect">
            <a:avLst/>
          </a:prstGeom>
          <a:noFill/>
        </p:spPr>
        <p:txBody>
          <a:bodyPr wrap="square">
            <a:spAutoFit/>
          </a:bodyPr>
          <a:lstStyle/>
          <a:p>
            <a:pPr algn="ctr"/>
            <a:r>
              <a:rPr sz="1100" b="0" i="1">
                <a:solidFill>
                  <a:srgbClr val="A8C4B4"/>
                </a:solidFill>
                <a:latin typeface="Calibri"/>
              </a:rPr>
              <a:t>[Logo Universidad ICESI]</a:t>
            </a:r>
          </a:p>
        </p:txBody>
      </p:sp>
      <p:sp>
        <p:nvSpPr>
          <p:cNvPr id="10" name="TextBox 9"/>
          <p:cNvSpPr txBox="1"/>
          <p:nvPr/>
        </p:nvSpPr>
        <p:spPr>
          <a:xfrm>
            <a:off x="274320" y="868680"/>
            <a:ext cx="4389120" cy="457200"/>
          </a:xfrm>
          <a:prstGeom prst="rect">
            <a:avLst/>
          </a:prstGeom>
          <a:noFill/>
        </p:spPr>
        <p:txBody>
          <a:bodyPr wrap="square">
            <a:spAutoFit/>
          </a:bodyPr>
          <a:lstStyle/>
          <a:p>
            <a:pPr algn="ctr"/>
            <a:r>
              <a:rPr sz="1100" b="0" i="1">
                <a:solidFill>
                  <a:srgbClr val="A8C4B4"/>
                </a:solidFill>
                <a:latin typeface="Calibri"/>
              </a:rPr>
              <a:t>[Logo Fundación Valle del Lili]</a:t>
            </a:r>
          </a:p>
        </p:txBody>
      </p:sp>
      <p:sp>
        <p:nvSpPr>
          <p:cNvPr id="11" name="TextBox 10"/>
          <p:cNvSpPr txBox="1"/>
          <p:nvPr/>
        </p:nvSpPr>
        <p:spPr>
          <a:xfrm>
            <a:off x="274320" y="1508760"/>
            <a:ext cx="4389120" cy="4754880"/>
          </a:xfrm>
          <a:prstGeom prst="rect">
            <a:avLst/>
          </a:prstGeom>
          <a:noFill/>
        </p:spPr>
        <p:txBody>
          <a:bodyPr wrap="square">
            <a:spAutoFit/>
          </a:bodyPr>
          <a:lstStyle/>
          <a:p>
            <a:pPr algn="ctr"/>
            <a:r>
              <a:rPr sz="1300" b="0" i="1">
                <a:solidFill>
                  <a:srgbClr val="A8C4B4"/>
                </a:solidFill>
                <a:latin typeface="Calibri"/>
              </a:rPr>
              <a:t>[Fotografía equipo clínico / médico]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Hoja de ruta</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00584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0584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115568"/>
            <a:ext cx="640080" cy="548640"/>
          </a:xfrm>
          <a:prstGeom prst="rect">
            <a:avLst/>
          </a:prstGeom>
          <a:noFill/>
        </p:spPr>
        <p:txBody>
          <a:bodyPr wrap="square">
            <a:spAutoFit/>
          </a:bodyPr>
          <a:lstStyle/>
          <a:p>
            <a:pPr algn="l"/>
            <a:r>
              <a:rPr sz="3000" b="1" i="0">
                <a:solidFill>
                  <a:srgbClr val="8CC63F"/>
                </a:solidFill>
                <a:latin typeface="Calibri"/>
              </a:rPr>
              <a:t>01</a:t>
            </a:r>
          </a:p>
        </p:txBody>
      </p:sp>
      <p:sp>
        <p:nvSpPr>
          <p:cNvPr id="9" name="TextBox 8"/>
          <p:cNvSpPr txBox="1"/>
          <p:nvPr/>
        </p:nvSpPr>
        <p:spPr>
          <a:xfrm>
            <a:off x="713232" y="1737360"/>
            <a:ext cx="3267456" cy="1188720"/>
          </a:xfrm>
          <a:prstGeom prst="rect">
            <a:avLst/>
          </a:prstGeom>
          <a:noFill/>
        </p:spPr>
        <p:txBody>
          <a:bodyPr wrap="square">
            <a:spAutoFit/>
          </a:bodyPr>
          <a:lstStyle/>
          <a:p>
            <a:pPr algn="l"/>
            <a:r>
              <a:rPr sz="1600" b="0" i="0">
                <a:solidFill>
                  <a:srgbClr val="FFFFFF"/>
                </a:solidFill>
                <a:latin typeface="Calibri"/>
              </a:rPr>
              <a:t>Contexto y problema</a:t>
            </a:r>
          </a:p>
        </p:txBody>
      </p:sp>
      <p:sp>
        <p:nvSpPr>
          <p:cNvPr id="10" name="Rectangle 9"/>
          <p:cNvSpPr/>
          <p:nvPr/>
        </p:nvSpPr>
        <p:spPr>
          <a:xfrm>
            <a:off x="4300728" y="100584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0728" y="100584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5320" y="1115568"/>
            <a:ext cx="640080" cy="548640"/>
          </a:xfrm>
          <a:prstGeom prst="rect">
            <a:avLst/>
          </a:prstGeom>
          <a:noFill/>
        </p:spPr>
        <p:txBody>
          <a:bodyPr wrap="square">
            <a:spAutoFit/>
          </a:bodyPr>
          <a:lstStyle/>
          <a:p>
            <a:pPr algn="l"/>
            <a:r>
              <a:rPr sz="3000" b="1" i="0">
                <a:solidFill>
                  <a:srgbClr val="8CC63F"/>
                </a:solidFill>
                <a:latin typeface="Calibri"/>
              </a:rPr>
              <a:t>02</a:t>
            </a:r>
          </a:p>
        </p:txBody>
      </p:sp>
      <p:sp>
        <p:nvSpPr>
          <p:cNvPr id="13" name="TextBox 12"/>
          <p:cNvSpPr txBox="1"/>
          <p:nvPr/>
        </p:nvSpPr>
        <p:spPr>
          <a:xfrm>
            <a:off x="4465320" y="1737360"/>
            <a:ext cx="3267456" cy="1188720"/>
          </a:xfrm>
          <a:prstGeom prst="rect">
            <a:avLst/>
          </a:prstGeom>
          <a:noFill/>
        </p:spPr>
        <p:txBody>
          <a:bodyPr wrap="square">
            <a:spAutoFit/>
          </a:bodyPr>
          <a:lstStyle/>
          <a:p>
            <a:pPr algn="l"/>
            <a:r>
              <a:rPr sz="1600" b="0" i="0">
                <a:solidFill>
                  <a:srgbClr val="FFFFFF"/>
                </a:solidFill>
                <a:latin typeface="Calibri"/>
              </a:rPr>
              <a:t>Marco conceptual y estado del arte</a:t>
            </a:r>
          </a:p>
        </p:txBody>
      </p:sp>
      <p:sp>
        <p:nvSpPr>
          <p:cNvPr id="14" name="Rectangle 13"/>
          <p:cNvSpPr/>
          <p:nvPr/>
        </p:nvSpPr>
        <p:spPr>
          <a:xfrm>
            <a:off x="8052816" y="100584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2816" y="100584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7408" y="1115568"/>
            <a:ext cx="640080" cy="548640"/>
          </a:xfrm>
          <a:prstGeom prst="rect">
            <a:avLst/>
          </a:prstGeom>
          <a:noFill/>
        </p:spPr>
        <p:txBody>
          <a:bodyPr wrap="square">
            <a:spAutoFit/>
          </a:bodyPr>
          <a:lstStyle/>
          <a:p>
            <a:pPr algn="l"/>
            <a:r>
              <a:rPr sz="3000" b="1" i="0">
                <a:solidFill>
                  <a:srgbClr val="8CC63F"/>
                </a:solidFill>
                <a:latin typeface="Calibri"/>
              </a:rPr>
              <a:t>03</a:t>
            </a:r>
          </a:p>
        </p:txBody>
      </p:sp>
      <p:sp>
        <p:nvSpPr>
          <p:cNvPr id="17" name="TextBox 16"/>
          <p:cNvSpPr txBox="1"/>
          <p:nvPr/>
        </p:nvSpPr>
        <p:spPr>
          <a:xfrm>
            <a:off x="8217408" y="1737360"/>
            <a:ext cx="3267456" cy="1188720"/>
          </a:xfrm>
          <a:prstGeom prst="rect">
            <a:avLst/>
          </a:prstGeom>
          <a:noFill/>
        </p:spPr>
        <p:txBody>
          <a:bodyPr wrap="square">
            <a:spAutoFit/>
          </a:bodyPr>
          <a:lstStyle/>
          <a:p>
            <a:pPr algn="l"/>
            <a:r>
              <a:rPr sz="1600" b="0" i="0">
                <a:solidFill>
                  <a:srgbClr val="FFFFFF"/>
                </a:solidFill>
                <a:latin typeface="Calibri"/>
              </a:rPr>
              <a:t>Objetivos y metodología</a:t>
            </a:r>
          </a:p>
        </p:txBody>
      </p:sp>
      <p:sp>
        <p:nvSpPr>
          <p:cNvPr id="18" name="Rectangle 17"/>
          <p:cNvSpPr/>
          <p:nvPr/>
        </p:nvSpPr>
        <p:spPr>
          <a:xfrm>
            <a:off x="548640" y="338328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8328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493008"/>
            <a:ext cx="640080" cy="548640"/>
          </a:xfrm>
          <a:prstGeom prst="rect">
            <a:avLst/>
          </a:prstGeom>
          <a:noFill/>
        </p:spPr>
        <p:txBody>
          <a:bodyPr wrap="square">
            <a:spAutoFit/>
          </a:bodyPr>
          <a:lstStyle/>
          <a:p>
            <a:pPr algn="l"/>
            <a:r>
              <a:rPr sz="3000" b="1" i="0">
                <a:solidFill>
                  <a:srgbClr val="8CC63F"/>
                </a:solidFill>
                <a:latin typeface="Calibri"/>
              </a:rPr>
              <a:t>04</a:t>
            </a:r>
          </a:p>
        </p:txBody>
      </p:sp>
      <p:sp>
        <p:nvSpPr>
          <p:cNvPr id="21" name="TextBox 20"/>
          <p:cNvSpPr txBox="1"/>
          <p:nvPr/>
        </p:nvSpPr>
        <p:spPr>
          <a:xfrm>
            <a:off x="713232" y="4114800"/>
            <a:ext cx="3267456" cy="1188720"/>
          </a:xfrm>
          <a:prstGeom prst="rect">
            <a:avLst/>
          </a:prstGeom>
          <a:noFill/>
        </p:spPr>
        <p:txBody>
          <a:bodyPr wrap="square">
            <a:spAutoFit/>
          </a:bodyPr>
          <a:lstStyle/>
          <a:p>
            <a:pPr algn="l"/>
            <a:r>
              <a:rPr sz="1600" b="0" i="0">
                <a:solidFill>
                  <a:srgbClr val="FFFFFF"/>
                </a:solidFill>
                <a:latin typeface="Calibri"/>
              </a:rPr>
              <a:t>Construcción de la solución</a:t>
            </a:r>
          </a:p>
        </p:txBody>
      </p:sp>
      <p:sp>
        <p:nvSpPr>
          <p:cNvPr id="22" name="Rectangle 21"/>
          <p:cNvSpPr/>
          <p:nvPr/>
        </p:nvSpPr>
        <p:spPr>
          <a:xfrm>
            <a:off x="4300728" y="338328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0728" y="338328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5320" y="3493008"/>
            <a:ext cx="640080" cy="548640"/>
          </a:xfrm>
          <a:prstGeom prst="rect">
            <a:avLst/>
          </a:prstGeom>
          <a:noFill/>
        </p:spPr>
        <p:txBody>
          <a:bodyPr wrap="square">
            <a:spAutoFit/>
          </a:bodyPr>
          <a:lstStyle/>
          <a:p>
            <a:pPr algn="l"/>
            <a:r>
              <a:rPr sz="3000" b="1" i="0">
                <a:solidFill>
                  <a:srgbClr val="8CC63F"/>
                </a:solidFill>
                <a:latin typeface="Calibri"/>
              </a:rPr>
              <a:t>05</a:t>
            </a:r>
          </a:p>
        </p:txBody>
      </p:sp>
      <p:sp>
        <p:nvSpPr>
          <p:cNvPr id="25" name="TextBox 24"/>
          <p:cNvSpPr txBox="1"/>
          <p:nvPr/>
        </p:nvSpPr>
        <p:spPr>
          <a:xfrm>
            <a:off x="4465320" y="4114800"/>
            <a:ext cx="3267456" cy="1188720"/>
          </a:xfrm>
          <a:prstGeom prst="rect">
            <a:avLst/>
          </a:prstGeom>
          <a:noFill/>
        </p:spPr>
        <p:txBody>
          <a:bodyPr wrap="square">
            <a:spAutoFit/>
          </a:bodyPr>
          <a:lstStyle/>
          <a:p>
            <a:pPr algn="l"/>
            <a:r>
              <a:rPr sz="1600" b="0" i="0">
                <a:solidFill>
                  <a:srgbClr val="FFFFFF"/>
                </a:solidFill>
                <a:latin typeface="Calibri"/>
              </a:rPr>
              <a:t>Resultados y validación</a:t>
            </a:r>
          </a:p>
        </p:txBody>
      </p:sp>
      <p:sp>
        <p:nvSpPr>
          <p:cNvPr id="26" name="Rectangle 25"/>
          <p:cNvSpPr/>
          <p:nvPr/>
        </p:nvSpPr>
        <p:spPr>
          <a:xfrm>
            <a:off x="8052816" y="3383280"/>
            <a:ext cx="3587496" cy="2103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2816" y="338328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7408" y="3493008"/>
            <a:ext cx="640080" cy="548640"/>
          </a:xfrm>
          <a:prstGeom prst="rect">
            <a:avLst/>
          </a:prstGeom>
          <a:noFill/>
        </p:spPr>
        <p:txBody>
          <a:bodyPr wrap="square">
            <a:spAutoFit/>
          </a:bodyPr>
          <a:lstStyle/>
          <a:p>
            <a:pPr algn="l"/>
            <a:r>
              <a:rPr sz="3000" b="1" i="0">
                <a:solidFill>
                  <a:srgbClr val="8CC63F"/>
                </a:solidFill>
                <a:latin typeface="Calibri"/>
              </a:rPr>
              <a:t>06</a:t>
            </a:r>
          </a:p>
        </p:txBody>
      </p:sp>
      <p:sp>
        <p:nvSpPr>
          <p:cNvPr id="29" name="TextBox 28"/>
          <p:cNvSpPr txBox="1"/>
          <p:nvPr/>
        </p:nvSpPr>
        <p:spPr>
          <a:xfrm>
            <a:off x="8217408" y="4114800"/>
            <a:ext cx="3267456" cy="1188720"/>
          </a:xfrm>
          <a:prstGeom prst="rect">
            <a:avLst/>
          </a:prstGeom>
          <a:noFill/>
        </p:spPr>
        <p:txBody>
          <a:bodyPr wrap="square">
            <a:spAutoFit/>
          </a:bodyPr>
          <a:lstStyle/>
          <a:p>
            <a:pPr algn="l"/>
            <a:r>
              <a:rPr sz="1600" b="0" i="0">
                <a:solidFill>
                  <a:srgbClr val="FFFFFF"/>
                </a:solidFill>
                <a:latin typeface="Calibri"/>
              </a:rPr>
              <a:t>Conclusiones y trabajo futuro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Contexto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01 · Contexto y problema</a:t>
            </a:r>
          </a:p>
        </p:txBody>
      </p:sp>
      <p:sp>
        <p:nvSpPr>
          <p:cNvPr id="7" name="Rectangle 6"/>
          <p:cNvSpPr/>
          <p:nvPr/>
        </p:nvSpPr>
        <p:spPr>
          <a:xfrm>
            <a:off x="548640" y="960120"/>
            <a:ext cx="3587496" cy="557784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060704"/>
            <a:ext cx="3313176" cy="475488"/>
          </a:xfrm>
          <a:prstGeom prst="rect">
            <a:avLst/>
          </a:prstGeom>
          <a:noFill/>
        </p:spPr>
        <p:txBody>
          <a:bodyPr wrap="square">
            <a:spAutoFit/>
          </a:bodyPr>
          <a:lstStyle/>
          <a:p>
            <a:pPr algn="l"/>
            <a:r>
              <a:rPr sz="1500" b="1" i="0">
                <a:solidFill>
                  <a:srgbClr val="8CC63F"/>
                </a:solidFill>
                <a:latin typeface="Calibri"/>
              </a:rPr>
              <a:t>Estándar internacional</a:t>
            </a:r>
          </a:p>
        </p:txBody>
      </p:sp>
      <p:sp>
        <p:nvSpPr>
          <p:cNvPr id="10" name="TextBox 9"/>
          <p:cNvSpPr txBox="1"/>
          <p:nvPr/>
        </p:nvSpPr>
        <p:spPr>
          <a:xfrm>
            <a:off x="713232" y="1627632"/>
            <a:ext cx="3313176" cy="4754880"/>
          </a:xfrm>
          <a:prstGeom prst="rect">
            <a:avLst/>
          </a:prstGeom>
          <a:noFill/>
        </p:spPr>
        <p:txBody>
          <a:bodyPr wrap="square">
            <a:spAutoFit/>
          </a:bodyPr>
          <a:lstStyle/>
          <a:p>
            <a:pPr algn="l"/>
            <a:r>
              <a:rPr sz="1300" b="0" i="0">
                <a:solidFill>
                  <a:srgbClr val="FFFFFF"/>
                </a:solidFill>
                <a:latin typeface="Calibri"/>
              </a:rPr>
              <a:t>La valoración preanestésica es una práctica obligatoria recomendada por la ASA y la OMS. Constituye el primer contacto entre el anestesiólogo y el paciente: interrogatorio, examen físico, revisión de medicamentos, plan individualizado.</a:t>
            </a:r>
          </a:p>
        </p:txBody>
      </p:sp>
      <p:sp>
        <p:nvSpPr>
          <p:cNvPr id="11" name="Rectangle 10"/>
          <p:cNvSpPr/>
          <p:nvPr/>
        </p:nvSpPr>
        <p:spPr>
          <a:xfrm>
            <a:off x="4300728" y="960120"/>
            <a:ext cx="3587496" cy="557784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00728"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5320" y="1060704"/>
            <a:ext cx="3313176" cy="475488"/>
          </a:xfrm>
          <a:prstGeom prst="rect">
            <a:avLst/>
          </a:prstGeom>
          <a:noFill/>
        </p:spPr>
        <p:txBody>
          <a:bodyPr wrap="square">
            <a:spAutoFit/>
          </a:bodyPr>
          <a:lstStyle/>
          <a:p>
            <a:pPr algn="l"/>
            <a:r>
              <a:rPr sz="1500" b="1" i="0">
                <a:solidFill>
                  <a:srgbClr val="8CC63F"/>
                </a:solidFill>
                <a:latin typeface="Calibri"/>
              </a:rPr>
              <a:t>Fundación Valle del Lili</a:t>
            </a:r>
          </a:p>
        </p:txBody>
      </p:sp>
      <p:sp>
        <p:nvSpPr>
          <p:cNvPr id="14" name="TextBox 13"/>
          <p:cNvSpPr txBox="1"/>
          <p:nvPr/>
        </p:nvSpPr>
        <p:spPr>
          <a:xfrm>
            <a:off x="4465320" y="1627632"/>
            <a:ext cx="3313176" cy="4754880"/>
          </a:xfrm>
          <a:prstGeom prst="rect">
            <a:avLst/>
          </a:prstGeom>
          <a:noFill/>
        </p:spPr>
        <p:txBody>
          <a:bodyPr wrap="square">
            <a:spAutoFit/>
          </a:bodyPr>
          <a:lstStyle/>
          <a:p>
            <a:pPr algn="l"/>
            <a:r>
              <a:rPr sz="1300" b="0" i="0">
                <a:solidFill>
                  <a:srgbClr val="FFFFFF"/>
                </a:solidFill>
                <a:latin typeface="Calibri"/>
              </a:rPr>
              <a:t>Institución de alta complejidad en Cali. Opera con dos modalidades: (1) evaluación general por el equipo tratante y (2) valoración formal especializada por anestesiología, con mayor anticipación al procedimiento.</a:t>
            </a:r>
          </a:p>
        </p:txBody>
      </p:sp>
      <p:sp>
        <p:nvSpPr>
          <p:cNvPr id="15" name="Rectangle 14"/>
          <p:cNvSpPr/>
          <p:nvPr/>
        </p:nvSpPr>
        <p:spPr>
          <a:xfrm>
            <a:off x="8052816" y="960120"/>
            <a:ext cx="3587496" cy="557784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7408" y="1060704"/>
            <a:ext cx="3313176" cy="475488"/>
          </a:xfrm>
          <a:prstGeom prst="rect">
            <a:avLst/>
          </a:prstGeom>
          <a:noFill/>
        </p:spPr>
        <p:txBody>
          <a:bodyPr wrap="square">
            <a:spAutoFit/>
          </a:bodyPr>
          <a:lstStyle/>
          <a:p>
            <a:pPr algn="l"/>
            <a:r>
              <a:rPr sz="1500" b="1" i="0">
                <a:solidFill>
                  <a:srgbClr val="8CC63F"/>
                </a:solidFill>
                <a:latin typeface="Calibri"/>
              </a:rPr>
              <a:t>El reto operativo</a:t>
            </a:r>
          </a:p>
        </p:txBody>
      </p:sp>
      <p:sp>
        <p:nvSpPr>
          <p:cNvPr id="18" name="TextBox 17"/>
          <p:cNvSpPr txBox="1"/>
          <p:nvPr/>
        </p:nvSpPr>
        <p:spPr>
          <a:xfrm>
            <a:off x="8217408" y="1627632"/>
            <a:ext cx="3313176" cy="4754880"/>
          </a:xfrm>
          <a:prstGeom prst="rect">
            <a:avLst/>
          </a:prstGeom>
          <a:noFill/>
        </p:spPr>
        <p:txBody>
          <a:bodyPr wrap="square">
            <a:spAutoFit/>
          </a:bodyPr>
          <a:lstStyle/>
          <a:p>
            <a:pPr algn="l"/>
            <a:r>
              <a:rPr sz="1300" b="0" i="0">
                <a:solidFill>
                  <a:srgbClr val="FFFFFF"/>
                </a:solidFill>
                <a:latin typeface="Calibri"/>
              </a:rPr>
              <a:t>No todos los pacientes requieren valoración formal. Con el crecimiento sostenido de la demanda quirúrgica y la ausencia de un criterio institucional único, la decisión de escalar se vuelve cada vez más compleja.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El problema</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01 · Contexto y problema</a:t>
            </a:r>
          </a:p>
        </p:txBody>
      </p:sp>
      <p:sp>
        <p:nvSpPr>
          <p:cNvPr id="7" name="Rectangle 6"/>
          <p:cNvSpPr/>
          <p:nvPr/>
        </p:nvSpPr>
        <p:spPr>
          <a:xfrm>
            <a:off x="548640" y="987552"/>
            <a:ext cx="11091672" cy="107899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87552"/>
            <a:ext cx="82296" cy="10789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042415"/>
            <a:ext cx="10771632" cy="969264"/>
          </a:xfrm>
          <a:prstGeom prst="rect">
            <a:avLst/>
          </a:prstGeom>
          <a:noFill/>
        </p:spPr>
        <p:txBody>
          <a:bodyPr wrap="square">
            <a:spAutoFit/>
          </a:bodyPr>
          <a:lstStyle/>
          <a:p>
            <a:pPr algn="ctr"/>
            <a:r>
              <a:rPr sz="1400" b="0" i="1">
                <a:solidFill>
                  <a:srgbClr val="FFFFFF"/>
                </a:solidFill>
                <a:latin typeface="Calibri"/>
              </a:rPr>
              <a:t>La identificación de pacientes para valoración preanestésica formal depende de criterios
heterogéneos y procesos manuales, sin un marco institucional único que integre
múltiples variables clínicas de forma objetiva y reproducible.</a:t>
            </a:r>
          </a:p>
        </p:txBody>
      </p:sp>
      <p:sp>
        <p:nvSpPr>
          <p:cNvPr id="10" name="TextBox 9"/>
          <p:cNvSpPr txBox="1"/>
          <p:nvPr/>
        </p:nvSpPr>
        <p:spPr>
          <a:xfrm>
            <a:off x="548640" y="2194560"/>
            <a:ext cx="5440680" cy="329184"/>
          </a:xfrm>
          <a:prstGeom prst="rect">
            <a:avLst/>
          </a:prstGeom>
          <a:noFill/>
        </p:spPr>
        <p:txBody>
          <a:bodyPr wrap="square">
            <a:spAutoFit/>
          </a:bodyPr>
          <a:lstStyle/>
          <a:p>
            <a:pPr algn="l"/>
            <a:r>
              <a:rPr sz="1300" b="1" i="0">
                <a:solidFill>
                  <a:srgbClr val="8CC63F"/>
                </a:solidFill>
                <a:latin typeface="Calibri"/>
              </a:rPr>
              <a:t>CAUSAS RAÍZ</a:t>
            </a:r>
          </a:p>
        </p:txBody>
      </p:sp>
      <p:sp>
        <p:nvSpPr>
          <p:cNvPr id="11" name="TextBox 10"/>
          <p:cNvSpPr txBox="1"/>
          <p:nvPr/>
        </p:nvSpPr>
        <p:spPr>
          <a:xfrm>
            <a:off x="548640" y="2578608"/>
            <a:ext cx="5440680" cy="475488"/>
          </a:xfrm>
          <a:prstGeom prst="rect">
            <a:avLst/>
          </a:prstGeom>
          <a:noFill/>
        </p:spPr>
        <p:txBody>
          <a:bodyPr wrap="square">
            <a:spAutoFit/>
          </a:bodyPr>
          <a:lstStyle/>
          <a:p>
            <a:pPr algn="l"/>
            <a:r>
              <a:rPr sz="1300" b="0" i="0">
                <a:solidFill>
                  <a:srgbClr val="FFFFFF"/>
                </a:solidFill>
                <a:latin typeface="Calibri"/>
              </a:rPr>
              <a:t>▸  Crecimiento de la demanda quirúrgica sin herramientas de apoyo</a:t>
            </a:r>
          </a:p>
        </p:txBody>
      </p:sp>
      <p:sp>
        <p:nvSpPr>
          <p:cNvPr id="12" name="TextBox 11"/>
          <p:cNvSpPr txBox="1"/>
          <p:nvPr/>
        </p:nvSpPr>
        <p:spPr>
          <a:xfrm>
            <a:off x="548640" y="3108960"/>
            <a:ext cx="5440680" cy="475488"/>
          </a:xfrm>
          <a:prstGeom prst="rect">
            <a:avLst/>
          </a:prstGeom>
          <a:noFill/>
        </p:spPr>
        <p:txBody>
          <a:bodyPr wrap="square">
            <a:spAutoFit/>
          </a:bodyPr>
          <a:lstStyle/>
          <a:p>
            <a:pPr algn="l"/>
            <a:r>
              <a:rPr sz="1300" b="0" i="0">
                <a:solidFill>
                  <a:srgbClr val="FFFFFF"/>
                </a:solidFill>
                <a:latin typeface="Calibri"/>
              </a:rPr>
              <a:t>▸  Procesos manuales y clasificación subjetiva del personal</a:t>
            </a:r>
          </a:p>
        </p:txBody>
      </p:sp>
      <p:sp>
        <p:nvSpPr>
          <p:cNvPr id="13" name="TextBox 12"/>
          <p:cNvSpPr txBox="1"/>
          <p:nvPr/>
        </p:nvSpPr>
        <p:spPr>
          <a:xfrm>
            <a:off x="548640" y="3639311"/>
            <a:ext cx="5440680" cy="475488"/>
          </a:xfrm>
          <a:prstGeom prst="rect">
            <a:avLst/>
          </a:prstGeom>
          <a:noFill/>
        </p:spPr>
        <p:txBody>
          <a:bodyPr wrap="square">
            <a:spAutoFit/>
          </a:bodyPr>
          <a:lstStyle/>
          <a:p>
            <a:pPr algn="l"/>
            <a:r>
              <a:rPr sz="1300" b="0" i="0">
                <a:solidFill>
                  <a:srgbClr val="FFFFFF"/>
                </a:solidFill>
                <a:latin typeface="Calibri"/>
              </a:rPr>
              <a:t>▸  Heterogeneidad clínica alta (comorbilidades, tipo de procedimiento)</a:t>
            </a:r>
          </a:p>
        </p:txBody>
      </p:sp>
      <p:sp>
        <p:nvSpPr>
          <p:cNvPr id="14" name="TextBox 13"/>
          <p:cNvSpPr txBox="1"/>
          <p:nvPr/>
        </p:nvSpPr>
        <p:spPr>
          <a:xfrm>
            <a:off x="548640" y="4169663"/>
            <a:ext cx="5440680" cy="475488"/>
          </a:xfrm>
          <a:prstGeom prst="rect">
            <a:avLst/>
          </a:prstGeom>
          <a:noFill/>
        </p:spPr>
        <p:txBody>
          <a:bodyPr wrap="square">
            <a:spAutoFit/>
          </a:bodyPr>
          <a:lstStyle/>
          <a:p>
            <a:pPr algn="l"/>
            <a:r>
              <a:rPr sz="1300" b="0" i="0">
                <a:solidFill>
                  <a:srgbClr val="FFFFFF"/>
                </a:solidFill>
                <a:latin typeface="Calibri"/>
              </a:rPr>
              <a:t>▸  Escasa integración de tecnología de soporte clínico</a:t>
            </a:r>
          </a:p>
        </p:txBody>
      </p:sp>
      <p:sp>
        <p:nvSpPr>
          <p:cNvPr id="15" name="TextBox 14"/>
          <p:cNvSpPr txBox="1"/>
          <p:nvPr/>
        </p:nvSpPr>
        <p:spPr>
          <a:xfrm>
            <a:off x="6400800" y="2194560"/>
            <a:ext cx="5394960" cy="329184"/>
          </a:xfrm>
          <a:prstGeom prst="rect">
            <a:avLst/>
          </a:prstGeom>
          <a:noFill/>
        </p:spPr>
        <p:txBody>
          <a:bodyPr wrap="square">
            <a:spAutoFit/>
          </a:bodyPr>
          <a:lstStyle/>
          <a:p>
            <a:pPr algn="l"/>
            <a:r>
              <a:rPr sz="1300" b="1" i="0">
                <a:solidFill>
                  <a:srgbClr val="8CC63F"/>
                </a:solidFill>
                <a:latin typeface="Calibri"/>
              </a:rPr>
              <a:t>CONSECUENCIAS</a:t>
            </a:r>
          </a:p>
        </p:txBody>
      </p:sp>
      <p:sp>
        <p:nvSpPr>
          <p:cNvPr id="16" name="TextBox 15"/>
          <p:cNvSpPr txBox="1"/>
          <p:nvPr/>
        </p:nvSpPr>
        <p:spPr>
          <a:xfrm>
            <a:off x="6400800" y="2578608"/>
            <a:ext cx="5394960" cy="475488"/>
          </a:xfrm>
          <a:prstGeom prst="rect">
            <a:avLst/>
          </a:prstGeom>
          <a:noFill/>
        </p:spPr>
        <p:txBody>
          <a:bodyPr wrap="square">
            <a:spAutoFit/>
          </a:bodyPr>
          <a:lstStyle/>
          <a:p>
            <a:pPr algn="l"/>
            <a:r>
              <a:rPr sz="1300" b="0" i="0">
                <a:solidFill>
                  <a:srgbClr val="FFFFFF"/>
                </a:solidFill>
                <a:latin typeface="Calibri"/>
              </a:rPr>
              <a:t>▸  Consultas innecesarias y reprocesos en programación</a:t>
            </a:r>
          </a:p>
        </p:txBody>
      </p:sp>
      <p:sp>
        <p:nvSpPr>
          <p:cNvPr id="17" name="TextBox 16"/>
          <p:cNvSpPr txBox="1"/>
          <p:nvPr/>
        </p:nvSpPr>
        <p:spPr>
          <a:xfrm>
            <a:off x="6400800" y="3108960"/>
            <a:ext cx="5394960" cy="475488"/>
          </a:xfrm>
          <a:prstGeom prst="rect">
            <a:avLst/>
          </a:prstGeom>
          <a:noFill/>
        </p:spPr>
        <p:txBody>
          <a:bodyPr wrap="square">
            <a:spAutoFit/>
          </a:bodyPr>
          <a:lstStyle/>
          <a:p>
            <a:pPr algn="l"/>
            <a:r>
              <a:rPr sz="1300" b="0" i="0">
                <a:solidFill>
                  <a:srgbClr val="FFFFFF"/>
                </a:solidFill>
                <a:latin typeface="Calibri"/>
              </a:rPr>
              <a:t>▸  Cancelaciones y reprogramaciones quirúrgicas</a:t>
            </a:r>
          </a:p>
        </p:txBody>
      </p:sp>
      <p:sp>
        <p:nvSpPr>
          <p:cNvPr id="18" name="TextBox 17"/>
          <p:cNvSpPr txBox="1"/>
          <p:nvPr/>
        </p:nvSpPr>
        <p:spPr>
          <a:xfrm>
            <a:off x="6400800" y="3639311"/>
            <a:ext cx="5394960" cy="475488"/>
          </a:xfrm>
          <a:prstGeom prst="rect">
            <a:avLst/>
          </a:prstGeom>
          <a:noFill/>
        </p:spPr>
        <p:txBody>
          <a:bodyPr wrap="square">
            <a:spAutoFit/>
          </a:bodyPr>
          <a:lstStyle/>
          <a:p>
            <a:pPr algn="l"/>
            <a:r>
              <a:rPr sz="1300" b="0" i="0">
                <a:solidFill>
                  <a:srgbClr val="FFFFFF"/>
                </a:solidFill>
                <a:latin typeface="Calibri"/>
              </a:rPr>
              <a:t>▸  Mayores tiempos de espera y costos adicionales</a:t>
            </a:r>
          </a:p>
        </p:txBody>
      </p:sp>
      <p:sp>
        <p:nvSpPr>
          <p:cNvPr id="19" name="TextBox 18"/>
          <p:cNvSpPr txBox="1"/>
          <p:nvPr/>
        </p:nvSpPr>
        <p:spPr>
          <a:xfrm>
            <a:off x="6400800" y="4169663"/>
            <a:ext cx="5394960" cy="475488"/>
          </a:xfrm>
          <a:prstGeom prst="rect">
            <a:avLst/>
          </a:prstGeom>
          <a:noFill/>
        </p:spPr>
        <p:txBody>
          <a:bodyPr wrap="square">
            <a:spAutoFit/>
          </a:bodyPr>
          <a:lstStyle/>
          <a:p>
            <a:pPr algn="l"/>
            <a:r>
              <a:rPr sz="1300" b="0" i="0">
                <a:solidFill>
                  <a:srgbClr val="FFFFFF"/>
                </a:solidFill>
                <a:latin typeface="Calibri"/>
              </a:rPr>
              <a:t>▸  Riesgos de incumplir estándares de seguridad y acreditación</a:t>
            </a:r>
          </a:p>
        </p:txBody>
      </p:sp>
      <p:sp>
        <p:nvSpPr>
          <p:cNvPr id="20" name="Rectangle 19"/>
          <p:cNvSpPr/>
          <p:nvPr/>
        </p:nvSpPr>
        <p:spPr>
          <a:xfrm>
            <a:off x="6016752" y="2157984"/>
            <a:ext cx="82296" cy="3977639"/>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888736"/>
            <a:ext cx="11091672"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961888"/>
            <a:ext cx="10771632" cy="530352"/>
          </a:xfrm>
          <a:prstGeom prst="rect">
            <a:avLst/>
          </a:prstGeom>
          <a:noFill/>
        </p:spPr>
        <p:txBody>
          <a:bodyPr wrap="square">
            <a:spAutoFit/>
          </a:bodyPr>
          <a:lstStyle/>
          <a:p>
            <a:pPr algn="l"/>
            <a:r>
              <a:rPr sz="1300" b="1" i="0">
                <a:solidFill>
                  <a:srgbClr val="8CC63F"/>
                </a:solidFill>
                <a:latin typeface="Calibri"/>
              </a:rPr>
              <a:t>▸  Solución propuesta: un modelo de clasificación supervisada que, desde la evaluación general, apoye objetivamente la decisión de remitir al paciente a valoración preanestésica formal.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Marco conceptual</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02 · Marco conceptual y estado del arte</a:t>
            </a:r>
          </a:p>
        </p:txBody>
      </p:sp>
      <p:sp>
        <p:nvSpPr>
          <p:cNvPr id="7" name="Rectangle 6"/>
          <p:cNvSpPr/>
          <p:nvPr/>
        </p:nvSpPr>
        <p:spPr>
          <a:xfrm>
            <a:off x="548640" y="960120"/>
            <a:ext cx="5436108" cy="24871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64008" cy="248716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069848"/>
            <a:ext cx="5143500" cy="475488"/>
          </a:xfrm>
          <a:prstGeom prst="rect">
            <a:avLst/>
          </a:prstGeom>
          <a:noFill/>
        </p:spPr>
        <p:txBody>
          <a:bodyPr wrap="square">
            <a:spAutoFit/>
          </a:bodyPr>
          <a:lstStyle/>
          <a:p>
            <a:pPr algn="l"/>
            <a:r>
              <a:rPr sz="1500" b="1" i="0">
                <a:solidFill>
                  <a:srgbClr val="8CC63F"/>
                </a:solidFill>
                <a:latin typeface="Calibri"/>
              </a:rPr>
              <a:t>Valoración preanestésica</a:t>
            </a:r>
          </a:p>
        </p:txBody>
      </p:sp>
      <p:sp>
        <p:nvSpPr>
          <p:cNvPr id="10" name="TextBox 9"/>
          <p:cNvSpPr txBox="1"/>
          <p:nvPr/>
        </p:nvSpPr>
        <p:spPr>
          <a:xfrm>
            <a:off x="731520" y="1600200"/>
            <a:ext cx="5143500" cy="1737360"/>
          </a:xfrm>
          <a:prstGeom prst="rect">
            <a:avLst/>
          </a:prstGeom>
          <a:noFill/>
        </p:spPr>
        <p:txBody>
          <a:bodyPr wrap="square">
            <a:spAutoFit/>
          </a:bodyPr>
          <a:lstStyle/>
          <a:p>
            <a:pPr algn="l"/>
            <a:r>
              <a:rPr sz="1250" b="0" i="0">
                <a:solidFill>
                  <a:srgbClr val="FFFFFF"/>
                </a:solidFill>
                <a:latin typeface="Calibri"/>
              </a:rPr>
              <a:t>Proceso que antecede cualquier anestesia: interrogatorio, examen físico, revisión de medicamentos, plan individualizado y consentimiento. La clasificación ASA estratifica el riesgo en 6 categorías.</a:t>
            </a:r>
          </a:p>
        </p:txBody>
      </p:sp>
      <p:sp>
        <p:nvSpPr>
          <p:cNvPr id="11" name="Rectangle 10"/>
          <p:cNvSpPr/>
          <p:nvPr/>
        </p:nvSpPr>
        <p:spPr>
          <a:xfrm>
            <a:off x="6167628" y="960120"/>
            <a:ext cx="5436108" cy="24871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7628" y="960120"/>
            <a:ext cx="64008" cy="248716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8" y="1069848"/>
            <a:ext cx="5143500" cy="475488"/>
          </a:xfrm>
          <a:prstGeom prst="rect">
            <a:avLst/>
          </a:prstGeom>
          <a:noFill/>
        </p:spPr>
        <p:txBody>
          <a:bodyPr wrap="square">
            <a:spAutoFit/>
          </a:bodyPr>
          <a:lstStyle/>
          <a:p>
            <a:pPr algn="l"/>
            <a:r>
              <a:rPr sz="1500" b="1" i="0">
                <a:solidFill>
                  <a:srgbClr val="8CC63F"/>
                </a:solidFill>
                <a:latin typeface="Calibri"/>
              </a:rPr>
              <a:t>CDSS y XAI</a:t>
            </a:r>
          </a:p>
        </p:txBody>
      </p:sp>
      <p:sp>
        <p:nvSpPr>
          <p:cNvPr id="14" name="TextBox 13"/>
          <p:cNvSpPr txBox="1"/>
          <p:nvPr/>
        </p:nvSpPr>
        <p:spPr>
          <a:xfrm>
            <a:off x="6350508" y="1600200"/>
            <a:ext cx="5143500" cy="1737360"/>
          </a:xfrm>
          <a:prstGeom prst="rect">
            <a:avLst/>
          </a:prstGeom>
          <a:noFill/>
        </p:spPr>
        <p:txBody>
          <a:bodyPr wrap="square">
            <a:spAutoFit/>
          </a:bodyPr>
          <a:lstStyle/>
          <a:p>
            <a:pPr algn="l"/>
            <a:r>
              <a:rPr sz="1250" b="0" i="0">
                <a:solidFill>
                  <a:srgbClr val="FFFFFF"/>
                </a:solidFill>
                <a:latin typeface="Calibri"/>
              </a:rPr>
              <a:t>Sistema de soporte a la decisión clínica (CDSS): integra datos y evidencia para emitir recomendaciones. La IA Explicable (XAI) garantiza transparencia — condición indispensable para la confianza clínica.</a:t>
            </a:r>
          </a:p>
        </p:txBody>
      </p:sp>
      <p:sp>
        <p:nvSpPr>
          <p:cNvPr id="15" name="Rectangle 14"/>
          <p:cNvSpPr/>
          <p:nvPr/>
        </p:nvSpPr>
        <p:spPr>
          <a:xfrm>
            <a:off x="548640" y="3611880"/>
            <a:ext cx="5436108" cy="24871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11880"/>
            <a:ext cx="64008" cy="248716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721608"/>
            <a:ext cx="5143500" cy="475488"/>
          </a:xfrm>
          <a:prstGeom prst="rect">
            <a:avLst/>
          </a:prstGeom>
          <a:noFill/>
        </p:spPr>
        <p:txBody>
          <a:bodyPr wrap="square">
            <a:spAutoFit/>
          </a:bodyPr>
          <a:lstStyle/>
          <a:p>
            <a:pPr algn="l"/>
            <a:r>
              <a:rPr sz="1500" b="1" i="0">
                <a:solidFill>
                  <a:srgbClr val="8CC63F"/>
                </a:solidFill>
                <a:latin typeface="Calibri"/>
              </a:rPr>
              <a:t>Métricas clínicas en datasets desbalanceados</a:t>
            </a:r>
          </a:p>
        </p:txBody>
      </p:sp>
      <p:sp>
        <p:nvSpPr>
          <p:cNvPr id="18" name="TextBox 17"/>
          <p:cNvSpPr txBox="1"/>
          <p:nvPr/>
        </p:nvSpPr>
        <p:spPr>
          <a:xfrm>
            <a:off x="731520" y="4251960"/>
            <a:ext cx="5143500" cy="1737360"/>
          </a:xfrm>
          <a:prstGeom prst="rect">
            <a:avLst/>
          </a:prstGeom>
          <a:noFill/>
        </p:spPr>
        <p:txBody>
          <a:bodyPr wrap="square">
            <a:spAutoFit/>
          </a:bodyPr>
          <a:lstStyle/>
          <a:p>
            <a:pPr algn="l"/>
            <a:r>
              <a:rPr sz="1250" b="0" i="0">
                <a:solidFill>
                  <a:srgbClr val="FFFFFF"/>
                </a:solidFill>
                <a:latin typeface="Calibri"/>
              </a:rPr>
              <a:t>Con FN más costoso que FP:
• Recall — métrica primaria
• F2-score — doble peso al recall
• ROC-AUC · PR-AUC
• Brier-score — calibración</a:t>
            </a:r>
          </a:p>
        </p:txBody>
      </p:sp>
      <p:sp>
        <p:nvSpPr>
          <p:cNvPr id="19" name="Rectangle 18"/>
          <p:cNvSpPr/>
          <p:nvPr/>
        </p:nvSpPr>
        <p:spPr>
          <a:xfrm>
            <a:off x="6167628" y="3611880"/>
            <a:ext cx="5436108" cy="24871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7628" y="3611880"/>
            <a:ext cx="64008" cy="248716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0508" y="3721608"/>
            <a:ext cx="5143500" cy="475488"/>
          </a:xfrm>
          <a:prstGeom prst="rect">
            <a:avLst/>
          </a:prstGeom>
          <a:noFill/>
        </p:spPr>
        <p:txBody>
          <a:bodyPr wrap="square">
            <a:spAutoFit/>
          </a:bodyPr>
          <a:lstStyle/>
          <a:p>
            <a:pPr algn="l"/>
            <a:r>
              <a:rPr sz="1500" b="1" i="0">
                <a:solidFill>
                  <a:srgbClr val="8CC63F"/>
                </a:solidFill>
                <a:latin typeface="Calibri"/>
              </a:rPr>
              <a:t>Calibración de probabilidades</a:t>
            </a:r>
          </a:p>
        </p:txBody>
      </p:sp>
      <p:sp>
        <p:nvSpPr>
          <p:cNvPr id="22" name="TextBox 21"/>
          <p:cNvSpPr txBox="1"/>
          <p:nvPr/>
        </p:nvSpPr>
        <p:spPr>
          <a:xfrm>
            <a:off x="6350508" y="4251960"/>
            <a:ext cx="5143500" cy="1737360"/>
          </a:xfrm>
          <a:prstGeom prst="rect">
            <a:avLst/>
          </a:prstGeom>
          <a:noFill/>
        </p:spPr>
        <p:txBody>
          <a:bodyPr wrap="square">
            <a:spAutoFit/>
          </a:bodyPr>
          <a:lstStyle/>
          <a:p>
            <a:pPr algn="l"/>
            <a:r>
              <a:rPr sz="1250" b="0" i="0">
                <a:solidFill>
                  <a:srgbClr val="FFFFFF"/>
                </a:solidFill>
                <a:latin typeface="Calibri"/>
              </a:rPr>
              <a:t>Los modelos de árbol producen scores, no probabilidades. Se aplica:
• Isotónica (CalibratedClassifierCV) → árboles/boosting
• Sigmoidal (Platt) → modelos lineales y MLP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Estado del arte</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02 · Estado del arte</a:t>
            </a:r>
          </a:p>
        </p:txBody>
      </p:sp>
      <p:sp>
        <p:nvSpPr>
          <p:cNvPr id="7" name="Rectangle 6"/>
          <p:cNvSpPr/>
          <p:nvPr/>
        </p:nvSpPr>
        <p:spPr>
          <a:xfrm>
            <a:off x="365760" y="960120"/>
            <a:ext cx="11521440" cy="411480"/>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1014984"/>
            <a:ext cx="1993391" cy="329184"/>
          </a:xfrm>
          <a:prstGeom prst="rect">
            <a:avLst/>
          </a:prstGeom>
          <a:noFill/>
        </p:spPr>
        <p:txBody>
          <a:bodyPr wrap="square">
            <a:spAutoFit/>
          </a:bodyPr>
          <a:lstStyle/>
          <a:p>
            <a:pPr algn="l"/>
            <a:r>
              <a:rPr sz="1100" b="1" i="0">
                <a:solidFill>
                  <a:srgbClr val="0C2D2D"/>
                </a:solidFill>
                <a:latin typeface="Calibri"/>
              </a:rPr>
              <a:t>Autor / Año</a:t>
            </a:r>
          </a:p>
        </p:txBody>
      </p:sp>
      <p:sp>
        <p:nvSpPr>
          <p:cNvPr id="9" name="TextBox 8"/>
          <p:cNvSpPr txBox="1"/>
          <p:nvPr/>
        </p:nvSpPr>
        <p:spPr>
          <a:xfrm>
            <a:off x="2569463" y="1014984"/>
            <a:ext cx="2450591" cy="329184"/>
          </a:xfrm>
          <a:prstGeom prst="rect">
            <a:avLst/>
          </a:prstGeom>
          <a:noFill/>
        </p:spPr>
        <p:txBody>
          <a:bodyPr wrap="square">
            <a:spAutoFit/>
          </a:bodyPr>
          <a:lstStyle/>
          <a:p>
            <a:pPr algn="l"/>
            <a:r>
              <a:rPr sz="1100" b="1" i="0">
                <a:solidFill>
                  <a:srgbClr val="0C2D2D"/>
                </a:solidFill>
                <a:latin typeface="Calibri"/>
              </a:rPr>
              <a:t>Enfoque</a:t>
            </a:r>
          </a:p>
        </p:txBody>
      </p:sp>
      <p:sp>
        <p:nvSpPr>
          <p:cNvPr id="10" name="TextBox 9"/>
          <p:cNvSpPr txBox="1"/>
          <p:nvPr/>
        </p:nvSpPr>
        <p:spPr>
          <a:xfrm>
            <a:off x="5175503" y="1014984"/>
            <a:ext cx="1536192" cy="329184"/>
          </a:xfrm>
          <a:prstGeom prst="rect">
            <a:avLst/>
          </a:prstGeom>
          <a:noFill/>
        </p:spPr>
        <p:txBody>
          <a:bodyPr wrap="square">
            <a:spAutoFit/>
          </a:bodyPr>
          <a:lstStyle/>
          <a:p>
            <a:pPr algn="l"/>
            <a:r>
              <a:rPr sz="1100" b="1" i="0">
                <a:solidFill>
                  <a:srgbClr val="0C2D2D"/>
                </a:solidFill>
                <a:latin typeface="Calibri"/>
              </a:rPr>
              <a:t>Métrica clave</a:t>
            </a:r>
          </a:p>
        </p:txBody>
      </p:sp>
      <p:sp>
        <p:nvSpPr>
          <p:cNvPr id="11" name="TextBox 10"/>
          <p:cNvSpPr txBox="1"/>
          <p:nvPr/>
        </p:nvSpPr>
        <p:spPr>
          <a:xfrm>
            <a:off x="6867143" y="1014984"/>
            <a:ext cx="4965192" cy="329184"/>
          </a:xfrm>
          <a:prstGeom prst="rect">
            <a:avLst/>
          </a:prstGeom>
          <a:noFill/>
        </p:spPr>
        <p:txBody>
          <a:bodyPr wrap="square">
            <a:spAutoFit/>
          </a:bodyPr>
          <a:lstStyle/>
          <a:p>
            <a:pPr algn="l"/>
            <a:r>
              <a:rPr sz="1100" b="1" i="0">
                <a:solidFill>
                  <a:srgbClr val="0C2D2D"/>
                </a:solidFill>
                <a:latin typeface="Calibri"/>
              </a:rPr>
              <a:t>Limitación frente a este proyecto</a:t>
            </a:r>
          </a:p>
        </p:txBody>
      </p:sp>
      <p:sp>
        <p:nvSpPr>
          <p:cNvPr id="12" name="Rectangle 11"/>
          <p:cNvSpPr/>
          <p:nvPr/>
        </p:nvSpPr>
        <p:spPr>
          <a:xfrm>
            <a:off x="365760" y="1389888"/>
            <a:ext cx="11521440" cy="8869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 y="1444752"/>
            <a:ext cx="1993391" cy="786384"/>
          </a:xfrm>
          <a:prstGeom prst="rect">
            <a:avLst/>
          </a:prstGeom>
          <a:noFill/>
        </p:spPr>
        <p:txBody>
          <a:bodyPr wrap="square">
            <a:spAutoFit/>
          </a:bodyPr>
          <a:lstStyle/>
          <a:p>
            <a:pPr algn="l"/>
            <a:r>
              <a:rPr sz="1100" b="0" i="0">
                <a:solidFill>
                  <a:srgbClr val="FFFFFF"/>
                </a:solidFill>
                <a:latin typeface="Calibri"/>
              </a:rPr>
              <a:t>Graesner et al. (2023)</a:t>
            </a:r>
          </a:p>
        </p:txBody>
      </p:sp>
      <p:sp>
        <p:nvSpPr>
          <p:cNvPr id="14" name="TextBox 13"/>
          <p:cNvSpPr txBox="1"/>
          <p:nvPr/>
        </p:nvSpPr>
        <p:spPr>
          <a:xfrm>
            <a:off x="2569463" y="1444752"/>
            <a:ext cx="2450591" cy="786384"/>
          </a:xfrm>
          <a:prstGeom prst="rect">
            <a:avLst/>
          </a:prstGeom>
          <a:noFill/>
        </p:spPr>
        <p:txBody>
          <a:bodyPr wrap="square">
            <a:spAutoFit/>
          </a:bodyPr>
          <a:lstStyle/>
          <a:p>
            <a:pPr algn="l"/>
            <a:r>
              <a:rPr sz="1100" b="0" i="0">
                <a:solidFill>
                  <a:srgbClr val="FFFFFF"/>
                </a:solidFill>
                <a:latin typeface="Calibri"/>
              </a:rPr>
              <a:t>Mortalidad quirúrgica · XGBoost interpretable</a:t>
            </a:r>
          </a:p>
        </p:txBody>
      </p:sp>
      <p:sp>
        <p:nvSpPr>
          <p:cNvPr id="15" name="TextBox 14"/>
          <p:cNvSpPr txBox="1"/>
          <p:nvPr/>
        </p:nvSpPr>
        <p:spPr>
          <a:xfrm>
            <a:off x="5175503" y="1444752"/>
            <a:ext cx="1536192" cy="786384"/>
          </a:xfrm>
          <a:prstGeom prst="rect">
            <a:avLst/>
          </a:prstGeom>
          <a:noFill/>
        </p:spPr>
        <p:txBody>
          <a:bodyPr wrap="square">
            <a:spAutoFit/>
          </a:bodyPr>
          <a:lstStyle/>
          <a:p>
            <a:pPr algn="l"/>
            <a:r>
              <a:rPr sz="1100" b="0" i="0">
                <a:solidFill>
                  <a:srgbClr val="FFFFFF"/>
                </a:solidFill>
                <a:latin typeface="Calibri"/>
              </a:rPr>
              <a:t>AUC = 0.954
(n = 66 846)</a:t>
            </a:r>
          </a:p>
        </p:txBody>
      </p:sp>
      <p:sp>
        <p:nvSpPr>
          <p:cNvPr id="16" name="TextBox 15"/>
          <p:cNvSpPr txBox="1"/>
          <p:nvPr/>
        </p:nvSpPr>
        <p:spPr>
          <a:xfrm>
            <a:off x="6867143" y="1444752"/>
            <a:ext cx="4965192" cy="786384"/>
          </a:xfrm>
          <a:prstGeom prst="rect">
            <a:avLst/>
          </a:prstGeom>
          <a:noFill/>
        </p:spPr>
        <p:txBody>
          <a:bodyPr wrap="square">
            <a:spAutoFit/>
          </a:bodyPr>
          <a:lstStyle/>
          <a:p>
            <a:pPr algn="l"/>
            <a:r>
              <a:rPr sz="1100" b="0" i="0">
                <a:solidFill>
                  <a:srgbClr val="FFFFFF"/>
                </a:solidFill>
                <a:latin typeface="Calibri"/>
              </a:rPr>
              <a:t>Predice mortalidad, no triaje a preanestesia. Población alemana.</a:t>
            </a:r>
          </a:p>
        </p:txBody>
      </p:sp>
      <p:sp>
        <p:nvSpPr>
          <p:cNvPr id="17" name="Rectangle 16"/>
          <p:cNvSpPr/>
          <p:nvPr/>
        </p:nvSpPr>
        <p:spPr>
          <a:xfrm>
            <a:off x="365760" y="2304288"/>
            <a:ext cx="11521440" cy="886968"/>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 y="2359152"/>
            <a:ext cx="1993391" cy="786384"/>
          </a:xfrm>
          <a:prstGeom prst="rect">
            <a:avLst/>
          </a:prstGeom>
          <a:noFill/>
        </p:spPr>
        <p:txBody>
          <a:bodyPr wrap="square">
            <a:spAutoFit/>
          </a:bodyPr>
          <a:lstStyle/>
          <a:p>
            <a:pPr algn="l"/>
            <a:r>
              <a:rPr sz="1100" b="0" i="0">
                <a:solidFill>
                  <a:srgbClr val="FFFFFF"/>
                </a:solidFill>
                <a:latin typeface="Calibri"/>
              </a:rPr>
              <a:t>Cao et al. (2025)</a:t>
            </a:r>
          </a:p>
        </p:txBody>
      </p:sp>
      <p:sp>
        <p:nvSpPr>
          <p:cNvPr id="19" name="TextBox 18"/>
          <p:cNvSpPr txBox="1"/>
          <p:nvPr/>
        </p:nvSpPr>
        <p:spPr>
          <a:xfrm>
            <a:off x="2569463" y="2359152"/>
            <a:ext cx="2450591" cy="786384"/>
          </a:xfrm>
          <a:prstGeom prst="rect">
            <a:avLst/>
          </a:prstGeom>
          <a:noFill/>
        </p:spPr>
        <p:txBody>
          <a:bodyPr wrap="square">
            <a:spAutoFit/>
          </a:bodyPr>
          <a:lstStyle/>
          <a:p>
            <a:pPr algn="l"/>
            <a:r>
              <a:rPr sz="1100" b="0" i="0">
                <a:solidFill>
                  <a:srgbClr val="FFFFFF"/>
                </a:solidFill>
                <a:latin typeface="Calibri"/>
              </a:rPr>
              <a:t>Revisión IA en anestesiología (XGBoost, RNN, RL)</a:t>
            </a:r>
          </a:p>
        </p:txBody>
      </p:sp>
      <p:sp>
        <p:nvSpPr>
          <p:cNvPr id="20" name="TextBox 19"/>
          <p:cNvSpPr txBox="1"/>
          <p:nvPr/>
        </p:nvSpPr>
        <p:spPr>
          <a:xfrm>
            <a:off x="5175503" y="2359152"/>
            <a:ext cx="1536192" cy="786384"/>
          </a:xfrm>
          <a:prstGeom prst="rect">
            <a:avLst/>
          </a:prstGeom>
          <a:noFill/>
        </p:spPr>
        <p:txBody>
          <a:bodyPr wrap="square">
            <a:spAutoFit/>
          </a:bodyPr>
          <a:lstStyle/>
          <a:p>
            <a:pPr algn="l"/>
            <a:r>
              <a:rPr sz="1100" b="0" i="0">
                <a:solidFill>
                  <a:srgbClr val="FFFFFF"/>
                </a:solidFill>
                <a:latin typeface="Calibri"/>
              </a:rPr>
              <a:t>AUC 0.85–0.94
(según tarea)</a:t>
            </a:r>
          </a:p>
        </p:txBody>
      </p:sp>
      <p:sp>
        <p:nvSpPr>
          <p:cNvPr id="21" name="TextBox 20"/>
          <p:cNvSpPr txBox="1"/>
          <p:nvPr/>
        </p:nvSpPr>
        <p:spPr>
          <a:xfrm>
            <a:off x="6867143" y="2359152"/>
            <a:ext cx="4965192" cy="786384"/>
          </a:xfrm>
          <a:prstGeom prst="rect">
            <a:avLst/>
          </a:prstGeom>
          <a:noFill/>
        </p:spPr>
        <p:txBody>
          <a:bodyPr wrap="square">
            <a:spAutoFit/>
          </a:bodyPr>
          <a:lstStyle/>
          <a:p>
            <a:pPr algn="l"/>
            <a:r>
              <a:rPr sz="1100" b="0" i="0">
                <a:solidFill>
                  <a:srgbClr val="FFFFFF"/>
                </a:solidFill>
                <a:latin typeface="Calibri"/>
              </a:rPr>
              <a:t>No aborda la decisión de remisión a preanestesia.</a:t>
            </a:r>
          </a:p>
        </p:txBody>
      </p:sp>
      <p:sp>
        <p:nvSpPr>
          <p:cNvPr id="22" name="Rectangle 21"/>
          <p:cNvSpPr/>
          <p:nvPr/>
        </p:nvSpPr>
        <p:spPr>
          <a:xfrm>
            <a:off x="365760" y="3218688"/>
            <a:ext cx="11521440" cy="8869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 y="3273552"/>
            <a:ext cx="1993391" cy="786384"/>
          </a:xfrm>
          <a:prstGeom prst="rect">
            <a:avLst/>
          </a:prstGeom>
          <a:noFill/>
        </p:spPr>
        <p:txBody>
          <a:bodyPr wrap="square">
            <a:spAutoFit/>
          </a:bodyPr>
          <a:lstStyle/>
          <a:p>
            <a:pPr algn="l"/>
            <a:r>
              <a:rPr sz="1100" b="0" i="0">
                <a:solidFill>
                  <a:srgbClr val="FFFFFF"/>
                </a:solidFill>
                <a:latin typeface="Calibri"/>
              </a:rPr>
              <a:t>Rincón &amp; Vélez (2025)</a:t>
            </a:r>
          </a:p>
        </p:txBody>
      </p:sp>
      <p:sp>
        <p:nvSpPr>
          <p:cNvPr id="24" name="TextBox 23"/>
          <p:cNvSpPr txBox="1"/>
          <p:nvPr/>
        </p:nvSpPr>
        <p:spPr>
          <a:xfrm>
            <a:off x="2569463" y="3273552"/>
            <a:ext cx="2450591" cy="786384"/>
          </a:xfrm>
          <a:prstGeom prst="rect">
            <a:avLst/>
          </a:prstGeom>
          <a:noFill/>
        </p:spPr>
        <p:txBody>
          <a:bodyPr wrap="square">
            <a:spAutoFit/>
          </a:bodyPr>
          <a:lstStyle/>
          <a:p>
            <a:pPr algn="l"/>
            <a:r>
              <a:rPr sz="1100" b="0" i="0">
                <a:solidFill>
                  <a:srgbClr val="FFFFFF"/>
                </a:solidFill>
                <a:latin typeface="Calibri"/>
              </a:rPr>
              <a:t>App PreAnestesiApp® · 5 instituciones · CDSS + escalas</a:t>
            </a:r>
          </a:p>
        </p:txBody>
      </p:sp>
      <p:sp>
        <p:nvSpPr>
          <p:cNvPr id="25" name="TextBox 24"/>
          <p:cNvSpPr txBox="1"/>
          <p:nvPr/>
        </p:nvSpPr>
        <p:spPr>
          <a:xfrm>
            <a:off x="5175503" y="3273552"/>
            <a:ext cx="1536192" cy="786384"/>
          </a:xfrm>
          <a:prstGeom prst="rect">
            <a:avLst/>
          </a:prstGeom>
          <a:noFill/>
        </p:spPr>
        <p:txBody>
          <a:bodyPr wrap="square">
            <a:spAutoFit/>
          </a:bodyPr>
          <a:lstStyle/>
          <a:p>
            <a:pPr algn="l"/>
            <a:r>
              <a:rPr sz="1100" b="0" i="0">
                <a:solidFill>
                  <a:srgbClr val="FFFFFF"/>
                </a:solidFill>
                <a:latin typeface="Calibri"/>
              </a:rPr>
              <a:t>171 000 valoraciones
10.6 min/caso</a:t>
            </a:r>
          </a:p>
        </p:txBody>
      </p:sp>
      <p:sp>
        <p:nvSpPr>
          <p:cNvPr id="26" name="TextBox 25"/>
          <p:cNvSpPr txBox="1"/>
          <p:nvPr/>
        </p:nvSpPr>
        <p:spPr>
          <a:xfrm>
            <a:off x="6867143" y="3273552"/>
            <a:ext cx="4965192" cy="786384"/>
          </a:xfrm>
          <a:prstGeom prst="rect">
            <a:avLst/>
          </a:prstGeom>
          <a:noFill/>
        </p:spPr>
        <p:txBody>
          <a:bodyPr wrap="square">
            <a:spAutoFit/>
          </a:bodyPr>
          <a:lstStyle/>
          <a:p>
            <a:pPr algn="l"/>
            <a:r>
              <a:rPr sz="1100" b="0" i="0">
                <a:solidFill>
                  <a:srgbClr val="FFFFFF"/>
                </a:solidFill>
                <a:latin typeface="Calibri"/>
              </a:rPr>
              <a:t>Sin ML; solo calculadora de puntajes (ASA, Charlson, SORT, POSPOM).</a:t>
            </a:r>
          </a:p>
        </p:txBody>
      </p:sp>
      <p:sp>
        <p:nvSpPr>
          <p:cNvPr id="27" name="Rectangle 26"/>
          <p:cNvSpPr/>
          <p:nvPr/>
        </p:nvSpPr>
        <p:spPr>
          <a:xfrm>
            <a:off x="365760" y="4133087"/>
            <a:ext cx="11521440" cy="886968"/>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 y="4187951"/>
            <a:ext cx="1993391" cy="786384"/>
          </a:xfrm>
          <a:prstGeom prst="rect">
            <a:avLst/>
          </a:prstGeom>
          <a:noFill/>
        </p:spPr>
        <p:txBody>
          <a:bodyPr wrap="square">
            <a:spAutoFit/>
          </a:bodyPr>
          <a:lstStyle/>
          <a:p>
            <a:pPr algn="l"/>
            <a:r>
              <a:rPr sz="1100" b="0" i="0">
                <a:solidFill>
                  <a:srgbClr val="FFFFFF"/>
                </a:solidFill>
                <a:latin typeface="Calibri"/>
              </a:rPr>
              <a:t>Arias Zuluaga (2020)</a:t>
            </a:r>
          </a:p>
        </p:txBody>
      </p:sp>
      <p:sp>
        <p:nvSpPr>
          <p:cNvPr id="29" name="TextBox 28"/>
          <p:cNvSpPr txBox="1"/>
          <p:nvPr/>
        </p:nvSpPr>
        <p:spPr>
          <a:xfrm>
            <a:off x="2569463" y="4187951"/>
            <a:ext cx="2450591" cy="786384"/>
          </a:xfrm>
          <a:prstGeom prst="rect">
            <a:avLst/>
          </a:prstGeom>
          <a:noFill/>
        </p:spPr>
        <p:txBody>
          <a:bodyPr wrap="square">
            <a:spAutoFit/>
          </a:bodyPr>
          <a:lstStyle/>
          <a:p>
            <a:pPr algn="l"/>
            <a:r>
              <a:rPr sz="1100" b="0" i="0">
                <a:solidFill>
                  <a:srgbClr val="FFFFFF"/>
                </a:solidFill>
                <a:latin typeface="Calibri"/>
              </a:rPr>
              <a:t>Clasificación ASA con IA · Colombia</a:t>
            </a:r>
          </a:p>
        </p:txBody>
      </p:sp>
      <p:sp>
        <p:nvSpPr>
          <p:cNvPr id="30" name="TextBox 29"/>
          <p:cNvSpPr txBox="1"/>
          <p:nvPr/>
        </p:nvSpPr>
        <p:spPr>
          <a:xfrm>
            <a:off x="5175503" y="4187951"/>
            <a:ext cx="1536192" cy="786384"/>
          </a:xfrm>
          <a:prstGeom prst="rect">
            <a:avLst/>
          </a:prstGeom>
          <a:noFill/>
        </p:spPr>
        <p:txBody>
          <a:bodyPr wrap="square">
            <a:spAutoFit/>
          </a:bodyPr>
          <a:lstStyle/>
          <a:p>
            <a:pPr algn="l"/>
            <a:r>
              <a:rPr sz="1100" b="0" i="0">
                <a:solidFill>
                  <a:srgbClr val="FFFFFF"/>
                </a:solidFill>
                <a:latin typeface="Calibri"/>
              </a:rPr>
              <a:t>—</a:t>
            </a:r>
          </a:p>
        </p:txBody>
      </p:sp>
      <p:sp>
        <p:nvSpPr>
          <p:cNvPr id="31" name="TextBox 30"/>
          <p:cNvSpPr txBox="1"/>
          <p:nvPr/>
        </p:nvSpPr>
        <p:spPr>
          <a:xfrm>
            <a:off x="6867143" y="4187951"/>
            <a:ext cx="4965192" cy="786384"/>
          </a:xfrm>
          <a:prstGeom prst="rect">
            <a:avLst/>
          </a:prstGeom>
          <a:noFill/>
        </p:spPr>
        <p:txBody>
          <a:bodyPr wrap="square">
            <a:spAutoFit/>
          </a:bodyPr>
          <a:lstStyle/>
          <a:p>
            <a:pPr algn="l"/>
            <a:r>
              <a:rPr sz="1100" b="0" i="0">
                <a:solidFill>
                  <a:srgbClr val="FFFFFF"/>
                </a:solidFill>
                <a:latin typeface="Calibri"/>
              </a:rPr>
              <a:t>Clasifica ASA, no la decisión de remisión a valoración formal.</a:t>
            </a:r>
          </a:p>
        </p:txBody>
      </p:sp>
      <p:sp>
        <p:nvSpPr>
          <p:cNvPr id="32" name="Rectangle 31"/>
          <p:cNvSpPr/>
          <p:nvPr/>
        </p:nvSpPr>
        <p:spPr>
          <a:xfrm>
            <a:off x="365760" y="5047488"/>
            <a:ext cx="11521440" cy="88696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 y="5102351"/>
            <a:ext cx="1993391" cy="786384"/>
          </a:xfrm>
          <a:prstGeom prst="rect">
            <a:avLst/>
          </a:prstGeom>
          <a:noFill/>
        </p:spPr>
        <p:txBody>
          <a:bodyPr wrap="square">
            <a:spAutoFit/>
          </a:bodyPr>
          <a:lstStyle/>
          <a:p>
            <a:pPr algn="l"/>
            <a:r>
              <a:rPr sz="1100" b="0" i="0">
                <a:solidFill>
                  <a:srgbClr val="FFFFFF"/>
                </a:solidFill>
                <a:latin typeface="Calibri"/>
              </a:rPr>
              <a:t>Kagerbauer et al. (2024)</a:t>
            </a:r>
          </a:p>
        </p:txBody>
      </p:sp>
      <p:sp>
        <p:nvSpPr>
          <p:cNvPr id="34" name="TextBox 33"/>
          <p:cNvSpPr txBox="1"/>
          <p:nvPr/>
        </p:nvSpPr>
        <p:spPr>
          <a:xfrm>
            <a:off x="2569463" y="5102351"/>
            <a:ext cx="2450591" cy="786384"/>
          </a:xfrm>
          <a:prstGeom prst="rect">
            <a:avLst/>
          </a:prstGeom>
          <a:noFill/>
        </p:spPr>
        <p:txBody>
          <a:bodyPr wrap="square">
            <a:spAutoFit/>
          </a:bodyPr>
          <a:lstStyle/>
          <a:p>
            <a:pPr algn="l"/>
            <a:r>
              <a:rPr sz="1100" b="0" i="0">
                <a:solidFill>
                  <a:srgbClr val="FFFFFF"/>
                </a:solidFill>
                <a:latin typeface="Calibri"/>
              </a:rPr>
              <a:t>Autorización quirúrgica ASA 3-4 · Software de reglas</a:t>
            </a:r>
          </a:p>
        </p:txBody>
      </p:sp>
      <p:sp>
        <p:nvSpPr>
          <p:cNvPr id="35" name="TextBox 34"/>
          <p:cNvSpPr txBox="1"/>
          <p:nvPr/>
        </p:nvSpPr>
        <p:spPr>
          <a:xfrm>
            <a:off x="5175503" y="5102351"/>
            <a:ext cx="1536192" cy="786384"/>
          </a:xfrm>
          <a:prstGeom prst="rect">
            <a:avLst/>
          </a:prstGeom>
          <a:noFill/>
        </p:spPr>
        <p:txBody>
          <a:bodyPr wrap="square">
            <a:spAutoFit/>
          </a:bodyPr>
          <a:lstStyle/>
          <a:p>
            <a:pPr algn="l"/>
            <a:r>
              <a:rPr sz="1100" b="0" i="0">
                <a:solidFill>
                  <a:srgbClr val="FFFFFF"/>
                </a:solidFill>
                <a:latin typeface="Calibri"/>
              </a:rPr>
              <a:t>18.1 % vs 47.5 %
expert</a:t>
            </a:r>
          </a:p>
        </p:txBody>
      </p:sp>
      <p:sp>
        <p:nvSpPr>
          <p:cNvPr id="36" name="TextBox 35"/>
          <p:cNvSpPr txBox="1"/>
          <p:nvPr/>
        </p:nvSpPr>
        <p:spPr>
          <a:xfrm>
            <a:off x="6867143" y="5102351"/>
            <a:ext cx="4965192" cy="786384"/>
          </a:xfrm>
          <a:prstGeom prst="rect">
            <a:avLst/>
          </a:prstGeom>
          <a:noFill/>
        </p:spPr>
        <p:txBody>
          <a:bodyPr wrap="square">
            <a:spAutoFit/>
          </a:bodyPr>
          <a:lstStyle/>
          <a:p>
            <a:pPr algn="l"/>
            <a:r>
              <a:rPr sz="1100" b="0" i="0">
                <a:solidFill>
                  <a:srgbClr val="FFFFFF"/>
                </a:solidFill>
                <a:latin typeface="Calibri"/>
              </a:rPr>
              <a:t>Decisión de autorización, no de remisión a preanestesia.</a:t>
            </a:r>
          </a:p>
        </p:txBody>
      </p:sp>
      <p:sp>
        <p:nvSpPr>
          <p:cNvPr id="37" name="Rectangle 36"/>
          <p:cNvSpPr/>
          <p:nvPr/>
        </p:nvSpPr>
        <p:spPr>
          <a:xfrm>
            <a:off x="365760" y="5998464"/>
            <a:ext cx="11521440" cy="594360"/>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053328"/>
            <a:ext cx="11338560" cy="502920"/>
          </a:xfrm>
          <a:prstGeom prst="rect">
            <a:avLst/>
          </a:prstGeom>
          <a:noFill/>
        </p:spPr>
        <p:txBody>
          <a:bodyPr wrap="square">
            <a:spAutoFit/>
          </a:bodyPr>
          <a:lstStyle/>
          <a:p>
            <a:pPr algn="l"/>
            <a:r>
              <a:rPr sz="1200" b="1" i="0">
                <a:solidFill>
                  <a:srgbClr val="8CC63F"/>
                </a:solidFill>
                <a:latin typeface="Calibri"/>
              </a:rPr>
              <a:t>▸  Brecha: ningún trabajo aborda la decisión de remitir a valoración preanestésica formal usando únicamente variables preoperatorias y banderas clínicas posoperatorias como verdad de referencia.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Objetivos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03 · Objetivos y metodología</a:t>
            </a:r>
          </a:p>
        </p:txBody>
      </p:sp>
      <p:sp>
        <p:nvSpPr>
          <p:cNvPr id="7" name="Rectangle 6"/>
          <p:cNvSpPr/>
          <p:nvPr/>
        </p:nvSpPr>
        <p:spPr>
          <a:xfrm>
            <a:off x="548640" y="960120"/>
            <a:ext cx="11091672" cy="1024128"/>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82296" cy="10241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005840"/>
            <a:ext cx="3200400" cy="329184"/>
          </a:xfrm>
          <a:prstGeom prst="rect">
            <a:avLst/>
          </a:prstGeom>
          <a:noFill/>
        </p:spPr>
        <p:txBody>
          <a:bodyPr wrap="square">
            <a:spAutoFit/>
          </a:bodyPr>
          <a:lstStyle/>
          <a:p>
            <a:pPr algn="l"/>
            <a:r>
              <a:rPr sz="1000" b="1" i="0">
                <a:solidFill>
                  <a:srgbClr val="8CC63F"/>
                </a:solidFill>
                <a:latin typeface="Calibri"/>
              </a:rPr>
              <a:t>OBJETIVO GENERAL</a:t>
            </a:r>
          </a:p>
        </p:txBody>
      </p:sp>
      <p:sp>
        <p:nvSpPr>
          <p:cNvPr id="10" name="TextBox 9"/>
          <p:cNvSpPr txBox="1"/>
          <p:nvPr/>
        </p:nvSpPr>
        <p:spPr>
          <a:xfrm>
            <a:off x="777240" y="1335024"/>
            <a:ext cx="10817352" cy="603504"/>
          </a:xfrm>
          <a:prstGeom prst="rect">
            <a:avLst/>
          </a:prstGeom>
          <a:noFill/>
        </p:spPr>
        <p:txBody>
          <a:bodyPr wrap="square">
            <a:spAutoFit/>
          </a:bodyPr>
          <a:lstStyle/>
          <a:p>
            <a:pPr algn="l"/>
            <a:r>
              <a:rPr sz="1300" b="0" i="0">
                <a:solidFill>
                  <a:srgbClr val="FFFFFF"/>
                </a:solidFill>
                <a:latin typeface="Calibri"/>
              </a:rPr>
              <a:t>Diseñar, entrenar y validar un modelo predictivo de clasificación para la identificación de pacientes que requieren valoración preanestésica formal, utilizando como proxy la ocurrencia de eventos clínicos posoperatorios relevantes, a partir de información clínica preoperatoria estructurada y garantizando trazabilidad técnica para su integración.</a:t>
            </a:r>
          </a:p>
        </p:txBody>
      </p:sp>
      <p:sp>
        <p:nvSpPr>
          <p:cNvPr id="11" name="Rectangle 10"/>
          <p:cNvSpPr/>
          <p:nvPr/>
        </p:nvSpPr>
        <p:spPr>
          <a:xfrm>
            <a:off x="548640" y="2148840"/>
            <a:ext cx="2126894"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48840"/>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240280"/>
            <a:ext cx="1925726" cy="457200"/>
          </a:xfrm>
          <a:prstGeom prst="rect">
            <a:avLst/>
          </a:prstGeom>
          <a:noFill/>
        </p:spPr>
        <p:txBody>
          <a:bodyPr wrap="square">
            <a:spAutoFit/>
          </a:bodyPr>
          <a:lstStyle/>
          <a:p>
            <a:pPr algn="l"/>
            <a:r>
              <a:rPr sz="2000" b="1" i="0">
                <a:solidFill>
                  <a:srgbClr val="8CC63F"/>
                </a:solidFill>
                <a:latin typeface="Calibri"/>
              </a:rPr>
              <a:t>OE1</a:t>
            </a:r>
          </a:p>
        </p:txBody>
      </p:sp>
      <p:sp>
        <p:nvSpPr>
          <p:cNvPr id="14" name="TextBox 13"/>
          <p:cNvSpPr txBox="1"/>
          <p:nvPr/>
        </p:nvSpPr>
        <p:spPr>
          <a:xfrm>
            <a:off x="658368" y="2743200"/>
            <a:ext cx="1925726" cy="658368"/>
          </a:xfrm>
          <a:prstGeom prst="rect">
            <a:avLst/>
          </a:prstGeom>
          <a:noFill/>
        </p:spPr>
        <p:txBody>
          <a:bodyPr wrap="square">
            <a:spAutoFit/>
          </a:bodyPr>
          <a:lstStyle/>
          <a:p>
            <a:pPr algn="l"/>
            <a:r>
              <a:rPr sz="1200" b="1" i="0">
                <a:solidFill>
                  <a:srgbClr val="FFFFFF"/>
                </a:solidFill>
                <a:latin typeface="Calibri"/>
              </a:rPr>
              <a:t>Preparación y
gobierno de datos</a:t>
            </a:r>
          </a:p>
        </p:txBody>
      </p:sp>
      <p:sp>
        <p:nvSpPr>
          <p:cNvPr id="15" name="TextBox 14"/>
          <p:cNvSpPr txBox="1"/>
          <p:nvPr/>
        </p:nvSpPr>
        <p:spPr>
          <a:xfrm>
            <a:off x="658368" y="3474720"/>
            <a:ext cx="1925726" cy="2926080"/>
          </a:xfrm>
          <a:prstGeom prst="rect">
            <a:avLst/>
          </a:prstGeom>
          <a:noFill/>
        </p:spPr>
        <p:txBody>
          <a:bodyPr wrap="square">
            <a:spAutoFit/>
          </a:bodyPr>
          <a:lstStyle/>
          <a:p>
            <a:pPr algn="l"/>
            <a:r>
              <a:rPr sz="1100" b="0" i="0">
                <a:solidFill>
                  <a:srgbClr val="A8C4B4"/>
                </a:solidFill>
                <a:latin typeface="Calibri"/>
              </a:rPr>
              <a:t>Dataset anonimizado, documentado con diccionario, manejo de faltantes y trazabilidad reproducible.</a:t>
            </a:r>
          </a:p>
        </p:txBody>
      </p:sp>
      <p:sp>
        <p:nvSpPr>
          <p:cNvPr id="16" name="Rectangle 15"/>
          <p:cNvSpPr/>
          <p:nvPr/>
        </p:nvSpPr>
        <p:spPr>
          <a:xfrm>
            <a:off x="2794406" y="2148840"/>
            <a:ext cx="2126894"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94406" y="2148840"/>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4134" y="2240280"/>
            <a:ext cx="1925726" cy="457200"/>
          </a:xfrm>
          <a:prstGeom prst="rect">
            <a:avLst/>
          </a:prstGeom>
          <a:noFill/>
        </p:spPr>
        <p:txBody>
          <a:bodyPr wrap="square">
            <a:spAutoFit/>
          </a:bodyPr>
          <a:lstStyle/>
          <a:p>
            <a:pPr algn="l"/>
            <a:r>
              <a:rPr sz="2000" b="1" i="0">
                <a:solidFill>
                  <a:srgbClr val="8CC63F"/>
                </a:solidFill>
                <a:latin typeface="Calibri"/>
              </a:rPr>
              <a:t>OE2</a:t>
            </a:r>
          </a:p>
        </p:txBody>
      </p:sp>
      <p:sp>
        <p:nvSpPr>
          <p:cNvPr id="19" name="TextBox 18"/>
          <p:cNvSpPr txBox="1"/>
          <p:nvPr/>
        </p:nvSpPr>
        <p:spPr>
          <a:xfrm>
            <a:off x="2904134" y="2743200"/>
            <a:ext cx="1925726" cy="658368"/>
          </a:xfrm>
          <a:prstGeom prst="rect">
            <a:avLst/>
          </a:prstGeom>
          <a:noFill/>
        </p:spPr>
        <p:txBody>
          <a:bodyPr wrap="square">
            <a:spAutoFit/>
          </a:bodyPr>
          <a:lstStyle/>
          <a:p>
            <a:pPr algn="l"/>
            <a:r>
              <a:rPr sz="1200" b="1" i="0">
                <a:solidFill>
                  <a:srgbClr val="FFFFFF"/>
                </a:solidFill>
                <a:latin typeface="Calibri"/>
              </a:rPr>
              <a:t>Desarrollo y
reproducibilidad</a:t>
            </a:r>
          </a:p>
        </p:txBody>
      </p:sp>
      <p:sp>
        <p:nvSpPr>
          <p:cNvPr id="20" name="TextBox 19"/>
          <p:cNvSpPr txBox="1"/>
          <p:nvPr/>
        </p:nvSpPr>
        <p:spPr>
          <a:xfrm>
            <a:off x="2904134" y="3474720"/>
            <a:ext cx="1925726" cy="2926080"/>
          </a:xfrm>
          <a:prstGeom prst="rect">
            <a:avLst/>
          </a:prstGeom>
          <a:noFill/>
        </p:spPr>
        <p:txBody>
          <a:bodyPr wrap="square">
            <a:spAutoFit/>
          </a:bodyPr>
          <a:lstStyle/>
          <a:p>
            <a:pPr algn="l"/>
            <a:r>
              <a:rPr sz="1100" b="0" i="0">
                <a:solidFill>
                  <a:srgbClr val="A8C4B4"/>
                </a:solidFill>
                <a:latin typeface="Calibri"/>
              </a:rPr>
              <a:t>Feature set diseñado, 9 algoritmos entrenados con validación interna, código y versiones almacenadas.</a:t>
            </a:r>
          </a:p>
        </p:txBody>
      </p:sp>
      <p:sp>
        <p:nvSpPr>
          <p:cNvPr id="21" name="Rectangle 20"/>
          <p:cNvSpPr/>
          <p:nvPr/>
        </p:nvSpPr>
        <p:spPr>
          <a:xfrm>
            <a:off x="5040172" y="2148840"/>
            <a:ext cx="2126894"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40172" y="2148840"/>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49900" y="2240280"/>
            <a:ext cx="1925726" cy="457200"/>
          </a:xfrm>
          <a:prstGeom prst="rect">
            <a:avLst/>
          </a:prstGeom>
          <a:noFill/>
        </p:spPr>
        <p:txBody>
          <a:bodyPr wrap="square">
            <a:spAutoFit/>
          </a:bodyPr>
          <a:lstStyle/>
          <a:p>
            <a:pPr algn="l"/>
            <a:r>
              <a:rPr sz="2000" b="1" i="0">
                <a:solidFill>
                  <a:srgbClr val="8CC63F"/>
                </a:solidFill>
                <a:latin typeface="Calibri"/>
              </a:rPr>
              <a:t>OE3</a:t>
            </a:r>
          </a:p>
        </p:txBody>
      </p:sp>
      <p:sp>
        <p:nvSpPr>
          <p:cNvPr id="24" name="TextBox 23"/>
          <p:cNvSpPr txBox="1"/>
          <p:nvPr/>
        </p:nvSpPr>
        <p:spPr>
          <a:xfrm>
            <a:off x="5149900" y="2743200"/>
            <a:ext cx="1925726" cy="658368"/>
          </a:xfrm>
          <a:prstGeom prst="rect">
            <a:avLst/>
          </a:prstGeom>
          <a:noFill/>
        </p:spPr>
        <p:txBody>
          <a:bodyPr wrap="square">
            <a:spAutoFit/>
          </a:bodyPr>
          <a:lstStyle/>
          <a:p>
            <a:pPr algn="l"/>
            <a:r>
              <a:rPr sz="1200" b="1" i="0">
                <a:solidFill>
                  <a:srgbClr val="FFFFFF"/>
                </a:solidFill>
                <a:latin typeface="Calibri"/>
              </a:rPr>
              <a:t>Evaluación
técnica del modelo</a:t>
            </a:r>
          </a:p>
        </p:txBody>
      </p:sp>
      <p:sp>
        <p:nvSpPr>
          <p:cNvPr id="25" name="TextBox 24"/>
          <p:cNvSpPr txBox="1"/>
          <p:nvPr/>
        </p:nvSpPr>
        <p:spPr>
          <a:xfrm>
            <a:off x="5149900" y="3474720"/>
            <a:ext cx="1925726" cy="2926080"/>
          </a:xfrm>
          <a:prstGeom prst="rect">
            <a:avLst/>
          </a:prstGeom>
          <a:noFill/>
        </p:spPr>
        <p:txBody>
          <a:bodyPr wrap="square">
            <a:spAutoFit/>
          </a:bodyPr>
          <a:lstStyle/>
          <a:p>
            <a:pPr algn="l"/>
            <a:r>
              <a:rPr sz="1100" b="0" i="0">
                <a:solidFill>
                  <a:srgbClr val="A8C4B4"/>
                </a:solidFill>
                <a:latin typeface="Calibri"/>
              </a:rPr>
              <a:t>Métricas clínicas y estadísticas, calibración, análisis de error y subgrupos sobre datos de prueba.</a:t>
            </a:r>
          </a:p>
        </p:txBody>
      </p:sp>
      <p:sp>
        <p:nvSpPr>
          <p:cNvPr id="26" name="Rectangle 25"/>
          <p:cNvSpPr/>
          <p:nvPr/>
        </p:nvSpPr>
        <p:spPr>
          <a:xfrm>
            <a:off x="7285939" y="2148840"/>
            <a:ext cx="2126894"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5939" y="2148840"/>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95667" y="2240280"/>
            <a:ext cx="1925726" cy="457200"/>
          </a:xfrm>
          <a:prstGeom prst="rect">
            <a:avLst/>
          </a:prstGeom>
          <a:noFill/>
        </p:spPr>
        <p:txBody>
          <a:bodyPr wrap="square">
            <a:spAutoFit/>
          </a:bodyPr>
          <a:lstStyle/>
          <a:p>
            <a:pPr algn="l"/>
            <a:r>
              <a:rPr sz="2000" b="1" i="0">
                <a:solidFill>
                  <a:srgbClr val="8CC63F"/>
                </a:solidFill>
                <a:latin typeface="Calibri"/>
              </a:rPr>
              <a:t>OE4</a:t>
            </a:r>
          </a:p>
        </p:txBody>
      </p:sp>
      <p:sp>
        <p:nvSpPr>
          <p:cNvPr id="29" name="TextBox 28"/>
          <p:cNvSpPr txBox="1"/>
          <p:nvPr/>
        </p:nvSpPr>
        <p:spPr>
          <a:xfrm>
            <a:off x="7395667" y="2743200"/>
            <a:ext cx="1925726" cy="658368"/>
          </a:xfrm>
          <a:prstGeom prst="rect">
            <a:avLst/>
          </a:prstGeom>
          <a:noFill/>
        </p:spPr>
        <p:txBody>
          <a:bodyPr wrap="square">
            <a:spAutoFit/>
          </a:bodyPr>
          <a:lstStyle/>
          <a:p>
            <a:pPr algn="l"/>
            <a:r>
              <a:rPr sz="1200" b="1" i="0">
                <a:solidFill>
                  <a:srgbClr val="FFFFFF"/>
                </a:solidFill>
                <a:latin typeface="Calibri"/>
              </a:rPr>
              <a:t>Servicio de
inferencia (API)</a:t>
            </a:r>
          </a:p>
        </p:txBody>
      </p:sp>
      <p:sp>
        <p:nvSpPr>
          <p:cNvPr id="30" name="TextBox 29"/>
          <p:cNvSpPr txBox="1"/>
          <p:nvPr/>
        </p:nvSpPr>
        <p:spPr>
          <a:xfrm>
            <a:off x="7395667" y="3474720"/>
            <a:ext cx="1925726" cy="2926080"/>
          </a:xfrm>
          <a:prstGeom prst="rect">
            <a:avLst/>
          </a:prstGeom>
          <a:noFill/>
        </p:spPr>
        <p:txBody>
          <a:bodyPr wrap="square">
            <a:spAutoFit/>
          </a:bodyPr>
          <a:lstStyle/>
          <a:p>
            <a:pPr algn="l"/>
            <a:r>
              <a:rPr sz="1100" b="0" i="0">
                <a:solidFill>
                  <a:srgbClr val="A8C4B4"/>
                </a:solidFill>
                <a:latin typeface="Calibri"/>
              </a:rPr>
              <a:t>API REST que consume el modelo, entrega recomendaciones y registra interacciones para auditoría.</a:t>
            </a:r>
          </a:p>
        </p:txBody>
      </p:sp>
      <p:sp>
        <p:nvSpPr>
          <p:cNvPr id="31" name="Rectangle 30"/>
          <p:cNvSpPr/>
          <p:nvPr/>
        </p:nvSpPr>
        <p:spPr>
          <a:xfrm>
            <a:off x="9531705" y="2148840"/>
            <a:ext cx="2126894"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1705" y="2148840"/>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1433" y="2240280"/>
            <a:ext cx="1925726" cy="457200"/>
          </a:xfrm>
          <a:prstGeom prst="rect">
            <a:avLst/>
          </a:prstGeom>
          <a:noFill/>
        </p:spPr>
        <p:txBody>
          <a:bodyPr wrap="square">
            <a:spAutoFit/>
          </a:bodyPr>
          <a:lstStyle/>
          <a:p>
            <a:pPr algn="l"/>
            <a:r>
              <a:rPr sz="2000" b="1" i="0">
                <a:solidFill>
                  <a:srgbClr val="8CC63F"/>
                </a:solidFill>
                <a:latin typeface="Calibri"/>
              </a:rPr>
              <a:t>OE5</a:t>
            </a:r>
          </a:p>
        </p:txBody>
      </p:sp>
      <p:sp>
        <p:nvSpPr>
          <p:cNvPr id="34" name="TextBox 33"/>
          <p:cNvSpPr txBox="1"/>
          <p:nvPr/>
        </p:nvSpPr>
        <p:spPr>
          <a:xfrm>
            <a:off x="9641433" y="2743200"/>
            <a:ext cx="1925726" cy="658368"/>
          </a:xfrm>
          <a:prstGeom prst="rect">
            <a:avLst/>
          </a:prstGeom>
          <a:noFill/>
        </p:spPr>
        <p:txBody>
          <a:bodyPr wrap="square">
            <a:spAutoFit/>
          </a:bodyPr>
          <a:lstStyle/>
          <a:p>
            <a:pPr algn="l"/>
            <a:r>
              <a:rPr sz="1200" b="1" i="0">
                <a:solidFill>
                  <a:srgbClr val="FFFFFF"/>
                </a:solidFill>
                <a:latin typeface="Calibri"/>
              </a:rPr>
              <a:t>Arquitectura de
integración</a:t>
            </a:r>
          </a:p>
        </p:txBody>
      </p:sp>
      <p:sp>
        <p:nvSpPr>
          <p:cNvPr id="35" name="TextBox 34"/>
          <p:cNvSpPr txBox="1"/>
          <p:nvPr/>
        </p:nvSpPr>
        <p:spPr>
          <a:xfrm>
            <a:off x="9641433" y="3474720"/>
            <a:ext cx="1925726" cy="2926080"/>
          </a:xfrm>
          <a:prstGeom prst="rect">
            <a:avLst/>
          </a:prstGeom>
          <a:noFill/>
        </p:spPr>
        <p:txBody>
          <a:bodyPr wrap="square">
            <a:spAutoFit/>
          </a:bodyPr>
          <a:lstStyle/>
          <a:p>
            <a:pPr algn="l"/>
            <a:r>
              <a:rPr sz="1100" b="0" i="0">
                <a:solidFill>
                  <a:srgbClr val="A8C4B4"/>
                </a:solidFill>
                <a:latin typeface="Calibri"/>
              </a:rPr>
              <a:t>Flujo de implementación e integración del modelo con los sistemas institucionales de la FVL.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Metodología — CRISP-DM iterativo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03 · Objetivos y metodología</a:t>
            </a:r>
          </a:p>
        </p:txBody>
      </p:sp>
      <p:sp>
        <p:nvSpPr>
          <p:cNvPr id="7" name="Rectangle 6"/>
          <p:cNvSpPr/>
          <p:nvPr/>
        </p:nvSpPr>
        <p:spPr>
          <a:xfrm>
            <a:off x="411480" y="960120"/>
            <a:ext cx="1839468" cy="510235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042415"/>
            <a:ext cx="1638300" cy="640080"/>
          </a:xfrm>
          <a:prstGeom prst="rect">
            <a:avLst/>
          </a:prstGeom>
          <a:noFill/>
        </p:spPr>
        <p:txBody>
          <a:bodyPr wrap="square">
            <a:spAutoFit/>
          </a:bodyPr>
          <a:lstStyle/>
          <a:p>
            <a:pPr algn="ctr"/>
            <a:r>
              <a:rPr sz="1300" b="1" i="0">
                <a:solidFill>
                  <a:srgbClr val="8CC63F"/>
                </a:solidFill>
                <a:latin typeface="Calibri"/>
              </a:rPr>
              <a:t>Comprensión
del negocio</a:t>
            </a:r>
          </a:p>
        </p:txBody>
      </p:sp>
      <p:sp>
        <p:nvSpPr>
          <p:cNvPr id="10" name="TextBox 9"/>
          <p:cNvSpPr txBox="1"/>
          <p:nvPr/>
        </p:nvSpPr>
        <p:spPr>
          <a:xfrm>
            <a:off x="521208" y="1755648"/>
            <a:ext cx="1638300" cy="4160520"/>
          </a:xfrm>
          <a:prstGeom prst="rect">
            <a:avLst/>
          </a:prstGeom>
          <a:noFill/>
        </p:spPr>
        <p:txBody>
          <a:bodyPr wrap="square">
            <a:spAutoFit/>
          </a:bodyPr>
          <a:lstStyle/>
          <a:p>
            <a:pPr algn="l"/>
            <a:r>
              <a:rPr sz="1100" b="0" i="0">
                <a:solidFill>
                  <a:srgbClr val="FFFFFF"/>
                </a:solidFill>
                <a:latin typeface="Calibri"/>
              </a:rPr>
              <a:t>Reuniones FVL. Árbol de problemas/objetivos. 5 OEs definidos.</a:t>
            </a:r>
          </a:p>
        </p:txBody>
      </p:sp>
      <p:sp>
        <p:nvSpPr>
          <p:cNvPr id="11" name="TextBox 10"/>
          <p:cNvSpPr txBox="1"/>
          <p:nvPr/>
        </p:nvSpPr>
        <p:spPr>
          <a:xfrm>
            <a:off x="2260092" y="3383280"/>
            <a:ext cx="91440" cy="347472"/>
          </a:xfrm>
          <a:prstGeom prst="rect">
            <a:avLst/>
          </a:prstGeom>
          <a:noFill/>
        </p:spPr>
        <p:txBody>
          <a:bodyPr wrap="square">
            <a:spAutoFit/>
          </a:bodyPr>
          <a:lstStyle/>
          <a:p>
            <a:pPr algn="l"/>
            <a:r>
              <a:rPr sz="1200" b="0" i="0">
                <a:solidFill>
                  <a:srgbClr val="8CC63F"/>
                </a:solidFill>
                <a:latin typeface="Calibri"/>
              </a:rPr>
              <a:t>▶</a:t>
            </a:r>
          </a:p>
        </p:txBody>
      </p:sp>
      <p:sp>
        <p:nvSpPr>
          <p:cNvPr id="12" name="Rectangle 11"/>
          <p:cNvSpPr/>
          <p:nvPr/>
        </p:nvSpPr>
        <p:spPr>
          <a:xfrm>
            <a:off x="2324100" y="960120"/>
            <a:ext cx="1839468" cy="5102352"/>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2410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33828" y="1042415"/>
            <a:ext cx="1638300" cy="640080"/>
          </a:xfrm>
          <a:prstGeom prst="rect">
            <a:avLst/>
          </a:prstGeom>
          <a:noFill/>
        </p:spPr>
        <p:txBody>
          <a:bodyPr wrap="square">
            <a:spAutoFit/>
          </a:bodyPr>
          <a:lstStyle/>
          <a:p>
            <a:pPr algn="ctr"/>
            <a:r>
              <a:rPr sz="1300" b="1" i="0">
                <a:solidFill>
                  <a:srgbClr val="8CC63F"/>
                </a:solidFill>
                <a:latin typeface="Calibri"/>
              </a:rPr>
              <a:t>Comprensión
de los datos</a:t>
            </a:r>
          </a:p>
        </p:txBody>
      </p:sp>
      <p:sp>
        <p:nvSpPr>
          <p:cNvPr id="15" name="TextBox 14"/>
          <p:cNvSpPr txBox="1"/>
          <p:nvPr/>
        </p:nvSpPr>
        <p:spPr>
          <a:xfrm>
            <a:off x="2433828" y="1755648"/>
            <a:ext cx="1638300" cy="4160520"/>
          </a:xfrm>
          <a:prstGeom prst="rect">
            <a:avLst/>
          </a:prstGeom>
          <a:noFill/>
        </p:spPr>
        <p:txBody>
          <a:bodyPr wrap="square">
            <a:spAutoFit/>
          </a:bodyPr>
          <a:lstStyle/>
          <a:p>
            <a:pPr algn="l"/>
            <a:r>
              <a:rPr sz="1100" b="0" i="0">
                <a:solidFill>
                  <a:srgbClr val="FFFFFF"/>
                </a:solidFill>
                <a:latin typeface="Calibri"/>
              </a:rPr>
              <a:t>EDA sobre 30 962 registros. Diccionario de datos. Perfil estadístico por columna.</a:t>
            </a:r>
          </a:p>
        </p:txBody>
      </p:sp>
      <p:sp>
        <p:nvSpPr>
          <p:cNvPr id="16" name="TextBox 15"/>
          <p:cNvSpPr txBox="1"/>
          <p:nvPr/>
        </p:nvSpPr>
        <p:spPr>
          <a:xfrm>
            <a:off x="4172712" y="3383280"/>
            <a:ext cx="91440" cy="347472"/>
          </a:xfrm>
          <a:prstGeom prst="rect">
            <a:avLst/>
          </a:prstGeom>
          <a:noFill/>
        </p:spPr>
        <p:txBody>
          <a:bodyPr wrap="square">
            <a:spAutoFit/>
          </a:bodyPr>
          <a:lstStyle/>
          <a:p>
            <a:pPr algn="l"/>
            <a:r>
              <a:rPr sz="1200" b="0" i="0">
                <a:solidFill>
                  <a:srgbClr val="8CC63F"/>
                </a:solidFill>
                <a:latin typeface="Calibri"/>
              </a:rPr>
              <a:t>▶</a:t>
            </a:r>
          </a:p>
        </p:txBody>
      </p:sp>
      <p:sp>
        <p:nvSpPr>
          <p:cNvPr id="17" name="Rectangle 16"/>
          <p:cNvSpPr/>
          <p:nvPr/>
        </p:nvSpPr>
        <p:spPr>
          <a:xfrm>
            <a:off x="4236720" y="960120"/>
            <a:ext cx="1839468" cy="510235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3672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6448" y="1042415"/>
            <a:ext cx="1638300" cy="640080"/>
          </a:xfrm>
          <a:prstGeom prst="rect">
            <a:avLst/>
          </a:prstGeom>
          <a:noFill/>
        </p:spPr>
        <p:txBody>
          <a:bodyPr wrap="square">
            <a:spAutoFit/>
          </a:bodyPr>
          <a:lstStyle/>
          <a:p>
            <a:pPr algn="ctr"/>
            <a:r>
              <a:rPr sz="1300" b="1" i="0">
                <a:solidFill>
                  <a:srgbClr val="8CC63F"/>
                </a:solidFill>
                <a:latin typeface="Calibri"/>
              </a:rPr>
              <a:t>Preparación
de los datos</a:t>
            </a:r>
          </a:p>
        </p:txBody>
      </p:sp>
      <p:sp>
        <p:nvSpPr>
          <p:cNvPr id="20" name="TextBox 19"/>
          <p:cNvSpPr txBox="1"/>
          <p:nvPr/>
        </p:nvSpPr>
        <p:spPr>
          <a:xfrm>
            <a:off x="4346448" y="1755648"/>
            <a:ext cx="1638300" cy="4160520"/>
          </a:xfrm>
          <a:prstGeom prst="rect">
            <a:avLst/>
          </a:prstGeom>
          <a:noFill/>
        </p:spPr>
        <p:txBody>
          <a:bodyPr wrap="square">
            <a:spAutoFit/>
          </a:bodyPr>
          <a:lstStyle/>
          <a:p>
            <a:pPr algn="l"/>
            <a:r>
              <a:rPr sz="1100" b="0" i="0">
                <a:solidFill>
                  <a:srgbClr val="FFFFFF"/>
                </a:solidFill>
                <a:latin typeface="Calibri"/>
              </a:rPr>
              <a:t>Limpieza determinista. 24 279 adultos. 237 variables. 0 % nulos.</a:t>
            </a:r>
          </a:p>
        </p:txBody>
      </p:sp>
      <p:sp>
        <p:nvSpPr>
          <p:cNvPr id="21" name="TextBox 20"/>
          <p:cNvSpPr txBox="1"/>
          <p:nvPr/>
        </p:nvSpPr>
        <p:spPr>
          <a:xfrm>
            <a:off x="6085332" y="3383280"/>
            <a:ext cx="91440" cy="347472"/>
          </a:xfrm>
          <a:prstGeom prst="rect">
            <a:avLst/>
          </a:prstGeom>
          <a:noFill/>
        </p:spPr>
        <p:txBody>
          <a:bodyPr wrap="square">
            <a:spAutoFit/>
          </a:bodyPr>
          <a:lstStyle/>
          <a:p>
            <a:pPr algn="l"/>
            <a:r>
              <a:rPr sz="1200" b="0" i="0">
                <a:solidFill>
                  <a:srgbClr val="8CC63F"/>
                </a:solidFill>
                <a:latin typeface="Calibri"/>
              </a:rPr>
              <a:t>▶</a:t>
            </a:r>
          </a:p>
        </p:txBody>
      </p:sp>
      <p:sp>
        <p:nvSpPr>
          <p:cNvPr id="22" name="Rectangle 21"/>
          <p:cNvSpPr/>
          <p:nvPr/>
        </p:nvSpPr>
        <p:spPr>
          <a:xfrm>
            <a:off x="6149340" y="960120"/>
            <a:ext cx="1839468" cy="5102352"/>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934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9068" y="1042415"/>
            <a:ext cx="1638300" cy="640080"/>
          </a:xfrm>
          <a:prstGeom prst="rect">
            <a:avLst/>
          </a:prstGeom>
          <a:noFill/>
        </p:spPr>
        <p:txBody>
          <a:bodyPr wrap="square">
            <a:spAutoFit/>
          </a:bodyPr>
          <a:lstStyle/>
          <a:p>
            <a:pPr algn="ctr"/>
            <a:r>
              <a:rPr sz="1300" b="1" i="0">
                <a:solidFill>
                  <a:srgbClr val="8CC63F"/>
                </a:solidFill>
                <a:latin typeface="Calibri"/>
              </a:rPr>
              <a:t>Modelado</a:t>
            </a:r>
          </a:p>
        </p:txBody>
      </p:sp>
      <p:sp>
        <p:nvSpPr>
          <p:cNvPr id="25" name="TextBox 24"/>
          <p:cNvSpPr txBox="1"/>
          <p:nvPr/>
        </p:nvSpPr>
        <p:spPr>
          <a:xfrm>
            <a:off x="6259068" y="1755648"/>
            <a:ext cx="1638300" cy="4160520"/>
          </a:xfrm>
          <a:prstGeom prst="rect">
            <a:avLst/>
          </a:prstGeom>
          <a:noFill/>
        </p:spPr>
        <p:txBody>
          <a:bodyPr wrap="square">
            <a:spAutoFit/>
          </a:bodyPr>
          <a:lstStyle/>
          <a:p>
            <a:pPr algn="l"/>
            <a:r>
              <a:rPr sz="1100" b="0" i="0">
                <a:solidFill>
                  <a:srgbClr val="FFFFFF"/>
                </a:solidFill>
                <a:latin typeface="Calibri"/>
              </a:rPr>
              <a:t>9 algoritmos. 2 versiones de target. Calibración + threshold F2.</a:t>
            </a:r>
          </a:p>
        </p:txBody>
      </p:sp>
      <p:sp>
        <p:nvSpPr>
          <p:cNvPr id="26" name="TextBox 25"/>
          <p:cNvSpPr txBox="1"/>
          <p:nvPr/>
        </p:nvSpPr>
        <p:spPr>
          <a:xfrm>
            <a:off x="7997952" y="3383280"/>
            <a:ext cx="91440" cy="347472"/>
          </a:xfrm>
          <a:prstGeom prst="rect">
            <a:avLst/>
          </a:prstGeom>
          <a:noFill/>
        </p:spPr>
        <p:txBody>
          <a:bodyPr wrap="square">
            <a:spAutoFit/>
          </a:bodyPr>
          <a:lstStyle/>
          <a:p>
            <a:pPr algn="l"/>
            <a:r>
              <a:rPr sz="1200" b="0" i="0">
                <a:solidFill>
                  <a:srgbClr val="8CC63F"/>
                </a:solidFill>
                <a:latin typeface="Calibri"/>
              </a:rPr>
              <a:t>▶</a:t>
            </a:r>
          </a:p>
        </p:txBody>
      </p:sp>
      <p:sp>
        <p:nvSpPr>
          <p:cNvPr id="27" name="Rectangle 26"/>
          <p:cNvSpPr/>
          <p:nvPr/>
        </p:nvSpPr>
        <p:spPr>
          <a:xfrm>
            <a:off x="8061960" y="960120"/>
            <a:ext cx="1839468" cy="510235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6196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71687" y="1042415"/>
            <a:ext cx="1638300" cy="640080"/>
          </a:xfrm>
          <a:prstGeom prst="rect">
            <a:avLst/>
          </a:prstGeom>
          <a:noFill/>
        </p:spPr>
        <p:txBody>
          <a:bodyPr wrap="square">
            <a:spAutoFit/>
          </a:bodyPr>
          <a:lstStyle/>
          <a:p>
            <a:pPr algn="ctr"/>
            <a:r>
              <a:rPr sz="1300" b="1" i="0">
                <a:solidFill>
                  <a:srgbClr val="8CC63F"/>
                </a:solidFill>
                <a:latin typeface="Calibri"/>
              </a:rPr>
              <a:t>Evaluación</a:t>
            </a:r>
          </a:p>
        </p:txBody>
      </p:sp>
      <p:sp>
        <p:nvSpPr>
          <p:cNvPr id="30" name="TextBox 29"/>
          <p:cNvSpPr txBox="1"/>
          <p:nvPr/>
        </p:nvSpPr>
        <p:spPr>
          <a:xfrm>
            <a:off x="8171687" y="1755648"/>
            <a:ext cx="1638300" cy="4160520"/>
          </a:xfrm>
          <a:prstGeom prst="rect">
            <a:avLst/>
          </a:prstGeom>
          <a:noFill/>
        </p:spPr>
        <p:txBody>
          <a:bodyPr wrap="square">
            <a:spAutoFit/>
          </a:bodyPr>
          <a:lstStyle/>
          <a:p>
            <a:pPr algn="l"/>
            <a:r>
              <a:rPr sz="1100" b="0" i="0">
                <a:solidFill>
                  <a:srgbClr val="FFFFFF"/>
                </a:solidFill>
                <a:latin typeface="Calibri"/>
              </a:rPr>
              <a:t>Test set estratificado. SHAP global e individual. Subgrupos clínicos.</a:t>
            </a:r>
          </a:p>
        </p:txBody>
      </p:sp>
      <p:sp>
        <p:nvSpPr>
          <p:cNvPr id="31" name="TextBox 30"/>
          <p:cNvSpPr txBox="1"/>
          <p:nvPr/>
        </p:nvSpPr>
        <p:spPr>
          <a:xfrm>
            <a:off x="9910572" y="3383280"/>
            <a:ext cx="91440" cy="347472"/>
          </a:xfrm>
          <a:prstGeom prst="rect">
            <a:avLst/>
          </a:prstGeom>
          <a:noFill/>
        </p:spPr>
        <p:txBody>
          <a:bodyPr wrap="square">
            <a:spAutoFit/>
          </a:bodyPr>
          <a:lstStyle/>
          <a:p>
            <a:pPr algn="l"/>
            <a:r>
              <a:rPr sz="1200" b="0" i="0">
                <a:solidFill>
                  <a:srgbClr val="8CC63F"/>
                </a:solidFill>
                <a:latin typeface="Calibri"/>
              </a:rPr>
              <a:t>▶</a:t>
            </a:r>
          </a:p>
        </p:txBody>
      </p:sp>
      <p:sp>
        <p:nvSpPr>
          <p:cNvPr id="32" name="Rectangle 31"/>
          <p:cNvSpPr/>
          <p:nvPr/>
        </p:nvSpPr>
        <p:spPr>
          <a:xfrm>
            <a:off x="9974580" y="960120"/>
            <a:ext cx="1839468" cy="5102352"/>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74580" y="960120"/>
            <a:ext cx="183946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4308" y="1042415"/>
            <a:ext cx="1638300" cy="640080"/>
          </a:xfrm>
          <a:prstGeom prst="rect">
            <a:avLst/>
          </a:prstGeom>
          <a:noFill/>
        </p:spPr>
        <p:txBody>
          <a:bodyPr wrap="square">
            <a:spAutoFit/>
          </a:bodyPr>
          <a:lstStyle/>
          <a:p>
            <a:pPr algn="ctr"/>
            <a:r>
              <a:rPr sz="1300" b="1" i="0">
                <a:solidFill>
                  <a:srgbClr val="8CC63F"/>
                </a:solidFill>
                <a:latin typeface="Calibri"/>
              </a:rPr>
              <a:t>Despliegue</a:t>
            </a:r>
          </a:p>
        </p:txBody>
      </p:sp>
      <p:sp>
        <p:nvSpPr>
          <p:cNvPr id="35" name="TextBox 34"/>
          <p:cNvSpPr txBox="1"/>
          <p:nvPr/>
        </p:nvSpPr>
        <p:spPr>
          <a:xfrm>
            <a:off x="10084308" y="1755648"/>
            <a:ext cx="1638300" cy="4160520"/>
          </a:xfrm>
          <a:prstGeom prst="rect">
            <a:avLst/>
          </a:prstGeom>
          <a:noFill/>
        </p:spPr>
        <p:txBody>
          <a:bodyPr wrap="square">
            <a:spAutoFit/>
          </a:bodyPr>
          <a:lstStyle/>
          <a:p>
            <a:pPr algn="l"/>
            <a:r>
              <a:rPr sz="1100" b="0" i="0">
                <a:solidFill>
                  <a:srgbClr val="FFFFFF"/>
                </a:solidFill>
                <a:latin typeface="Calibri"/>
              </a:rPr>
              <a:t>API FastAPI dockerizada. Manifiesto JSON. React UI (prueba de concepto).</a:t>
            </a:r>
          </a:p>
        </p:txBody>
      </p:sp>
      <p:sp>
        <p:nvSpPr>
          <p:cNvPr id="36" name="Rectangle 35"/>
          <p:cNvSpPr/>
          <p:nvPr/>
        </p:nvSpPr>
        <p:spPr>
          <a:xfrm>
            <a:off x="411480" y="6144768"/>
            <a:ext cx="11365992" cy="566928"/>
          </a:xfrm>
          <a:prstGeom prst="rect">
            <a:avLst/>
          </a:prstGeom>
          <a:solidFill>
            <a:srgbClr val="14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6199632"/>
            <a:ext cx="11183112" cy="475488"/>
          </a:xfrm>
          <a:prstGeom prst="rect">
            <a:avLst/>
          </a:prstGeom>
          <a:noFill/>
        </p:spPr>
        <p:txBody>
          <a:bodyPr wrap="square">
            <a:spAutoFit/>
          </a:bodyPr>
          <a:lstStyle/>
          <a:p>
            <a:pPr algn="l"/>
            <a:r>
              <a:rPr sz="1200" b="0" i="1">
                <a:solidFill>
                  <a:srgbClr val="8CC63F"/>
                </a:solidFill>
                <a:latin typeface="Calibri"/>
              </a:rPr>
              <a:t>3 ciclos iterativos:  (1) Redefinición del target — ROC-AUC pasó de 0.62 → 0.86  ·  (2) Calibración isotónica como paso obligatorio  ·  (3) Señal: complejidad del procedimiento vs. riesgo del paciente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Datos — Limpieza y preparación</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Rectangle 6"/>
          <p:cNvSpPr/>
          <p:nvPr/>
        </p:nvSpPr>
        <p:spPr>
          <a:xfrm>
            <a:off x="548640" y="950976"/>
            <a:ext cx="2126894" cy="1463040"/>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50976"/>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24128"/>
            <a:ext cx="2126894" cy="694944"/>
          </a:xfrm>
          <a:prstGeom prst="rect">
            <a:avLst/>
          </a:prstGeom>
          <a:noFill/>
        </p:spPr>
        <p:txBody>
          <a:bodyPr wrap="square">
            <a:spAutoFit/>
          </a:bodyPr>
          <a:lstStyle/>
          <a:p>
            <a:pPr algn="ctr"/>
            <a:r>
              <a:rPr sz="2400" b="1" i="0">
                <a:solidFill>
                  <a:srgbClr val="8CC63F"/>
                </a:solidFill>
                <a:latin typeface="Calibri"/>
              </a:rPr>
              <a:t>30 962</a:t>
            </a:r>
          </a:p>
        </p:txBody>
      </p:sp>
      <p:sp>
        <p:nvSpPr>
          <p:cNvPr id="10" name="TextBox 9"/>
          <p:cNvSpPr txBox="1"/>
          <p:nvPr/>
        </p:nvSpPr>
        <p:spPr>
          <a:xfrm>
            <a:off x="548640" y="1700784"/>
            <a:ext cx="2126894" cy="640080"/>
          </a:xfrm>
          <a:prstGeom prst="rect">
            <a:avLst/>
          </a:prstGeom>
          <a:noFill/>
        </p:spPr>
        <p:txBody>
          <a:bodyPr wrap="square">
            <a:spAutoFit/>
          </a:bodyPr>
          <a:lstStyle/>
          <a:p>
            <a:pPr algn="ctr"/>
            <a:r>
              <a:rPr sz="1100" b="0" i="0">
                <a:solidFill>
                  <a:srgbClr val="A8C4B4"/>
                </a:solidFill>
                <a:latin typeface="Calibri"/>
              </a:rPr>
              <a:t>registros originales</a:t>
            </a:r>
          </a:p>
        </p:txBody>
      </p:sp>
      <p:sp>
        <p:nvSpPr>
          <p:cNvPr id="11" name="Rectangle 10"/>
          <p:cNvSpPr/>
          <p:nvPr/>
        </p:nvSpPr>
        <p:spPr>
          <a:xfrm>
            <a:off x="2794406" y="950976"/>
            <a:ext cx="2126894" cy="1463040"/>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94406" y="950976"/>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4406" y="1024128"/>
            <a:ext cx="2126894" cy="694944"/>
          </a:xfrm>
          <a:prstGeom prst="rect">
            <a:avLst/>
          </a:prstGeom>
          <a:noFill/>
        </p:spPr>
        <p:txBody>
          <a:bodyPr wrap="square">
            <a:spAutoFit/>
          </a:bodyPr>
          <a:lstStyle/>
          <a:p>
            <a:pPr algn="ctr"/>
            <a:r>
              <a:rPr sz="2400" b="1" i="0">
                <a:solidFill>
                  <a:srgbClr val="8CC63F"/>
                </a:solidFill>
                <a:latin typeface="Calibri"/>
              </a:rPr>
              <a:t>24 279</a:t>
            </a:r>
          </a:p>
        </p:txBody>
      </p:sp>
      <p:sp>
        <p:nvSpPr>
          <p:cNvPr id="14" name="TextBox 13"/>
          <p:cNvSpPr txBox="1"/>
          <p:nvPr/>
        </p:nvSpPr>
        <p:spPr>
          <a:xfrm>
            <a:off x="2794406" y="1700784"/>
            <a:ext cx="2126894" cy="640080"/>
          </a:xfrm>
          <a:prstGeom prst="rect">
            <a:avLst/>
          </a:prstGeom>
          <a:noFill/>
        </p:spPr>
        <p:txBody>
          <a:bodyPr wrap="square">
            <a:spAutoFit/>
          </a:bodyPr>
          <a:lstStyle/>
          <a:p>
            <a:pPr algn="ctr"/>
            <a:r>
              <a:rPr sz="1100" b="0" i="0">
                <a:solidFill>
                  <a:srgbClr val="A8C4B4"/>
                </a:solidFill>
                <a:latin typeface="Calibri"/>
              </a:rPr>
              <a:t>episodios adultos</a:t>
            </a:r>
          </a:p>
        </p:txBody>
      </p:sp>
      <p:sp>
        <p:nvSpPr>
          <p:cNvPr id="15" name="Rectangle 14"/>
          <p:cNvSpPr/>
          <p:nvPr/>
        </p:nvSpPr>
        <p:spPr>
          <a:xfrm>
            <a:off x="5040172" y="950976"/>
            <a:ext cx="2126894" cy="1463040"/>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40172" y="950976"/>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172" y="1024128"/>
            <a:ext cx="2126894" cy="694944"/>
          </a:xfrm>
          <a:prstGeom prst="rect">
            <a:avLst/>
          </a:prstGeom>
          <a:noFill/>
        </p:spPr>
        <p:txBody>
          <a:bodyPr wrap="square">
            <a:spAutoFit/>
          </a:bodyPr>
          <a:lstStyle/>
          <a:p>
            <a:pPr algn="ctr"/>
            <a:r>
              <a:rPr sz="2400" b="1" i="0">
                <a:solidFill>
                  <a:srgbClr val="8CC63F"/>
                </a:solidFill>
                <a:latin typeface="Calibri"/>
              </a:rPr>
              <a:t>237</a:t>
            </a:r>
          </a:p>
        </p:txBody>
      </p:sp>
      <p:sp>
        <p:nvSpPr>
          <p:cNvPr id="18" name="TextBox 17"/>
          <p:cNvSpPr txBox="1"/>
          <p:nvPr/>
        </p:nvSpPr>
        <p:spPr>
          <a:xfrm>
            <a:off x="5040172" y="1700784"/>
            <a:ext cx="2126894" cy="640080"/>
          </a:xfrm>
          <a:prstGeom prst="rect">
            <a:avLst/>
          </a:prstGeom>
          <a:noFill/>
        </p:spPr>
        <p:txBody>
          <a:bodyPr wrap="square">
            <a:spAutoFit/>
          </a:bodyPr>
          <a:lstStyle/>
          <a:p>
            <a:pPr algn="ctr"/>
            <a:r>
              <a:rPr sz="1100" b="0" i="0">
                <a:solidFill>
                  <a:srgbClr val="A8C4B4"/>
                </a:solidFill>
                <a:latin typeface="Calibri"/>
              </a:rPr>
              <a:t>variables finales</a:t>
            </a:r>
          </a:p>
        </p:txBody>
      </p:sp>
      <p:sp>
        <p:nvSpPr>
          <p:cNvPr id="19" name="Rectangle 18"/>
          <p:cNvSpPr/>
          <p:nvPr/>
        </p:nvSpPr>
        <p:spPr>
          <a:xfrm>
            <a:off x="7285939" y="950976"/>
            <a:ext cx="2126894" cy="1463040"/>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85939" y="950976"/>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85939" y="1024128"/>
            <a:ext cx="2126894" cy="694944"/>
          </a:xfrm>
          <a:prstGeom prst="rect">
            <a:avLst/>
          </a:prstGeom>
          <a:noFill/>
        </p:spPr>
        <p:txBody>
          <a:bodyPr wrap="square">
            <a:spAutoFit/>
          </a:bodyPr>
          <a:lstStyle/>
          <a:p>
            <a:pPr algn="ctr"/>
            <a:r>
              <a:rPr sz="2400" b="1" i="0">
                <a:solidFill>
                  <a:srgbClr val="8CC63F"/>
                </a:solidFill>
                <a:latin typeface="Calibri"/>
              </a:rPr>
              <a:t>0 %</a:t>
            </a:r>
          </a:p>
        </p:txBody>
      </p:sp>
      <p:sp>
        <p:nvSpPr>
          <p:cNvPr id="22" name="TextBox 21"/>
          <p:cNvSpPr txBox="1"/>
          <p:nvPr/>
        </p:nvSpPr>
        <p:spPr>
          <a:xfrm>
            <a:off x="7285939" y="1700784"/>
            <a:ext cx="2126894" cy="640080"/>
          </a:xfrm>
          <a:prstGeom prst="rect">
            <a:avLst/>
          </a:prstGeom>
          <a:noFill/>
        </p:spPr>
        <p:txBody>
          <a:bodyPr wrap="square">
            <a:spAutoFit/>
          </a:bodyPr>
          <a:lstStyle/>
          <a:p>
            <a:pPr algn="ctr"/>
            <a:r>
              <a:rPr sz="1100" b="0" i="0">
                <a:solidFill>
                  <a:srgbClr val="A8C4B4"/>
                </a:solidFill>
                <a:latin typeface="Calibri"/>
              </a:rPr>
              <a:t>nulos residuales</a:t>
            </a:r>
          </a:p>
        </p:txBody>
      </p:sp>
      <p:sp>
        <p:nvSpPr>
          <p:cNvPr id="23" name="Rectangle 22"/>
          <p:cNvSpPr/>
          <p:nvPr/>
        </p:nvSpPr>
        <p:spPr>
          <a:xfrm>
            <a:off x="9531705" y="950976"/>
            <a:ext cx="2126894" cy="1463040"/>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31705" y="950976"/>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31705" y="1024128"/>
            <a:ext cx="2126894" cy="694944"/>
          </a:xfrm>
          <a:prstGeom prst="rect">
            <a:avLst/>
          </a:prstGeom>
          <a:noFill/>
        </p:spPr>
        <p:txBody>
          <a:bodyPr wrap="square">
            <a:spAutoFit/>
          </a:bodyPr>
          <a:lstStyle/>
          <a:p>
            <a:pPr algn="ctr"/>
            <a:r>
              <a:rPr sz="2400" b="1" i="0">
                <a:solidFill>
                  <a:srgbClr val="8CC63F"/>
                </a:solidFill>
                <a:latin typeface="Calibri"/>
              </a:rPr>
              <a:t>0</a:t>
            </a:r>
          </a:p>
        </p:txBody>
      </p:sp>
      <p:sp>
        <p:nvSpPr>
          <p:cNvPr id="26" name="TextBox 25"/>
          <p:cNvSpPr txBox="1"/>
          <p:nvPr/>
        </p:nvSpPr>
        <p:spPr>
          <a:xfrm>
            <a:off x="9531705" y="1700784"/>
            <a:ext cx="2126894" cy="640080"/>
          </a:xfrm>
          <a:prstGeom prst="rect">
            <a:avLst/>
          </a:prstGeom>
          <a:noFill/>
        </p:spPr>
        <p:txBody>
          <a:bodyPr wrap="square">
            <a:spAutoFit/>
          </a:bodyPr>
          <a:lstStyle/>
          <a:p>
            <a:pPr algn="ctr"/>
            <a:r>
              <a:rPr sz="1100" b="0" i="0">
                <a:solidFill>
                  <a:srgbClr val="A8C4B4"/>
                </a:solidFill>
                <a:latin typeface="Calibri"/>
              </a:rPr>
              <a:t>contradicciones
residuales</a:t>
            </a:r>
          </a:p>
        </p:txBody>
      </p:sp>
      <p:sp>
        <p:nvSpPr>
          <p:cNvPr id="27" name="TextBox 26"/>
          <p:cNvSpPr txBox="1"/>
          <p:nvPr/>
        </p:nvSpPr>
        <p:spPr>
          <a:xfrm>
            <a:off x="548640" y="2542032"/>
            <a:ext cx="5394960" cy="329184"/>
          </a:xfrm>
          <a:prstGeom prst="rect">
            <a:avLst/>
          </a:prstGeom>
          <a:noFill/>
        </p:spPr>
        <p:txBody>
          <a:bodyPr wrap="square">
            <a:spAutoFit/>
          </a:bodyPr>
          <a:lstStyle/>
          <a:p>
            <a:pPr algn="l"/>
            <a:r>
              <a:rPr sz="1300" b="1" i="0">
                <a:solidFill>
                  <a:srgbClr val="8CC63F"/>
                </a:solidFill>
                <a:latin typeface="Calibri"/>
              </a:rPr>
              <a:t>PROBLEMAS DETECTADOS EN EDA</a:t>
            </a:r>
          </a:p>
        </p:txBody>
      </p:sp>
      <p:sp>
        <p:nvSpPr>
          <p:cNvPr id="28" name="TextBox 27"/>
          <p:cNvSpPr txBox="1"/>
          <p:nvPr/>
        </p:nvSpPr>
        <p:spPr>
          <a:xfrm>
            <a:off x="548640" y="2907792"/>
            <a:ext cx="5394960" cy="457200"/>
          </a:xfrm>
          <a:prstGeom prst="rect">
            <a:avLst/>
          </a:prstGeom>
          <a:noFill/>
        </p:spPr>
        <p:txBody>
          <a:bodyPr wrap="square">
            <a:spAutoFit/>
          </a:bodyPr>
          <a:lstStyle/>
          <a:p>
            <a:pPr algn="l"/>
            <a:r>
              <a:rPr sz="1200" b="0" i="0">
                <a:solidFill>
                  <a:srgbClr val="FFFFFF"/>
                </a:solidFill>
                <a:latin typeface="Calibri"/>
              </a:rPr>
              <a:t>▸  Faltantes con significado clínico (negaciones implícitas)</a:t>
            </a:r>
          </a:p>
        </p:txBody>
      </p:sp>
      <p:sp>
        <p:nvSpPr>
          <p:cNvPr id="29" name="TextBox 28"/>
          <p:cNvSpPr txBox="1"/>
          <p:nvPr/>
        </p:nvSpPr>
        <p:spPr>
          <a:xfrm>
            <a:off x="548640" y="3410712"/>
            <a:ext cx="5394960" cy="457200"/>
          </a:xfrm>
          <a:prstGeom prst="rect">
            <a:avLst/>
          </a:prstGeom>
          <a:noFill/>
        </p:spPr>
        <p:txBody>
          <a:bodyPr wrap="square">
            <a:spAutoFit/>
          </a:bodyPr>
          <a:lstStyle/>
          <a:p>
            <a:pPr algn="l"/>
            <a:r>
              <a:rPr sz="1200" b="0" i="0">
                <a:solidFill>
                  <a:srgbClr val="FFFFFF"/>
                </a:solidFill>
                <a:latin typeface="Calibri"/>
              </a:rPr>
              <a:t>▸  Ceros sin plausibilidad: talla, IMC, presión arterial</a:t>
            </a:r>
          </a:p>
        </p:txBody>
      </p:sp>
      <p:sp>
        <p:nvSpPr>
          <p:cNvPr id="30" name="TextBox 29"/>
          <p:cNvSpPr txBox="1"/>
          <p:nvPr/>
        </p:nvSpPr>
        <p:spPr>
          <a:xfrm>
            <a:off x="548640" y="3913632"/>
            <a:ext cx="5394960" cy="457200"/>
          </a:xfrm>
          <a:prstGeom prst="rect">
            <a:avLst/>
          </a:prstGeom>
          <a:noFill/>
        </p:spPr>
        <p:txBody>
          <a:bodyPr wrap="square">
            <a:spAutoFit/>
          </a:bodyPr>
          <a:lstStyle/>
          <a:p>
            <a:pPr algn="l"/>
            <a:r>
              <a:rPr sz="1200" b="0" i="0">
                <a:solidFill>
                  <a:srgbClr val="FFFFFF"/>
                </a:solidFill>
                <a:latin typeface="Calibri"/>
              </a:rPr>
              <a:t>▸  Contradicciones bandera↔texto (7 456 en medicamentos, 869 en alergias)</a:t>
            </a:r>
          </a:p>
        </p:txBody>
      </p:sp>
      <p:sp>
        <p:nvSpPr>
          <p:cNvPr id="31" name="TextBox 30"/>
          <p:cNvSpPr txBox="1"/>
          <p:nvPr/>
        </p:nvSpPr>
        <p:spPr>
          <a:xfrm>
            <a:off x="548640" y="4416552"/>
            <a:ext cx="5394960" cy="457200"/>
          </a:xfrm>
          <a:prstGeom prst="rect">
            <a:avLst/>
          </a:prstGeom>
          <a:noFill/>
        </p:spPr>
        <p:txBody>
          <a:bodyPr wrap="square">
            <a:spAutoFit/>
          </a:bodyPr>
          <a:lstStyle/>
          <a:p>
            <a:pPr algn="l"/>
            <a:r>
              <a:rPr sz="1200" b="0" i="0">
                <a:solidFill>
                  <a:srgbClr val="FFFFFF"/>
                </a:solidFill>
                <a:latin typeface="Calibri"/>
              </a:rPr>
              <a:t>▸  Variables multi-etiqueta desnormalizadas (antecedentes, alergias)</a:t>
            </a:r>
          </a:p>
        </p:txBody>
      </p:sp>
      <p:sp>
        <p:nvSpPr>
          <p:cNvPr id="32" name="TextBox 31"/>
          <p:cNvSpPr txBox="1"/>
          <p:nvPr/>
        </p:nvSpPr>
        <p:spPr>
          <a:xfrm>
            <a:off x="548640" y="4919472"/>
            <a:ext cx="5394960" cy="457200"/>
          </a:xfrm>
          <a:prstGeom prst="rect">
            <a:avLst/>
          </a:prstGeom>
          <a:noFill/>
        </p:spPr>
        <p:txBody>
          <a:bodyPr wrap="square">
            <a:spAutoFit/>
          </a:bodyPr>
          <a:lstStyle/>
          <a:p>
            <a:pPr algn="l"/>
            <a:r>
              <a:rPr sz="1200" b="0" i="0">
                <a:solidFill>
                  <a:srgbClr val="FFFFFF"/>
                </a:solidFill>
                <a:latin typeface="Calibri"/>
              </a:rPr>
              <a:t>▸  Texto libre de alta cardinalidad (diagnósticos y procedimientos)</a:t>
            </a:r>
          </a:p>
        </p:txBody>
      </p:sp>
      <p:sp>
        <p:nvSpPr>
          <p:cNvPr id="33" name="TextBox 32"/>
          <p:cNvSpPr txBox="1"/>
          <p:nvPr/>
        </p:nvSpPr>
        <p:spPr>
          <a:xfrm>
            <a:off x="548640" y="5422392"/>
            <a:ext cx="5394960" cy="457200"/>
          </a:xfrm>
          <a:prstGeom prst="rect">
            <a:avLst/>
          </a:prstGeom>
          <a:noFill/>
        </p:spPr>
        <p:txBody>
          <a:bodyPr wrap="square">
            <a:spAutoFit/>
          </a:bodyPr>
          <a:lstStyle/>
          <a:p>
            <a:pPr algn="l"/>
            <a:r>
              <a:rPr sz="1200" b="0" i="0">
                <a:solidFill>
                  <a:srgbClr val="FFFFFF"/>
                </a:solidFill>
                <a:latin typeface="Calibri"/>
              </a:rPr>
              <a:t>▸  Anomalías globales con PCA + Isolation Forest</a:t>
            </a:r>
          </a:p>
        </p:txBody>
      </p:sp>
      <p:sp>
        <p:nvSpPr>
          <p:cNvPr id="34" name="TextBox 33"/>
          <p:cNvSpPr txBox="1"/>
          <p:nvPr/>
        </p:nvSpPr>
        <p:spPr>
          <a:xfrm>
            <a:off x="6492240" y="2542032"/>
            <a:ext cx="5303520" cy="329184"/>
          </a:xfrm>
          <a:prstGeom prst="rect">
            <a:avLst/>
          </a:prstGeom>
          <a:noFill/>
        </p:spPr>
        <p:txBody>
          <a:bodyPr wrap="square">
            <a:spAutoFit/>
          </a:bodyPr>
          <a:lstStyle/>
          <a:p>
            <a:pPr algn="l"/>
            <a:r>
              <a:rPr sz="1300" b="1" i="0">
                <a:solidFill>
                  <a:srgbClr val="8CC63F"/>
                </a:solidFill>
                <a:latin typeface="Calibri"/>
              </a:rPr>
              <a:t>SOLUCIONES APLICADAS</a:t>
            </a:r>
          </a:p>
        </p:txBody>
      </p:sp>
      <p:sp>
        <p:nvSpPr>
          <p:cNvPr id="35" name="TextBox 34"/>
          <p:cNvSpPr txBox="1"/>
          <p:nvPr/>
        </p:nvSpPr>
        <p:spPr>
          <a:xfrm>
            <a:off x="6492240" y="2907792"/>
            <a:ext cx="5303520" cy="457200"/>
          </a:xfrm>
          <a:prstGeom prst="rect">
            <a:avLst/>
          </a:prstGeom>
          <a:noFill/>
        </p:spPr>
        <p:txBody>
          <a:bodyPr wrap="square">
            <a:spAutoFit/>
          </a:bodyPr>
          <a:lstStyle/>
          <a:p>
            <a:pPr algn="l"/>
            <a:r>
              <a:rPr sz="1200" b="0" i="0">
                <a:solidFill>
                  <a:srgbClr val="FFFFFF"/>
                </a:solidFill>
                <a:latin typeface="Calibri"/>
              </a:rPr>
              <a:t>▸  Ausencia clínica ≠ dato faltante: interpretación explícita</a:t>
            </a:r>
          </a:p>
        </p:txBody>
      </p:sp>
      <p:sp>
        <p:nvSpPr>
          <p:cNvPr id="36" name="TextBox 35"/>
          <p:cNvSpPr txBox="1"/>
          <p:nvPr/>
        </p:nvSpPr>
        <p:spPr>
          <a:xfrm>
            <a:off x="6492240" y="3410712"/>
            <a:ext cx="5303520" cy="457200"/>
          </a:xfrm>
          <a:prstGeom prst="rect">
            <a:avLst/>
          </a:prstGeom>
          <a:noFill/>
        </p:spPr>
        <p:txBody>
          <a:bodyPr wrap="square">
            <a:spAutoFit/>
          </a:bodyPr>
          <a:lstStyle/>
          <a:p>
            <a:pPr algn="l"/>
            <a:r>
              <a:rPr sz="1200" b="0" i="0">
                <a:solidFill>
                  <a:srgbClr val="FFFFFF"/>
                </a:solidFill>
                <a:latin typeface="Calibri"/>
              </a:rPr>
              <a:t>▸  Rangos clínicos por variable y grupo etario; imputación por mediana estratificada</a:t>
            </a:r>
          </a:p>
        </p:txBody>
      </p:sp>
      <p:sp>
        <p:nvSpPr>
          <p:cNvPr id="37" name="TextBox 36"/>
          <p:cNvSpPr txBox="1"/>
          <p:nvPr/>
        </p:nvSpPr>
        <p:spPr>
          <a:xfrm>
            <a:off x="6492240" y="3913632"/>
            <a:ext cx="5303520" cy="457200"/>
          </a:xfrm>
          <a:prstGeom prst="rect">
            <a:avLst/>
          </a:prstGeom>
          <a:noFill/>
        </p:spPr>
        <p:txBody>
          <a:bodyPr wrap="square">
            <a:spAutoFit/>
          </a:bodyPr>
          <a:lstStyle/>
          <a:p>
            <a:pPr algn="l"/>
            <a:r>
              <a:rPr sz="1200" b="0" i="0">
                <a:solidFill>
                  <a:srgbClr val="FFFFFF"/>
                </a:solidFill>
                <a:latin typeface="Calibri"/>
              </a:rPr>
              <a:t>▸  Prioridad: texto libre &gt; bandera booleana (decisión documentada)</a:t>
            </a:r>
          </a:p>
        </p:txBody>
      </p:sp>
      <p:sp>
        <p:nvSpPr>
          <p:cNvPr id="38" name="TextBox 37"/>
          <p:cNvSpPr txBox="1"/>
          <p:nvPr/>
        </p:nvSpPr>
        <p:spPr>
          <a:xfrm>
            <a:off x="6492240" y="4416552"/>
            <a:ext cx="5303520" cy="457200"/>
          </a:xfrm>
          <a:prstGeom prst="rect">
            <a:avLst/>
          </a:prstGeom>
          <a:noFill/>
        </p:spPr>
        <p:txBody>
          <a:bodyPr wrap="square">
            <a:spAutoFit/>
          </a:bodyPr>
          <a:lstStyle/>
          <a:p>
            <a:pPr algn="l"/>
            <a:r>
              <a:rPr sz="1200" b="0" i="0">
                <a:solidFill>
                  <a:srgbClr val="FFFFFF"/>
                </a:solidFill>
                <a:latin typeface="Calibri"/>
              </a:rPr>
              <a:t>▸  OHE + fuzzy matching + normalización de delimitadores</a:t>
            </a:r>
          </a:p>
        </p:txBody>
      </p:sp>
      <p:sp>
        <p:nvSpPr>
          <p:cNvPr id="39" name="TextBox 38"/>
          <p:cNvSpPr txBox="1"/>
          <p:nvPr/>
        </p:nvSpPr>
        <p:spPr>
          <a:xfrm>
            <a:off x="6492240" y="4919472"/>
            <a:ext cx="5303520" cy="457200"/>
          </a:xfrm>
          <a:prstGeom prst="rect">
            <a:avLst/>
          </a:prstGeom>
          <a:noFill/>
        </p:spPr>
        <p:txBody>
          <a:bodyPr wrap="square">
            <a:spAutoFit/>
          </a:bodyPr>
          <a:lstStyle/>
          <a:p>
            <a:pPr algn="l"/>
            <a:r>
              <a:rPr sz="1200" b="0" i="0">
                <a:solidFill>
                  <a:srgbClr val="FFFFFF"/>
                </a:solidFill>
                <a:latin typeface="Calibri"/>
              </a:rPr>
              <a:t>▸  Codificación CIE-10 / HCPCS vía API ClinicalTables NIH + LLM para severidad</a:t>
            </a:r>
          </a:p>
        </p:txBody>
      </p:sp>
      <p:sp>
        <p:nvSpPr>
          <p:cNvPr id="40" name="TextBox 39"/>
          <p:cNvSpPr txBox="1"/>
          <p:nvPr/>
        </p:nvSpPr>
        <p:spPr>
          <a:xfrm>
            <a:off x="6492240" y="5422392"/>
            <a:ext cx="5303520" cy="457200"/>
          </a:xfrm>
          <a:prstGeom prst="rect">
            <a:avLst/>
          </a:prstGeom>
          <a:noFill/>
        </p:spPr>
        <p:txBody>
          <a:bodyPr wrap="square">
            <a:spAutoFit/>
          </a:bodyPr>
          <a:lstStyle/>
          <a:p>
            <a:pPr algn="l"/>
            <a:r>
              <a:rPr sz="1200" b="0" i="0">
                <a:solidFill>
                  <a:srgbClr val="FFFFFF"/>
                </a:solidFill>
                <a:latin typeface="Calibri"/>
              </a:rPr>
              <a:t>▸  Restricción a adultos: 6 683 pediátricos excluidos (21.6 %)</a:t>
            </a:r>
          </a:p>
        </p:txBody>
      </p:sp>
      <p:sp>
        <p:nvSpPr>
          <p:cNvPr id="41" name="Rectangle 40"/>
          <p:cNvSpPr/>
          <p:nvPr/>
        </p:nvSpPr>
        <p:spPr>
          <a:xfrm>
            <a:off x="6144768" y="2505456"/>
            <a:ext cx="82296" cy="3346704"/>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Variable objetivo — Construcción iterativa</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Rectangle 6"/>
          <p:cNvSpPr/>
          <p:nvPr/>
        </p:nvSpPr>
        <p:spPr>
          <a:xfrm>
            <a:off x="548640" y="960120"/>
            <a:ext cx="5349240" cy="107899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82296" cy="107899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005840"/>
            <a:ext cx="4983480" cy="384048"/>
          </a:xfrm>
          <a:prstGeom prst="rect">
            <a:avLst/>
          </a:prstGeom>
          <a:noFill/>
        </p:spPr>
        <p:txBody>
          <a:bodyPr wrap="square">
            <a:spAutoFit/>
          </a:bodyPr>
          <a:lstStyle/>
          <a:p>
            <a:pPr algn="l"/>
            <a:r>
              <a:rPr sz="1300" b="1" i="0">
                <a:solidFill>
                  <a:srgbClr val="FF8866"/>
                </a:solidFill>
                <a:latin typeface="Calibri"/>
              </a:rPr>
              <a:t>✕  Enfoque no supervisado — descartado</a:t>
            </a:r>
          </a:p>
        </p:txBody>
      </p:sp>
      <p:sp>
        <p:nvSpPr>
          <p:cNvPr id="10" name="TextBox 9"/>
          <p:cNvSpPr txBox="1"/>
          <p:nvPr/>
        </p:nvSpPr>
        <p:spPr>
          <a:xfrm>
            <a:off x="777240" y="1371600"/>
            <a:ext cx="4983480" cy="603504"/>
          </a:xfrm>
          <a:prstGeom prst="rect">
            <a:avLst/>
          </a:prstGeom>
          <a:noFill/>
        </p:spPr>
        <p:txBody>
          <a:bodyPr wrap="square">
            <a:spAutoFit/>
          </a:bodyPr>
          <a:lstStyle/>
          <a:p>
            <a:pPr algn="l"/>
            <a:r>
              <a:rPr sz="1200" b="0" i="0">
                <a:solidFill>
                  <a:srgbClr val="A8C4B4"/>
                </a:solidFill>
                <a:latin typeface="Calibri"/>
              </a:rPr>
              <a:t>IsolationForest + K-Means + PCA → sin correlación con eventos clínicos reales.
Anomалía estadística ≠ riesgo clínico. La señal predictiva no emerge del espacio de features.</a:t>
            </a:r>
          </a:p>
        </p:txBody>
      </p:sp>
      <p:sp>
        <p:nvSpPr>
          <p:cNvPr id="11" name="Rectangle 10"/>
          <p:cNvSpPr/>
          <p:nvPr/>
        </p:nvSpPr>
        <p:spPr>
          <a:xfrm>
            <a:off x="6172200" y="960120"/>
            <a:ext cx="5669280" cy="1078992"/>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960120"/>
            <a:ext cx="82296" cy="10789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005840"/>
            <a:ext cx="5303520" cy="384048"/>
          </a:xfrm>
          <a:prstGeom prst="rect">
            <a:avLst/>
          </a:prstGeom>
          <a:noFill/>
        </p:spPr>
        <p:txBody>
          <a:bodyPr wrap="square">
            <a:spAutoFit/>
          </a:bodyPr>
          <a:lstStyle/>
          <a:p>
            <a:pPr algn="l"/>
            <a:r>
              <a:rPr sz="1300" b="1" i="0">
                <a:solidFill>
                  <a:srgbClr val="8CC63F"/>
                </a:solidFill>
                <a:latin typeface="Calibri"/>
              </a:rPr>
              <a:t>✓  Enfoque supervisado adoptado</a:t>
            </a:r>
          </a:p>
        </p:txBody>
      </p:sp>
      <p:sp>
        <p:nvSpPr>
          <p:cNvPr id="14" name="TextBox 13"/>
          <p:cNvSpPr txBox="1"/>
          <p:nvPr/>
        </p:nvSpPr>
        <p:spPr>
          <a:xfrm>
            <a:off x="6400800" y="1371600"/>
            <a:ext cx="5303520" cy="603504"/>
          </a:xfrm>
          <a:prstGeom prst="rect">
            <a:avLst/>
          </a:prstGeom>
          <a:noFill/>
        </p:spPr>
        <p:txBody>
          <a:bodyPr wrap="square">
            <a:spAutoFit/>
          </a:bodyPr>
          <a:lstStyle/>
          <a:p>
            <a:pPr algn="l"/>
            <a:r>
              <a:rPr sz="1200" b="0" i="0">
                <a:solidFill>
                  <a:srgbClr val="FFFFFF"/>
                </a:solidFill>
                <a:latin typeface="Calibri"/>
              </a:rPr>
              <a:t>49 banderas posoperatorias → 13 categorías macro → análisis de predictibilidad individual (AUC por flag) → versión final optimizada.</a:t>
            </a:r>
          </a:p>
        </p:txBody>
      </p:sp>
      <p:sp>
        <p:nvSpPr>
          <p:cNvPr id="15" name="TextBox 14"/>
          <p:cNvSpPr txBox="1"/>
          <p:nvPr/>
        </p:nvSpPr>
        <p:spPr>
          <a:xfrm>
            <a:off x="548640" y="2176272"/>
            <a:ext cx="11091672" cy="329184"/>
          </a:xfrm>
          <a:prstGeom prst="rect">
            <a:avLst/>
          </a:prstGeom>
          <a:noFill/>
        </p:spPr>
        <p:txBody>
          <a:bodyPr wrap="square">
            <a:spAutoFit/>
          </a:bodyPr>
          <a:lstStyle/>
          <a:p>
            <a:pPr algn="l"/>
            <a:r>
              <a:rPr sz="1300" b="1" i="0">
                <a:solidFill>
                  <a:srgbClr val="8CC63F"/>
                </a:solidFill>
                <a:latin typeface="Calibri"/>
              </a:rPr>
              <a:t>EVOLUCIÓN DEL TARGET (5 versiones evaluadas)</a:t>
            </a:r>
          </a:p>
        </p:txBody>
      </p:sp>
      <p:sp>
        <p:nvSpPr>
          <p:cNvPr id="16" name="Rectangle 15"/>
          <p:cNvSpPr/>
          <p:nvPr/>
        </p:nvSpPr>
        <p:spPr>
          <a:xfrm>
            <a:off x="365760" y="2542032"/>
            <a:ext cx="11201400" cy="365760"/>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 y="2578608"/>
            <a:ext cx="4005072" cy="310896"/>
          </a:xfrm>
          <a:prstGeom prst="rect">
            <a:avLst/>
          </a:prstGeom>
          <a:noFill/>
        </p:spPr>
        <p:txBody>
          <a:bodyPr wrap="square">
            <a:spAutoFit/>
          </a:bodyPr>
          <a:lstStyle/>
          <a:p>
            <a:pPr algn="l"/>
            <a:r>
              <a:rPr sz="1200" b="1" i="0">
                <a:solidFill>
                  <a:srgbClr val="0C2D2D"/>
                </a:solidFill>
                <a:latin typeface="Calibri"/>
              </a:rPr>
              <a:t>Versión</a:t>
            </a:r>
          </a:p>
        </p:txBody>
      </p:sp>
      <p:sp>
        <p:nvSpPr>
          <p:cNvPr id="18" name="TextBox 17"/>
          <p:cNvSpPr txBox="1"/>
          <p:nvPr/>
        </p:nvSpPr>
        <p:spPr>
          <a:xfrm>
            <a:off x="4581144" y="2578608"/>
            <a:ext cx="1216152" cy="310896"/>
          </a:xfrm>
          <a:prstGeom prst="rect">
            <a:avLst/>
          </a:prstGeom>
          <a:noFill/>
        </p:spPr>
        <p:txBody>
          <a:bodyPr wrap="square">
            <a:spAutoFit/>
          </a:bodyPr>
          <a:lstStyle/>
          <a:p>
            <a:pPr algn="l"/>
            <a:r>
              <a:rPr sz="1200" b="1" i="0">
                <a:solidFill>
                  <a:srgbClr val="0C2D2D"/>
                </a:solidFill>
                <a:latin typeface="Calibri"/>
              </a:rPr>
              <a:t>Positivos</a:t>
            </a:r>
          </a:p>
        </p:txBody>
      </p:sp>
      <p:sp>
        <p:nvSpPr>
          <p:cNvPr id="19" name="TextBox 18"/>
          <p:cNvSpPr txBox="1"/>
          <p:nvPr/>
        </p:nvSpPr>
        <p:spPr>
          <a:xfrm>
            <a:off x="5952744" y="2578608"/>
            <a:ext cx="1216152" cy="310896"/>
          </a:xfrm>
          <a:prstGeom prst="rect">
            <a:avLst/>
          </a:prstGeom>
          <a:noFill/>
        </p:spPr>
        <p:txBody>
          <a:bodyPr wrap="square">
            <a:spAutoFit/>
          </a:bodyPr>
          <a:lstStyle/>
          <a:p>
            <a:pPr algn="l"/>
            <a:r>
              <a:rPr sz="1200" b="1" i="0">
                <a:solidFill>
                  <a:srgbClr val="0C2D2D"/>
                </a:solidFill>
                <a:latin typeface="Calibri"/>
              </a:rPr>
              <a:t>ROC-AUC</a:t>
            </a:r>
          </a:p>
        </p:txBody>
      </p:sp>
      <p:sp>
        <p:nvSpPr>
          <p:cNvPr id="20" name="TextBox 19"/>
          <p:cNvSpPr txBox="1"/>
          <p:nvPr/>
        </p:nvSpPr>
        <p:spPr>
          <a:xfrm>
            <a:off x="7324344" y="2578608"/>
            <a:ext cx="4187952" cy="310896"/>
          </a:xfrm>
          <a:prstGeom prst="rect">
            <a:avLst/>
          </a:prstGeom>
          <a:noFill/>
        </p:spPr>
        <p:txBody>
          <a:bodyPr wrap="square">
            <a:spAutoFit/>
          </a:bodyPr>
          <a:lstStyle/>
          <a:p>
            <a:pPr algn="l"/>
            <a:r>
              <a:rPr sz="1200" b="1" i="0">
                <a:solidFill>
                  <a:srgbClr val="0C2D2D"/>
                </a:solidFill>
                <a:latin typeface="Calibri"/>
              </a:rPr>
              <a:t>Estado</a:t>
            </a:r>
          </a:p>
        </p:txBody>
      </p:sp>
      <p:sp>
        <p:nvSpPr>
          <p:cNvPr id="21" name="Rectangle 20"/>
          <p:cNvSpPr/>
          <p:nvPr/>
        </p:nvSpPr>
        <p:spPr>
          <a:xfrm>
            <a:off x="365760" y="2926080"/>
            <a:ext cx="11201400" cy="6309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 y="2999232"/>
            <a:ext cx="4005072" cy="493776"/>
          </a:xfrm>
          <a:prstGeom prst="rect">
            <a:avLst/>
          </a:prstGeom>
          <a:noFill/>
        </p:spPr>
        <p:txBody>
          <a:bodyPr wrap="square">
            <a:spAutoFit/>
          </a:bodyPr>
          <a:lstStyle/>
          <a:p>
            <a:pPr algn="l"/>
            <a:r>
              <a:rPr sz="1100" b="0" i="0">
                <a:solidFill>
                  <a:srgbClr val="FFFFFF"/>
                </a:solidFill>
                <a:latin typeface="Calibri"/>
              </a:rPr>
              <a:t>Sensible — OR de todos los flags relevantes</a:t>
            </a:r>
          </a:p>
        </p:txBody>
      </p:sp>
      <p:sp>
        <p:nvSpPr>
          <p:cNvPr id="23" name="TextBox 22"/>
          <p:cNvSpPr txBox="1"/>
          <p:nvPr/>
        </p:nvSpPr>
        <p:spPr>
          <a:xfrm>
            <a:off x="4581144" y="2999232"/>
            <a:ext cx="1216152" cy="493776"/>
          </a:xfrm>
          <a:prstGeom prst="rect">
            <a:avLst/>
          </a:prstGeom>
          <a:noFill/>
        </p:spPr>
        <p:txBody>
          <a:bodyPr wrap="square">
            <a:spAutoFit/>
          </a:bodyPr>
          <a:lstStyle/>
          <a:p>
            <a:pPr algn="l"/>
            <a:r>
              <a:rPr sz="1100" b="0" i="0">
                <a:solidFill>
                  <a:srgbClr val="FFFFFF"/>
                </a:solidFill>
                <a:latin typeface="Calibri"/>
              </a:rPr>
              <a:t>&gt; 50 %</a:t>
            </a:r>
          </a:p>
        </p:txBody>
      </p:sp>
      <p:sp>
        <p:nvSpPr>
          <p:cNvPr id="24" name="TextBox 23"/>
          <p:cNvSpPr txBox="1"/>
          <p:nvPr/>
        </p:nvSpPr>
        <p:spPr>
          <a:xfrm>
            <a:off x="5952744" y="2999232"/>
            <a:ext cx="1216152" cy="493776"/>
          </a:xfrm>
          <a:prstGeom prst="rect">
            <a:avLst/>
          </a:prstGeom>
          <a:noFill/>
        </p:spPr>
        <p:txBody>
          <a:bodyPr wrap="square">
            <a:spAutoFit/>
          </a:bodyPr>
          <a:lstStyle/>
          <a:p>
            <a:pPr algn="l"/>
            <a:r>
              <a:rPr sz="1100" b="0" i="0">
                <a:solidFill>
                  <a:srgbClr val="FFFFFF"/>
                </a:solidFill>
                <a:latin typeface="Calibri"/>
              </a:rPr>
              <a:t>~ 0.62</a:t>
            </a:r>
          </a:p>
        </p:txBody>
      </p:sp>
      <p:sp>
        <p:nvSpPr>
          <p:cNvPr id="25" name="TextBox 24"/>
          <p:cNvSpPr txBox="1"/>
          <p:nvPr/>
        </p:nvSpPr>
        <p:spPr>
          <a:xfrm>
            <a:off x="7324344" y="2999232"/>
            <a:ext cx="4187952" cy="493776"/>
          </a:xfrm>
          <a:prstGeom prst="rect">
            <a:avLst/>
          </a:prstGeom>
          <a:noFill/>
        </p:spPr>
        <p:txBody>
          <a:bodyPr wrap="square">
            <a:spAutoFit/>
          </a:bodyPr>
          <a:lstStyle/>
          <a:p>
            <a:pPr algn="l"/>
            <a:r>
              <a:rPr sz="1100" b="0" i="0">
                <a:solidFill>
                  <a:srgbClr val="FFFFFF"/>
                </a:solidFill>
                <a:latin typeface="Calibri"/>
              </a:rPr>
              <a:t>Descartada</a:t>
            </a:r>
          </a:p>
        </p:txBody>
      </p:sp>
      <p:sp>
        <p:nvSpPr>
          <p:cNvPr id="26" name="Rectangle 25"/>
          <p:cNvSpPr/>
          <p:nvPr/>
        </p:nvSpPr>
        <p:spPr>
          <a:xfrm>
            <a:off x="365760" y="3584448"/>
            <a:ext cx="11201400" cy="630936"/>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 y="3657600"/>
            <a:ext cx="4005072" cy="493776"/>
          </a:xfrm>
          <a:prstGeom prst="rect">
            <a:avLst/>
          </a:prstGeom>
          <a:noFill/>
        </p:spPr>
        <p:txBody>
          <a:bodyPr wrap="square">
            <a:spAutoFit/>
          </a:bodyPr>
          <a:lstStyle/>
          <a:p>
            <a:pPr algn="l"/>
            <a:r>
              <a:rPr sz="1100" b="0" i="0">
                <a:solidFill>
                  <a:srgbClr val="FFFFFF"/>
                </a:solidFill>
                <a:latin typeface="Calibri"/>
              </a:rPr>
              <a:t>Clínicamente relevante — 9 flags, ≥ 1 evento</a:t>
            </a:r>
          </a:p>
        </p:txBody>
      </p:sp>
      <p:sp>
        <p:nvSpPr>
          <p:cNvPr id="28" name="TextBox 27"/>
          <p:cNvSpPr txBox="1"/>
          <p:nvPr/>
        </p:nvSpPr>
        <p:spPr>
          <a:xfrm>
            <a:off x="4581144" y="3657600"/>
            <a:ext cx="1216152" cy="493776"/>
          </a:xfrm>
          <a:prstGeom prst="rect">
            <a:avLst/>
          </a:prstGeom>
          <a:noFill/>
        </p:spPr>
        <p:txBody>
          <a:bodyPr wrap="square">
            <a:spAutoFit/>
          </a:bodyPr>
          <a:lstStyle/>
          <a:p>
            <a:pPr algn="l"/>
            <a:r>
              <a:rPr sz="1100" b="0" i="0">
                <a:solidFill>
                  <a:srgbClr val="FFFFFF"/>
                </a:solidFill>
                <a:latin typeface="Calibri"/>
              </a:rPr>
              <a:t>~ 35 %</a:t>
            </a:r>
          </a:p>
        </p:txBody>
      </p:sp>
      <p:sp>
        <p:nvSpPr>
          <p:cNvPr id="29" name="TextBox 28"/>
          <p:cNvSpPr txBox="1"/>
          <p:nvPr/>
        </p:nvSpPr>
        <p:spPr>
          <a:xfrm>
            <a:off x="5952744" y="3657600"/>
            <a:ext cx="1216152" cy="493776"/>
          </a:xfrm>
          <a:prstGeom prst="rect">
            <a:avLst/>
          </a:prstGeom>
          <a:noFill/>
        </p:spPr>
        <p:txBody>
          <a:bodyPr wrap="square">
            <a:spAutoFit/>
          </a:bodyPr>
          <a:lstStyle/>
          <a:p>
            <a:pPr algn="l"/>
            <a:r>
              <a:rPr sz="1100" b="0" i="0">
                <a:solidFill>
                  <a:srgbClr val="FFFFFF"/>
                </a:solidFill>
                <a:latin typeface="Calibri"/>
              </a:rPr>
              <a:t>~ 0.65</a:t>
            </a:r>
          </a:p>
        </p:txBody>
      </p:sp>
      <p:sp>
        <p:nvSpPr>
          <p:cNvPr id="30" name="TextBox 29"/>
          <p:cNvSpPr txBox="1"/>
          <p:nvPr/>
        </p:nvSpPr>
        <p:spPr>
          <a:xfrm>
            <a:off x="7324344" y="3657600"/>
            <a:ext cx="4187952" cy="493776"/>
          </a:xfrm>
          <a:prstGeom prst="rect">
            <a:avLst/>
          </a:prstGeom>
          <a:noFill/>
        </p:spPr>
        <p:txBody>
          <a:bodyPr wrap="square">
            <a:spAutoFit/>
          </a:bodyPr>
          <a:lstStyle/>
          <a:p>
            <a:pPr algn="l"/>
            <a:r>
              <a:rPr sz="1100" b="0" i="0">
                <a:solidFill>
                  <a:srgbClr val="FFFFFF"/>
                </a:solidFill>
                <a:latin typeface="Calibri"/>
              </a:rPr>
              <a:t>Descartada</a:t>
            </a:r>
          </a:p>
        </p:txBody>
      </p:sp>
      <p:sp>
        <p:nvSpPr>
          <p:cNvPr id="31" name="Rectangle 30"/>
          <p:cNvSpPr/>
          <p:nvPr/>
        </p:nvSpPr>
        <p:spPr>
          <a:xfrm>
            <a:off x="365760" y="4242816"/>
            <a:ext cx="11201400" cy="6309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 y="4315968"/>
            <a:ext cx="4005072" cy="493776"/>
          </a:xfrm>
          <a:prstGeom prst="rect">
            <a:avLst/>
          </a:prstGeom>
          <a:noFill/>
        </p:spPr>
        <p:txBody>
          <a:bodyPr wrap="square">
            <a:spAutoFit/>
          </a:bodyPr>
          <a:lstStyle/>
          <a:p>
            <a:pPr algn="l"/>
            <a:r>
              <a:rPr sz="1100" b="0" i="0">
                <a:solidFill>
                  <a:srgbClr val="FFFFFF"/>
                </a:solidFill>
                <a:latin typeface="Calibri"/>
              </a:rPr>
              <a:t>Alta severidad — 9 flags, ≥ 2 eventos</a:t>
            </a:r>
          </a:p>
        </p:txBody>
      </p:sp>
      <p:sp>
        <p:nvSpPr>
          <p:cNvPr id="33" name="TextBox 32"/>
          <p:cNvSpPr txBox="1"/>
          <p:nvPr/>
        </p:nvSpPr>
        <p:spPr>
          <a:xfrm>
            <a:off x="4581144" y="4315968"/>
            <a:ext cx="1216152" cy="493776"/>
          </a:xfrm>
          <a:prstGeom prst="rect">
            <a:avLst/>
          </a:prstGeom>
          <a:noFill/>
        </p:spPr>
        <p:txBody>
          <a:bodyPr wrap="square">
            <a:spAutoFit/>
          </a:bodyPr>
          <a:lstStyle/>
          <a:p>
            <a:pPr algn="l"/>
            <a:r>
              <a:rPr sz="1100" b="0" i="0">
                <a:solidFill>
                  <a:srgbClr val="FFFFFF"/>
                </a:solidFill>
                <a:latin typeface="Calibri"/>
              </a:rPr>
              <a:t>~ 18 %</a:t>
            </a:r>
          </a:p>
        </p:txBody>
      </p:sp>
      <p:sp>
        <p:nvSpPr>
          <p:cNvPr id="34" name="TextBox 33"/>
          <p:cNvSpPr txBox="1"/>
          <p:nvPr/>
        </p:nvSpPr>
        <p:spPr>
          <a:xfrm>
            <a:off x="5952744" y="4315968"/>
            <a:ext cx="1216152" cy="493776"/>
          </a:xfrm>
          <a:prstGeom prst="rect">
            <a:avLst/>
          </a:prstGeom>
          <a:noFill/>
        </p:spPr>
        <p:txBody>
          <a:bodyPr wrap="square">
            <a:spAutoFit/>
          </a:bodyPr>
          <a:lstStyle/>
          <a:p>
            <a:pPr algn="l"/>
            <a:r>
              <a:rPr sz="1100" b="0" i="0">
                <a:solidFill>
                  <a:srgbClr val="FFFFFF"/>
                </a:solidFill>
                <a:latin typeface="Calibri"/>
              </a:rPr>
              <a:t>~ 0.66</a:t>
            </a:r>
          </a:p>
        </p:txBody>
      </p:sp>
      <p:sp>
        <p:nvSpPr>
          <p:cNvPr id="35" name="TextBox 34"/>
          <p:cNvSpPr txBox="1"/>
          <p:nvPr/>
        </p:nvSpPr>
        <p:spPr>
          <a:xfrm>
            <a:off x="7324344" y="4315968"/>
            <a:ext cx="4187952" cy="493776"/>
          </a:xfrm>
          <a:prstGeom prst="rect">
            <a:avLst/>
          </a:prstGeom>
          <a:noFill/>
        </p:spPr>
        <p:txBody>
          <a:bodyPr wrap="square">
            <a:spAutoFit/>
          </a:bodyPr>
          <a:lstStyle/>
          <a:p>
            <a:pPr algn="l"/>
            <a:r>
              <a:rPr sz="1100" b="0" i="0">
                <a:solidFill>
                  <a:srgbClr val="FFFFFF"/>
                </a:solidFill>
                <a:latin typeface="Calibri"/>
              </a:rPr>
              <a:t>Descartada</a:t>
            </a:r>
          </a:p>
        </p:txBody>
      </p:sp>
      <p:sp>
        <p:nvSpPr>
          <p:cNvPr id="36" name="Rectangle 35"/>
          <p:cNvSpPr/>
          <p:nvPr/>
        </p:nvSpPr>
        <p:spPr>
          <a:xfrm>
            <a:off x="365760" y="4901184"/>
            <a:ext cx="11201400" cy="630936"/>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0624" y="4974336"/>
            <a:ext cx="4005072" cy="493776"/>
          </a:xfrm>
          <a:prstGeom prst="rect">
            <a:avLst/>
          </a:prstGeom>
          <a:noFill/>
        </p:spPr>
        <p:txBody>
          <a:bodyPr wrap="square">
            <a:spAutoFit/>
          </a:bodyPr>
          <a:lstStyle/>
          <a:p>
            <a:pPr algn="l"/>
            <a:r>
              <a:rPr sz="1100" b="0" i="0">
                <a:solidFill>
                  <a:srgbClr val="FFFFFF"/>
                </a:solidFill>
                <a:latin typeface="Calibri"/>
              </a:rPr>
              <a:t>Relevante acotado — seguimiento + hosp. + deseenlace + líquidos</a:t>
            </a:r>
          </a:p>
        </p:txBody>
      </p:sp>
      <p:sp>
        <p:nvSpPr>
          <p:cNvPr id="38" name="TextBox 37"/>
          <p:cNvSpPr txBox="1"/>
          <p:nvPr/>
        </p:nvSpPr>
        <p:spPr>
          <a:xfrm>
            <a:off x="4581144" y="4974336"/>
            <a:ext cx="1216152" cy="493776"/>
          </a:xfrm>
          <a:prstGeom prst="rect">
            <a:avLst/>
          </a:prstGeom>
          <a:noFill/>
        </p:spPr>
        <p:txBody>
          <a:bodyPr wrap="square">
            <a:spAutoFit/>
          </a:bodyPr>
          <a:lstStyle/>
          <a:p>
            <a:pPr algn="l"/>
            <a:r>
              <a:rPr sz="1100" b="0" i="0">
                <a:solidFill>
                  <a:srgbClr val="FFFFFF"/>
                </a:solidFill>
                <a:latin typeface="Calibri"/>
              </a:rPr>
              <a:t>27.7 %</a:t>
            </a:r>
          </a:p>
        </p:txBody>
      </p:sp>
      <p:sp>
        <p:nvSpPr>
          <p:cNvPr id="39" name="TextBox 38"/>
          <p:cNvSpPr txBox="1"/>
          <p:nvPr/>
        </p:nvSpPr>
        <p:spPr>
          <a:xfrm>
            <a:off x="5952744" y="4974336"/>
            <a:ext cx="1216152" cy="493776"/>
          </a:xfrm>
          <a:prstGeom prst="rect">
            <a:avLst/>
          </a:prstGeom>
          <a:noFill/>
        </p:spPr>
        <p:txBody>
          <a:bodyPr wrap="square">
            <a:spAutoFit/>
          </a:bodyPr>
          <a:lstStyle/>
          <a:p>
            <a:pPr algn="l"/>
            <a:r>
              <a:rPr sz="1100" b="0" i="0">
                <a:solidFill>
                  <a:srgbClr val="FFFFFF"/>
                </a:solidFill>
                <a:latin typeface="Calibri"/>
              </a:rPr>
              <a:t>0.757</a:t>
            </a:r>
          </a:p>
        </p:txBody>
      </p:sp>
      <p:sp>
        <p:nvSpPr>
          <p:cNvPr id="40" name="TextBox 39"/>
          <p:cNvSpPr txBox="1"/>
          <p:nvPr/>
        </p:nvSpPr>
        <p:spPr>
          <a:xfrm>
            <a:off x="7324344" y="4974336"/>
            <a:ext cx="4187952" cy="493776"/>
          </a:xfrm>
          <a:prstGeom prst="rect">
            <a:avLst/>
          </a:prstGeom>
          <a:noFill/>
        </p:spPr>
        <p:txBody>
          <a:bodyPr wrap="square">
            <a:spAutoFit/>
          </a:bodyPr>
          <a:lstStyle/>
          <a:p>
            <a:pPr algn="l"/>
            <a:r>
              <a:rPr sz="1100" b="0" i="0">
                <a:solidFill>
                  <a:srgbClr val="FFFFFF"/>
                </a:solidFill>
                <a:latin typeface="Calibri"/>
              </a:rPr>
              <a:t>API — objetivo secundario</a:t>
            </a:r>
          </a:p>
        </p:txBody>
      </p:sp>
      <p:sp>
        <p:nvSpPr>
          <p:cNvPr id="41" name="Rectangle 40"/>
          <p:cNvSpPr/>
          <p:nvPr/>
        </p:nvSpPr>
        <p:spPr>
          <a:xfrm>
            <a:off x="365760" y="5559552"/>
            <a:ext cx="11201400" cy="630936"/>
          </a:xfrm>
          <a:prstGeom prst="rect">
            <a:avLst/>
          </a:prstGeom>
          <a:solidFill>
            <a:srgbClr val="1A4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0624" y="5632704"/>
            <a:ext cx="4005072" cy="493776"/>
          </a:xfrm>
          <a:prstGeom prst="rect">
            <a:avLst/>
          </a:prstGeom>
          <a:noFill/>
        </p:spPr>
        <p:txBody>
          <a:bodyPr wrap="square">
            <a:spAutoFit/>
          </a:bodyPr>
          <a:lstStyle/>
          <a:p>
            <a:pPr algn="l"/>
            <a:r>
              <a:rPr sz="1100" b="1" i="0">
                <a:solidFill>
                  <a:srgbClr val="8CC63F"/>
                </a:solidFill>
                <a:latin typeface="Calibri"/>
              </a:rPr>
              <a:t>Máx. predictibilidad — AUC individual ≥ 0.76</a:t>
            </a:r>
          </a:p>
        </p:txBody>
      </p:sp>
      <p:sp>
        <p:nvSpPr>
          <p:cNvPr id="43" name="TextBox 42"/>
          <p:cNvSpPr txBox="1"/>
          <p:nvPr/>
        </p:nvSpPr>
        <p:spPr>
          <a:xfrm>
            <a:off x="4581144" y="5632704"/>
            <a:ext cx="1216152" cy="493776"/>
          </a:xfrm>
          <a:prstGeom prst="rect">
            <a:avLst/>
          </a:prstGeom>
          <a:noFill/>
        </p:spPr>
        <p:txBody>
          <a:bodyPr wrap="square">
            <a:spAutoFit/>
          </a:bodyPr>
          <a:lstStyle/>
          <a:p>
            <a:pPr algn="l"/>
            <a:r>
              <a:rPr sz="1100" b="1" i="0">
                <a:solidFill>
                  <a:srgbClr val="8CC63F"/>
                </a:solidFill>
                <a:latin typeface="Calibri"/>
              </a:rPr>
              <a:t>19.4 %</a:t>
            </a:r>
          </a:p>
        </p:txBody>
      </p:sp>
      <p:sp>
        <p:nvSpPr>
          <p:cNvPr id="44" name="TextBox 43"/>
          <p:cNvSpPr txBox="1"/>
          <p:nvPr/>
        </p:nvSpPr>
        <p:spPr>
          <a:xfrm>
            <a:off x="5952744" y="5632704"/>
            <a:ext cx="1216152" cy="493776"/>
          </a:xfrm>
          <a:prstGeom prst="rect">
            <a:avLst/>
          </a:prstGeom>
          <a:noFill/>
        </p:spPr>
        <p:txBody>
          <a:bodyPr wrap="square">
            <a:spAutoFit/>
          </a:bodyPr>
          <a:lstStyle/>
          <a:p>
            <a:pPr algn="l"/>
            <a:r>
              <a:rPr sz="1100" b="1" i="0">
                <a:solidFill>
                  <a:srgbClr val="8CC63F"/>
                </a:solidFill>
                <a:latin typeface="Calibri"/>
              </a:rPr>
              <a:t>0.861</a:t>
            </a:r>
          </a:p>
        </p:txBody>
      </p:sp>
      <p:sp>
        <p:nvSpPr>
          <p:cNvPr id="45" name="TextBox 44"/>
          <p:cNvSpPr txBox="1"/>
          <p:nvPr/>
        </p:nvSpPr>
        <p:spPr>
          <a:xfrm>
            <a:off x="7324344" y="5632704"/>
            <a:ext cx="4187952" cy="493776"/>
          </a:xfrm>
          <a:prstGeom prst="rect">
            <a:avLst/>
          </a:prstGeom>
          <a:noFill/>
        </p:spPr>
        <p:txBody>
          <a:bodyPr wrap="square">
            <a:spAutoFit/>
          </a:bodyPr>
          <a:lstStyle/>
          <a:p>
            <a:pPr algn="l"/>
            <a:r>
              <a:rPr sz="1100" b="1" i="0">
                <a:solidFill>
                  <a:srgbClr val="8CC63F"/>
                </a:solidFill>
                <a:latin typeface="Calibri"/>
              </a:rPr>
              <a:t>✓  MODELO FINAL RECOMENDADO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Selección de variables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TextBox 6"/>
          <p:cNvSpPr txBox="1"/>
          <p:nvPr/>
        </p:nvSpPr>
        <p:spPr>
          <a:xfrm>
            <a:off x="548640" y="960120"/>
            <a:ext cx="11091672" cy="384048"/>
          </a:xfrm>
          <a:prstGeom prst="rect">
            <a:avLst/>
          </a:prstGeom>
          <a:noFill/>
        </p:spPr>
        <p:txBody>
          <a:bodyPr wrap="square">
            <a:spAutoFit/>
          </a:bodyPr>
          <a:lstStyle/>
          <a:p>
            <a:pPr algn="l"/>
            <a:r>
              <a:rPr sz="1800" b="1" i="0">
                <a:solidFill>
                  <a:srgbClr val="FFFFFF"/>
                </a:solidFill>
                <a:latin typeface="Calibri"/>
              </a:rPr>
              <a:t>236 variables candidatas  →  80 seleccionadas</a:t>
            </a:r>
          </a:p>
        </p:txBody>
      </p:sp>
      <p:sp>
        <p:nvSpPr>
          <p:cNvPr id="8" name="Rectangle 7"/>
          <p:cNvSpPr/>
          <p:nvPr/>
        </p:nvSpPr>
        <p:spPr>
          <a:xfrm>
            <a:off x="548640" y="1463040"/>
            <a:ext cx="2681478" cy="3749039"/>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268147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36192"/>
            <a:ext cx="411480" cy="475488"/>
          </a:xfrm>
          <a:prstGeom prst="rect">
            <a:avLst/>
          </a:prstGeom>
          <a:noFill/>
        </p:spPr>
        <p:txBody>
          <a:bodyPr wrap="square">
            <a:spAutoFit/>
          </a:bodyPr>
          <a:lstStyle/>
          <a:p>
            <a:pPr algn="l"/>
            <a:r>
              <a:rPr sz="2400" b="1" i="0">
                <a:solidFill>
                  <a:srgbClr val="8CC63F"/>
                </a:solidFill>
                <a:latin typeface="Calibri"/>
              </a:rPr>
              <a:t>1</a:t>
            </a:r>
          </a:p>
        </p:txBody>
      </p:sp>
      <p:sp>
        <p:nvSpPr>
          <p:cNvPr id="11" name="TextBox 10"/>
          <p:cNvSpPr txBox="1"/>
          <p:nvPr/>
        </p:nvSpPr>
        <p:spPr>
          <a:xfrm>
            <a:off x="685800" y="2084831"/>
            <a:ext cx="2425446" cy="502920"/>
          </a:xfrm>
          <a:prstGeom prst="rect">
            <a:avLst/>
          </a:prstGeom>
          <a:noFill/>
        </p:spPr>
        <p:txBody>
          <a:bodyPr wrap="square">
            <a:spAutoFit/>
          </a:bodyPr>
          <a:lstStyle/>
          <a:p>
            <a:pPr algn="l"/>
            <a:r>
              <a:rPr sz="1400" b="1" i="0">
                <a:solidFill>
                  <a:srgbClr val="FFFFFF"/>
                </a:solidFill>
                <a:latin typeface="Calibri"/>
              </a:rPr>
              <a:t>Baja varianza</a:t>
            </a:r>
          </a:p>
        </p:txBody>
      </p:sp>
      <p:sp>
        <p:nvSpPr>
          <p:cNvPr id="12" name="TextBox 11"/>
          <p:cNvSpPr txBox="1"/>
          <p:nvPr/>
        </p:nvSpPr>
        <p:spPr>
          <a:xfrm>
            <a:off x="685800" y="2670048"/>
            <a:ext cx="2425446" cy="2423160"/>
          </a:xfrm>
          <a:prstGeom prst="rect">
            <a:avLst/>
          </a:prstGeom>
          <a:noFill/>
        </p:spPr>
        <p:txBody>
          <a:bodyPr wrap="square">
            <a:spAutoFit/>
          </a:bodyPr>
          <a:lstStyle/>
          <a:p>
            <a:pPr algn="l"/>
            <a:r>
              <a:rPr sz="1200" b="0" i="0">
                <a:solidFill>
                  <a:srgbClr val="A8C4B4"/>
                </a:solidFill>
                <a:latin typeface="Calibri"/>
              </a:rPr>
              <a:t>Se descartan variables donde ≥ 99 % de los registros comparten el mismo valor. Sin información útil.</a:t>
            </a:r>
          </a:p>
        </p:txBody>
      </p:sp>
      <p:sp>
        <p:nvSpPr>
          <p:cNvPr id="13" name="TextBox 12"/>
          <p:cNvSpPr txBox="1"/>
          <p:nvPr/>
        </p:nvSpPr>
        <p:spPr>
          <a:xfrm>
            <a:off x="3248406" y="3246120"/>
            <a:ext cx="109728" cy="365760"/>
          </a:xfrm>
          <a:prstGeom prst="rect">
            <a:avLst/>
          </a:prstGeom>
          <a:noFill/>
        </p:spPr>
        <p:txBody>
          <a:bodyPr wrap="square">
            <a:spAutoFit/>
          </a:bodyPr>
          <a:lstStyle/>
          <a:p>
            <a:pPr algn="l"/>
            <a:r>
              <a:rPr sz="1600" b="0" i="0">
                <a:solidFill>
                  <a:srgbClr val="8CC63F"/>
                </a:solidFill>
                <a:latin typeface="Calibri"/>
              </a:rPr>
              <a:t>→</a:t>
            </a:r>
          </a:p>
        </p:txBody>
      </p:sp>
      <p:sp>
        <p:nvSpPr>
          <p:cNvPr id="14" name="Rectangle 13"/>
          <p:cNvSpPr/>
          <p:nvPr/>
        </p:nvSpPr>
        <p:spPr>
          <a:xfrm>
            <a:off x="3348990" y="1463040"/>
            <a:ext cx="2681478" cy="3749039"/>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8990" y="1463040"/>
            <a:ext cx="268147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6150" y="1536192"/>
            <a:ext cx="411480" cy="475488"/>
          </a:xfrm>
          <a:prstGeom prst="rect">
            <a:avLst/>
          </a:prstGeom>
          <a:noFill/>
        </p:spPr>
        <p:txBody>
          <a:bodyPr wrap="square">
            <a:spAutoFit/>
          </a:bodyPr>
          <a:lstStyle/>
          <a:p>
            <a:pPr algn="l"/>
            <a:r>
              <a:rPr sz="2400" b="1" i="0">
                <a:solidFill>
                  <a:srgbClr val="8CC63F"/>
                </a:solidFill>
                <a:latin typeface="Calibri"/>
              </a:rPr>
              <a:t>2</a:t>
            </a:r>
          </a:p>
        </p:txBody>
      </p:sp>
      <p:sp>
        <p:nvSpPr>
          <p:cNvPr id="17" name="TextBox 16"/>
          <p:cNvSpPr txBox="1"/>
          <p:nvPr/>
        </p:nvSpPr>
        <p:spPr>
          <a:xfrm>
            <a:off x="3486150" y="2084831"/>
            <a:ext cx="2425446" cy="502920"/>
          </a:xfrm>
          <a:prstGeom prst="rect">
            <a:avLst/>
          </a:prstGeom>
          <a:noFill/>
        </p:spPr>
        <p:txBody>
          <a:bodyPr wrap="square">
            <a:spAutoFit/>
          </a:bodyPr>
          <a:lstStyle/>
          <a:p>
            <a:pPr algn="l"/>
            <a:r>
              <a:rPr sz="1400" b="1" i="0">
                <a:solidFill>
                  <a:srgbClr val="FFFFFF"/>
                </a:solidFill>
                <a:latin typeface="Calibri"/>
              </a:rPr>
              <a:t>Mutual Information</a:t>
            </a:r>
          </a:p>
        </p:txBody>
      </p:sp>
      <p:sp>
        <p:nvSpPr>
          <p:cNvPr id="18" name="TextBox 17"/>
          <p:cNvSpPr txBox="1"/>
          <p:nvPr/>
        </p:nvSpPr>
        <p:spPr>
          <a:xfrm>
            <a:off x="3486150" y="2670048"/>
            <a:ext cx="2425446" cy="2423160"/>
          </a:xfrm>
          <a:prstGeom prst="rect">
            <a:avLst/>
          </a:prstGeom>
          <a:noFill/>
        </p:spPr>
        <p:txBody>
          <a:bodyPr wrap="square">
            <a:spAutoFit/>
          </a:bodyPr>
          <a:lstStyle/>
          <a:p>
            <a:pPr algn="l"/>
            <a:r>
              <a:rPr sz="1200" b="0" i="0">
                <a:solidFill>
                  <a:srgbClr val="A8C4B4"/>
                </a:solidFill>
                <a:latin typeface="Calibri"/>
              </a:rPr>
              <a:t>Dependencia no lineal entre cada variable y el target. Captura relaciones que la correlación de Pearson no detecta.</a:t>
            </a:r>
          </a:p>
        </p:txBody>
      </p:sp>
      <p:sp>
        <p:nvSpPr>
          <p:cNvPr id="19" name="TextBox 18"/>
          <p:cNvSpPr txBox="1"/>
          <p:nvPr/>
        </p:nvSpPr>
        <p:spPr>
          <a:xfrm>
            <a:off x="6048756" y="3246120"/>
            <a:ext cx="109728" cy="365760"/>
          </a:xfrm>
          <a:prstGeom prst="rect">
            <a:avLst/>
          </a:prstGeom>
          <a:noFill/>
        </p:spPr>
        <p:txBody>
          <a:bodyPr wrap="square">
            <a:spAutoFit/>
          </a:bodyPr>
          <a:lstStyle/>
          <a:p>
            <a:pPr algn="l"/>
            <a:r>
              <a:rPr sz="1600" b="0" i="0">
                <a:solidFill>
                  <a:srgbClr val="8CC63F"/>
                </a:solidFill>
                <a:latin typeface="Calibri"/>
              </a:rPr>
              <a:t>→</a:t>
            </a:r>
          </a:p>
        </p:txBody>
      </p:sp>
      <p:sp>
        <p:nvSpPr>
          <p:cNvPr id="20" name="Rectangle 19"/>
          <p:cNvSpPr/>
          <p:nvPr/>
        </p:nvSpPr>
        <p:spPr>
          <a:xfrm>
            <a:off x="6149340" y="1463040"/>
            <a:ext cx="2681478" cy="3749039"/>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9340" y="1463040"/>
            <a:ext cx="268147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6500" y="1536192"/>
            <a:ext cx="411480" cy="475488"/>
          </a:xfrm>
          <a:prstGeom prst="rect">
            <a:avLst/>
          </a:prstGeom>
          <a:noFill/>
        </p:spPr>
        <p:txBody>
          <a:bodyPr wrap="square">
            <a:spAutoFit/>
          </a:bodyPr>
          <a:lstStyle/>
          <a:p>
            <a:pPr algn="l"/>
            <a:r>
              <a:rPr sz="2400" b="1" i="0">
                <a:solidFill>
                  <a:srgbClr val="8CC63F"/>
                </a:solidFill>
                <a:latin typeface="Calibri"/>
              </a:rPr>
              <a:t>3</a:t>
            </a:r>
          </a:p>
        </p:txBody>
      </p:sp>
      <p:sp>
        <p:nvSpPr>
          <p:cNvPr id="23" name="TextBox 22"/>
          <p:cNvSpPr txBox="1"/>
          <p:nvPr/>
        </p:nvSpPr>
        <p:spPr>
          <a:xfrm>
            <a:off x="6286500" y="2084831"/>
            <a:ext cx="2425446" cy="502920"/>
          </a:xfrm>
          <a:prstGeom prst="rect">
            <a:avLst/>
          </a:prstGeom>
          <a:noFill/>
        </p:spPr>
        <p:txBody>
          <a:bodyPr wrap="square">
            <a:spAutoFit/>
          </a:bodyPr>
          <a:lstStyle/>
          <a:p>
            <a:pPr algn="l"/>
            <a:r>
              <a:rPr sz="1400" b="1" i="0">
                <a:solidFill>
                  <a:srgbClr val="FFFFFF"/>
                </a:solidFill>
                <a:latin typeface="Calibri"/>
              </a:rPr>
              <a:t>Random Forest</a:t>
            </a:r>
          </a:p>
        </p:txBody>
      </p:sp>
      <p:sp>
        <p:nvSpPr>
          <p:cNvPr id="24" name="TextBox 23"/>
          <p:cNvSpPr txBox="1"/>
          <p:nvPr/>
        </p:nvSpPr>
        <p:spPr>
          <a:xfrm>
            <a:off x="6286500" y="2670048"/>
            <a:ext cx="2425446" cy="2423160"/>
          </a:xfrm>
          <a:prstGeom prst="rect">
            <a:avLst/>
          </a:prstGeom>
          <a:noFill/>
        </p:spPr>
        <p:txBody>
          <a:bodyPr wrap="square">
            <a:spAutoFit/>
          </a:bodyPr>
          <a:lstStyle/>
          <a:p>
            <a:pPr algn="l"/>
            <a:r>
              <a:rPr sz="1200" b="0" i="0">
                <a:solidFill>
                  <a:srgbClr val="A8C4B4"/>
                </a:solidFill>
                <a:latin typeface="Calibri"/>
              </a:rPr>
              <a:t>Importancia de variables considerando interacciones entre el total de predictoras (bosque balanceado).</a:t>
            </a:r>
          </a:p>
        </p:txBody>
      </p:sp>
      <p:sp>
        <p:nvSpPr>
          <p:cNvPr id="25" name="TextBox 24"/>
          <p:cNvSpPr txBox="1"/>
          <p:nvPr/>
        </p:nvSpPr>
        <p:spPr>
          <a:xfrm>
            <a:off x="8849105" y="3246120"/>
            <a:ext cx="109728" cy="365760"/>
          </a:xfrm>
          <a:prstGeom prst="rect">
            <a:avLst/>
          </a:prstGeom>
          <a:noFill/>
        </p:spPr>
        <p:txBody>
          <a:bodyPr wrap="square">
            <a:spAutoFit/>
          </a:bodyPr>
          <a:lstStyle/>
          <a:p>
            <a:pPr algn="l"/>
            <a:r>
              <a:rPr sz="1600" b="0" i="0">
                <a:solidFill>
                  <a:srgbClr val="8CC63F"/>
                </a:solidFill>
                <a:latin typeface="Calibri"/>
              </a:rPr>
              <a:t>→</a:t>
            </a:r>
          </a:p>
        </p:txBody>
      </p:sp>
      <p:sp>
        <p:nvSpPr>
          <p:cNvPr id="26" name="Rectangle 25"/>
          <p:cNvSpPr/>
          <p:nvPr/>
        </p:nvSpPr>
        <p:spPr>
          <a:xfrm>
            <a:off x="8949690" y="1463040"/>
            <a:ext cx="2681478" cy="3749039"/>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9690" y="1463040"/>
            <a:ext cx="2681478"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6850" y="1536192"/>
            <a:ext cx="411480" cy="475488"/>
          </a:xfrm>
          <a:prstGeom prst="rect">
            <a:avLst/>
          </a:prstGeom>
          <a:noFill/>
        </p:spPr>
        <p:txBody>
          <a:bodyPr wrap="square">
            <a:spAutoFit/>
          </a:bodyPr>
          <a:lstStyle/>
          <a:p>
            <a:pPr algn="l"/>
            <a:r>
              <a:rPr sz="2400" b="1" i="0">
                <a:solidFill>
                  <a:srgbClr val="8CC63F"/>
                </a:solidFill>
                <a:latin typeface="Calibri"/>
              </a:rPr>
              <a:t>4</a:t>
            </a:r>
          </a:p>
        </p:txBody>
      </p:sp>
      <p:sp>
        <p:nvSpPr>
          <p:cNvPr id="29" name="TextBox 28"/>
          <p:cNvSpPr txBox="1"/>
          <p:nvPr/>
        </p:nvSpPr>
        <p:spPr>
          <a:xfrm>
            <a:off x="9086850" y="2084831"/>
            <a:ext cx="2425446" cy="502920"/>
          </a:xfrm>
          <a:prstGeom prst="rect">
            <a:avLst/>
          </a:prstGeom>
          <a:noFill/>
        </p:spPr>
        <p:txBody>
          <a:bodyPr wrap="square">
            <a:spAutoFit/>
          </a:bodyPr>
          <a:lstStyle/>
          <a:p>
            <a:pPr algn="l"/>
            <a:r>
              <a:rPr sz="1400" b="1" i="0">
                <a:solidFill>
                  <a:srgbClr val="FFFFFF"/>
                </a:solidFill>
                <a:latin typeface="Calibri"/>
              </a:rPr>
              <a:t>Puntaje combinado</a:t>
            </a:r>
          </a:p>
        </p:txBody>
      </p:sp>
      <p:sp>
        <p:nvSpPr>
          <p:cNvPr id="30" name="TextBox 29"/>
          <p:cNvSpPr txBox="1"/>
          <p:nvPr/>
        </p:nvSpPr>
        <p:spPr>
          <a:xfrm>
            <a:off x="9086850" y="2670048"/>
            <a:ext cx="2425446" cy="2423160"/>
          </a:xfrm>
          <a:prstGeom prst="rect">
            <a:avLst/>
          </a:prstGeom>
          <a:noFill/>
        </p:spPr>
        <p:txBody>
          <a:bodyPr wrap="square">
            <a:spAutoFit/>
          </a:bodyPr>
          <a:lstStyle/>
          <a:p>
            <a:pPr algn="l"/>
            <a:r>
              <a:rPr sz="1200" b="0" i="0">
                <a:solidFill>
                  <a:srgbClr val="A8C4B4"/>
                </a:solidFill>
                <a:latin typeface="Calibri"/>
              </a:rPr>
              <a:t>Promedio normalizado [0,1] de MI + RF Importance. Se retienen variables que superan un umbral mínimo.</a:t>
            </a:r>
          </a:p>
        </p:txBody>
      </p:sp>
      <p:sp>
        <p:nvSpPr>
          <p:cNvPr id="31" name="Rectangle 30"/>
          <p:cNvSpPr/>
          <p:nvPr/>
        </p:nvSpPr>
        <p:spPr>
          <a:xfrm>
            <a:off x="548640" y="5321808"/>
            <a:ext cx="11091672" cy="126187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321808"/>
            <a:ext cx="82296" cy="126187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376672"/>
            <a:ext cx="4572000" cy="365760"/>
          </a:xfrm>
          <a:prstGeom prst="rect">
            <a:avLst/>
          </a:prstGeom>
          <a:noFill/>
        </p:spPr>
        <p:txBody>
          <a:bodyPr wrap="square">
            <a:spAutoFit/>
          </a:bodyPr>
          <a:lstStyle/>
          <a:p>
            <a:pPr algn="l"/>
            <a:r>
              <a:rPr sz="1200" b="1" i="0">
                <a:solidFill>
                  <a:srgbClr val="8CC63F"/>
                </a:solidFill>
                <a:latin typeface="Calibri"/>
              </a:rPr>
              <a:t>TOP VARIABLES — puntaje combinado</a:t>
            </a:r>
          </a:p>
        </p:txBody>
      </p:sp>
      <p:sp>
        <p:nvSpPr>
          <p:cNvPr id="34" name="TextBox 33"/>
          <p:cNvSpPr txBox="1"/>
          <p:nvPr/>
        </p:nvSpPr>
        <p:spPr>
          <a:xfrm>
            <a:off x="777240" y="5760720"/>
            <a:ext cx="5303520" cy="768096"/>
          </a:xfrm>
          <a:prstGeom prst="rect">
            <a:avLst/>
          </a:prstGeom>
          <a:noFill/>
        </p:spPr>
        <p:txBody>
          <a:bodyPr wrap="square">
            <a:spAutoFit/>
          </a:bodyPr>
          <a:lstStyle/>
          <a:p>
            <a:pPr algn="l"/>
            <a:r>
              <a:rPr sz="1200" b="0" i="0">
                <a:solidFill>
                  <a:srgbClr val="FFFFFF"/>
                </a:solidFill>
                <a:latin typeface="Calibri"/>
              </a:rPr>
              <a:t>#1  Tipo de anestesia: raquídea
#2  Score procedimiento: crítico
#3–7  Scores severidad procedimiento (alta, media, moderada, baja)
#8–12  Scores severidad diagnóstico preoperatorio</a:t>
            </a:r>
          </a:p>
        </p:txBody>
      </p:sp>
      <p:sp>
        <p:nvSpPr>
          <p:cNvPr id="35" name="TextBox 34"/>
          <p:cNvSpPr txBox="1"/>
          <p:nvPr/>
        </p:nvSpPr>
        <p:spPr>
          <a:xfrm>
            <a:off x="6492240" y="5376672"/>
            <a:ext cx="5303520" cy="1152144"/>
          </a:xfrm>
          <a:prstGeom prst="rect">
            <a:avLst/>
          </a:prstGeom>
          <a:noFill/>
        </p:spPr>
        <p:txBody>
          <a:bodyPr wrap="square">
            <a:spAutoFit/>
          </a:bodyPr>
          <a:lstStyle/>
          <a:p>
            <a:pPr algn="l"/>
            <a:r>
              <a:rPr sz="1200" b="0" i="1">
                <a:solidFill>
                  <a:srgbClr val="A8C4B4"/>
                </a:solidFill>
                <a:latin typeface="Calibri"/>
              </a:rPr>
              <a:t>DIAGNÓSTICO: El modelo se apoya más en la complejidad del
procedimiento que en las comorbilidades del paciente.
Las comorbilidades crónicas aparecen en posiciones tardías.
Esto es coherente con la señal disponible en datos preoperatorios.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Modelado — 9 algoritmos comparados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Rectangle 6"/>
          <p:cNvSpPr/>
          <p:nvPr/>
        </p:nvSpPr>
        <p:spPr>
          <a:xfrm>
            <a:off x="548640" y="960120"/>
            <a:ext cx="5394960" cy="138988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82296" cy="138988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005840"/>
            <a:ext cx="5029200" cy="411480"/>
          </a:xfrm>
          <a:prstGeom prst="rect">
            <a:avLst/>
          </a:prstGeom>
          <a:noFill/>
        </p:spPr>
        <p:txBody>
          <a:bodyPr wrap="square">
            <a:spAutoFit/>
          </a:bodyPr>
          <a:lstStyle/>
          <a:p>
            <a:pPr algn="l"/>
            <a:r>
              <a:rPr sz="1400" b="1" i="0">
                <a:solidFill>
                  <a:srgbClr val="8CC63F"/>
                </a:solidFill>
                <a:latin typeface="Calibri"/>
              </a:rPr>
              <a:t>Desbalance de clases</a:t>
            </a:r>
          </a:p>
        </p:txBody>
      </p:sp>
      <p:sp>
        <p:nvSpPr>
          <p:cNvPr id="10" name="TextBox 9"/>
          <p:cNvSpPr txBox="1"/>
          <p:nvPr/>
        </p:nvSpPr>
        <p:spPr>
          <a:xfrm>
            <a:off x="777240" y="1399032"/>
            <a:ext cx="5029200" cy="886968"/>
          </a:xfrm>
          <a:prstGeom prst="rect">
            <a:avLst/>
          </a:prstGeom>
          <a:noFill/>
        </p:spPr>
        <p:txBody>
          <a:bodyPr wrap="square">
            <a:spAutoFit/>
          </a:bodyPr>
          <a:lstStyle/>
          <a:p>
            <a:pPr algn="l"/>
            <a:r>
              <a:rPr sz="1250" b="0" i="0">
                <a:solidFill>
                  <a:srgbClr val="FFFFFF"/>
                </a:solidFill>
                <a:latin typeface="Calibri"/>
              </a:rPr>
              <a:t>19 % positivos (target principal) · 28 % (target secundario)
class_weight='balanced' en sklearn · scale_pos_weight en XGBoost/LightGBM</a:t>
            </a:r>
          </a:p>
        </p:txBody>
      </p:sp>
      <p:sp>
        <p:nvSpPr>
          <p:cNvPr id="11" name="Rectangle 10"/>
          <p:cNvSpPr/>
          <p:nvPr/>
        </p:nvSpPr>
        <p:spPr>
          <a:xfrm>
            <a:off x="6263640" y="960120"/>
            <a:ext cx="5577840" cy="138988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960120"/>
            <a:ext cx="82296" cy="138988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005840"/>
            <a:ext cx="5212080" cy="411480"/>
          </a:xfrm>
          <a:prstGeom prst="rect">
            <a:avLst/>
          </a:prstGeom>
          <a:noFill/>
        </p:spPr>
        <p:txBody>
          <a:bodyPr wrap="square">
            <a:spAutoFit/>
          </a:bodyPr>
          <a:lstStyle/>
          <a:p>
            <a:pPr algn="l"/>
            <a:r>
              <a:rPr sz="1400" b="1" i="0">
                <a:solidFill>
                  <a:srgbClr val="8CC63F"/>
                </a:solidFill>
                <a:latin typeface="Calibri"/>
              </a:rPr>
              <a:t>Calibración de probabilidades</a:t>
            </a:r>
          </a:p>
        </p:txBody>
      </p:sp>
      <p:sp>
        <p:nvSpPr>
          <p:cNvPr id="14" name="TextBox 13"/>
          <p:cNvSpPr txBox="1"/>
          <p:nvPr/>
        </p:nvSpPr>
        <p:spPr>
          <a:xfrm>
            <a:off x="6492240" y="1399032"/>
            <a:ext cx="5212080" cy="886968"/>
          </a:xfrm>
          <a:prstGeom prst="rect">
            <a:avLst/>
          </a:prstGeom>
          <a:noFill/>
        </p:spPr>
        <p:txBody>
          <a:bodyPr wrap="square">
            <a:spAutoFit/>
          </a:bodyPr>
          <a:lstStyle/>
          <a:p>
            <a:pPr algn="l"/>
            <a:r>
              <a:rPr sz="1250" b="0" i="0">
                <a:solidFill>
                  <a:srgbClr val="FFFFFF"/>
                </a:solidFill>
                <a:latin typeface="Calibri"/>
              </a:rPr>
              <a:t>Isotónica (CalibratedClassifierCV, cv=5) → árboles y boosting
Sigmoidal (Platt) → Regresión Logística y MLP</a:t>
            </a:r>
          </a:p>
        </p:txBody>
      </p:sp>
      <p:sp>
        <p:nvSpPr>
          <p:cNvPr id="15" name="TextBox 14"/>
          <p:cNvSpPr txBox="1"/>
          <p:nvPr/>
        </p:nvSpPr>
        <p:spPr>
          <a:xfrm>
            <a:off x="548640" y="2487168"/>
            <a:ext cx="11091672" cy="329184"/>
          </a:xfrm>
          <a:prstGeom prst="rect">
            <a:avLst/>
          </a:prstGeom>
          <a:noFill/>
        </p:spPr>
        <p:txBody>
          <a:bodyPr wrap="square">
            <a:spAutoFit/>
          </a:bodyPr>
          <a:lstStyle/>
          <a:p>
            <a:pPr algn="l"/>
            <a:r>
              <a:rPr sz="1300" b="1" i="0">
                <a:solidFill>
                  <a:srgbClr val="8CC63F"/>
                </a:solidFill>
                <a:latin typeface="Calibri"/>
              </a:rPr>
              <a:t>ALGORITMOS ENTRENADOS</a:t>
            </a:r>
          </a:p>
        </p:txBody>
      </p:sp>
      <p:sp>
        <p:nvSpPr>
          <p:cNvPr id="16" name="Rectangle 15"/>
          <p:cNvSpPr/>
          <p:nvPr/>
        </p:nvSpPr>
        <p:spPr>
          <a:xfrm>
            <a:off x="548640" y="2852928"/>
            <a:ext cx="2126894" cy="36393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52928"/>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907792"/>
            <a:ext cx="1925726" cy="530352"/>
          </a:xfrm>
          <a:prstGeom prst="rect">
            <a:avLst/>
          </a:prstGeom>
          <a:noFill/>
        </p:spPr>
        <p:txBody>
          <a:bodyPr wrap="square">
            <a:spAutoFit/>
          </a:bodyPr>
          <a:lstStyle/>
          <a:p>
            <a:pPr algn="ctr"/>
            <a:r>
              <a:rPr sz="1300" b="1" i="0">
                <a:solidFill>
                  <a:srgbClr val="8CC63F"/>
                </a:solidFill>
                <a:latin typeface="Calibri"/>
              </a:rPr>
              <a:t>Lineal</a:t>
            </a:r>
          </a:p>
        </p:txBody>
      </p:sp>
      <p:sp>
        <p:nvSpPr>
          <p:cNvPr id="19" name="TextBox 18"/>
          <p:cNvSpPr txBox="1"/>
          <p:nvPr/>
        </p:nvSpPr>
        <p:spPr>
          <a:xfrm>
            <a:off x="658368" y="3520440"/>
            <a:ext cx="1925726" cy="658368"/>
          </a:xfrm>
          <a:prstGeom prst="rect">
            <a:avLst/>
          </a:prstGeom>
          <a:noFill/>
        </p:spPr>
        <p:txBody>
          <a:bodyPr wrap="square">
            <a:spAutoFit/>
          </a:bodyPr>
          <a:lstStyle/>
          <a:p>
            <a:pPr algn="l"/>
            <a:r>
              <a:rPr sz="1200" b="0" i="0">
                <a:solidFill>
                  <a:srgbClr val="FFFFFF"/>
                </a:solidFill>
                <a:latin typeface="Calibri"/>
              </a:rPr>
              <a:t>▸ Regresión Logística</a:t>
            </a:r>
          </a:p>
        </p:txBody>
      </p:sp>
      <p:sp>
        <p:nvSpPr>
          <p:cNvPr id="20" name="Rectangle 19"/>
          <p:cNvSpPr/>
          <p:nvPr/>
        </p:nvSpPr>
        <p:spPr>
          <a:xfrm>
            <a:off x="2794406" y="2852928"/>
            <a:ext cx="2126894" cy="3639312"/>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94406" y="2852928"/>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4134" y="2907792"/>
            <a:ext cx="1925726" cy="530352"/>
          </a:xfrm>
          <a:prstGeom prst="rect">
            <a:avLst/>
          </a:prstGeom>
          <a:noFill/>
        </p:spPr>
        <p:txBody>
          <a:bodyPr wrap="square">
            <a:spAutoFit/>
          </a:bodyPr>
          <a:lstStyle/>
          <a:p>
            <a:pPr algn="ctr"/>
            <a:r>
              <a:rPr sz="1300" b="1" i="0">
                <a:solidFill>
                  <a:srgbClr val="8CC63F"/>
                </a:solidFill>
                <a:latin typeface="Calibri"/>
              </a:rPr>
              <a:t>Bagging</a:t>
            </a:r>
          </a:p>
        </p:txBody>
      </p:sp>
      <p:sp>
        <p:nvSpPr>
          <p:cNvPr id="23" name="TextBox 22"/>
          <p:cNvSpPr txBox="1"/>
          <p:nvPr/>
        </p:nvSpPr>
        <p:spPr>
          <a:xfrm>
            <a:off x="2904134" y="3520440"/>
            <a:ext cx="1925726" cy="658368"/>
          </a:xfrm>
          <a:prstGeom prst="rect">
            <a:avLst/>
          </a:prstGeom>
          <a:noFill/>
        </p:spPr>
        <p:txBody>
          <a:bodyPr wrap="square">
            <a:spAutoFit/>
          </a:bodyPr>
          <a:lstStyle/>
          <a:p>
            <a:pPr algn="l"/>
            <a:r>
              <a:rPr sz="1200" b="0" i="0">
                <a:solidFill>
                  <a:srgbClr val="FFFFFF"/>
                </a:solidFill>
                <a:latin typeface="Calibri"/>
              </a:rPr>
              <a:t>▸ Random Forest</a:t>
            </a:r>
          </a:p>
        </p:txBody>
      </p:sp>
      <p:sp>
        <p:nvSpPr>
          <p:cNvPr id="24" name="TextBox 23"/>
          <p:cNvSpPr txBox="1"/>
          <p:nvPr/>
        </p:nvSpPr>
        <p:spPr>
          <a:xfrm>
            <a:off x="2904134" y="4233672"/>
            <a:ext cx="1925726" cy="658368"/>
          </a:xfrm>
          <a:prstGeom prst="rect">
            <a:avLst/>
          </a:prstGeom>
          <a:noFill/>
        </p:spPr>
        <p:txBody>
          <a:bodyPr wrap="square">
            <a:spAutoFit/>
          </a:bodyPr>
          <a:lstStyle/>
          <a:p>
            <a:pPr algn="l"/>
            <a:r>
              <a:rPr sz="1200" b="0" i="0">
                <a:solidFill>
                  <a:srgbClr val="FFFFFF"/>
                </a:solidFill>
                <a:latin typeface="Calibri"/>
              </a:rPr>
              <a:t>▸ Extra Trees</a:t>
            </a:r>
          </a:p>
        </p:txBody>
      </p:sp>
      <p:sp>
        <p:nvSpPr>
          <p:cNvPr id="25" name="Rectangle 24"/>
          <p:cNvSpPr/>
          <p:nvPr/>
        </p:nvSpPr>
        <p:spPr>
          <a:xfrm>
            <a:off x="5040172" y="2852928"/>
            <a:ext cx="2126894" cy="36393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40172" y="2852928"/>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49900" y="2907792"/>
            <a:ext cx="1925726" cy="530352"/>
          </a:xfrm>
          <a:prstGeom prst="rect">
            <a:avLst/>
          </a:prstGeom>
          <a:noFill/>
        </p:spPr>
        <p:txBody>
          <a:bodyPr wrap="square">
            <a:spAutoFit/>
          </a:bodyPr>
          <a:lstStyle/>
          <a:p>
            <a:pPr algn="ctr"/>
            <a:r>
              <a:rPr sz="1300" b="1" i="0">
                <a:solidFill>
                  <a:srgbClr val="8CC63F"/>
                </a:solidFill>
                <a:latin typeface="Calibri"/>
              </a:rPr>
              <a:t>Boosting</a:t>
            </a:r>
          </a:p>
        </p:txBody>
      </p:sp>
      <p:sp>
        <p:nvSpPr>
          <p:cNvPr id="28" name="TextBox 27"/>
          <p:cNvSpPr txBox="1"/>
          <p:nvPr/>
        </p:nvSpPr>
        <p:spPr>
          <a:xfrm>
            <a:off x="5149900" y="3520440"/>
            <a:ext cx="1925726" cy="658368"/>
          </a:xfrm>
          <a:prstGeom prst="rect">
            <a:avLst/>
          </a:prstGeom>
          <a:noFill/>
        </p:spPr>
        <p:txBody>
          <a:bodyPr wrap="square">
            <a:spAutoFit/>
          </a:bodyPr>
          <a:lstStyle/>
          <a:p>
            <a:pPr algn="l"/>
            <a:r>
              <a:rPr sz="1200" b="0" i="0">
                <a:solidFill>
                  <a:srgbClr val="FFFFFF"/>
                </a:solidFill>
                <a:latin typeface="Calibri"/>
              </a:rPr>
              <a:t>▸ XGBoost</a:t>
            </a:r>
          </a:p>
        </p:txBody>
      </p:sp>
      <p:sp>
        <p:nvSpPr>
          <p:cNvPr id="29" name="TextBox 28"/>
          <p:cNvSpPr txBox="1"/>
          <p:nvPr/>
        </p:nvSpPr>
        <p:spPr>
          <a:xfrm>
            <a:off x="5149900" y="4233672"/>
            <a:ext cx="1925726" cy="658368"/>
          </a:xfrm>
          <a:prstGeom prst="rect">
            <a:avLst/>
          </a:prstGeom>
          <a:noFill/>
        </p:spPr>
        <p:txBody>
          <a:bodyPr wrap="square">
            <a:spAutoFit/>
          </a:bodyPr>
          <a:lstStyle/>
          <a:p>
            <a:pPr algn="l"/>
            <a:r>
              <a:rPr sz="1200" b="0" i="0">
                <a:solidFill>
                  <a:srgbClr val="FFFFFF"/>
                </a:solidFill>
                <a:latin typeface="Calibri"/>
              </a:rPr>
              <a:t>▸ LightGBM</a:t>
            </a:r>
          </a:p>
        </p:txBody>
      </p:sp>
      <p:sp>
        <p:nvSpPr>
          <p:cNvPr id="30" name="TextBox 29"/>
          <p:cNvSpPr txBox="1"/>
          <p:nvPr/>
        </p:nvSpPr>
        <p:spPr>
          <a:xfrm>
            <a:off x="5149900" y="4946904"/>
            <a:ext cx="1925726" cy="658368"/>
          </a:xfrm>
          <a:prstGeom prst="rect">
            <a:avLst/>
          </a:prstGeom>
          <a:noFill/>
        </p:spPr>
        <p:txBody>
          <a:bodyPr wrap="square">
            <a:spAutoFit/>
          </a:bodyPr>
          <a:lstStyle/>
          <a:p>
            <a:pPr algn="l"/>
            <a:r>
              <a:rPr sz="1200" b="0" i="0">
                <a:solidFill>
                  <a:srgbClr val="FFFFFF"/>
                </a:solidFill>
                <a:latin typeface="Calibri"/>
              </a:rPr>
              <a:t>▸ HistGradientBoosting</a:t>
            </a:r>
          </a:p>
        </p:txBody>
      </p:sp>
      <p:sp>
        <p:nvSpPr>
          <p:cNvPr id="31" name="Rectangle 30"/>
          <p:cNvSpPr/>
          <p:nvPr/>
        </p:nvSpPr>
        <p:spPr>
          <a:xfrm>
            <a:off x="7285939" y="2852928"/>
            <a:ext cx="2126894" cy="3639312"/>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85939" y="2852928"/>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95667" y="2907792"/>
            <a:ext cx="1925726" cy="530352"/>
          </a:xfrm>
          <a:prstGeom prst="rect">
            <a:avLst/>
          </a:prstGeom>
          <a:noFill/>
        </p:spPr>
        <p:txBody>
          <a:bodyPr wrap="square">
            <a:spAutoFit/>
          </a:bodyPr>
          <a:lstStyle/>
          <a:p>
            <a:pPr algn="ctr"/>
            <a:r>
              <a:rPr sz="1300" b="1" i="0">
                <a:solidFill>
                  <a:srgbClr val="8CC63F"/>
                </a:solidFill>
                <a:latin typeface="Calibri"/>
              </a:rPr>
              <a:t>Red neuronal</a:t>
            </a:r>
          </a:p>
        </p:txBody>
      </p:sp>
      <p:sp>
        <p:nvSpPr>
          <p:cNvPr id="34" name="TextBox 33"/>
          <p:cNvSpPr txBox="1"/>
          <p:nvPr/>
        </p:nvSpPr>
        <p:spPr>
          <a:xfrm>
            <a:off x="7395667" y="3520440"/>
            <a:ext cx="1925726" cy="658368"/>
          </a:xfrm>
          <a:prstGeom prst="rect">
            <a:avLst/>
          </a:prstGeom>
          <a:noFill/>
        </p:spPr>
        <p:txBody>
          <a:bodyPr wrap="square">
            <a:spAutoFit/>
          </a:bodyPr>
          <a:lstStyle/>
          <a:p>
            <a:pPr algn="l"/>
            <a:r>
              <a:rPr sz="1200" b="0" i="0">
                <a:solidFill>
                  <a:srgbClr val="FFFFFF"/>
                </a:solidFill>
                <a:latin typeface="Calibri"/>
              </a:rPr>
              <a:t>▸ MLP (128-64, ReLU, early_stop)</a:t>
            </a:r>
          </a:p>
        </p:txBody>
      </p:sp>
      <p:sp>
        <p:nvSpPr>
          <p:cNvPr id="35" name="Rectangle 34"/>
          <p:cNvSpPr/>
          <p:nvPr/>
        </p:nvSpPr>
        <p:spPr>
          <a:xfrm>
            <a:off x="9531705" y="2852928"/>
            <a:ext cx="2126894" cy="36393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1705" y="2852928"/>
            <a:ext cx="2126894"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1433" y="2907792"/>
            <a:ext cx="1925726" cy="530352"/>
          </a:xfrm>
          <a:prstGeom prst="rect">
            <a:avLst/>
          </a:prstGeom>
          <a:noFill/>
        </p:spPr>
        <p:txBody>
          <a:bodyPr wrap="square">
            <a:spAutoFit/>
          </a:bodyPr>
          <a:lstStyle/>
          <a:p>
            <a:pPr algn="ctr"/>
            <a:r>
              <a:rPr sz="1300" b="1" i="0">
                <a:solidFill>
                  <a:srgbClr val="8CC63F"/>
                </a:solidFill>
                <a:latin typeface="Calibri"/>
              </a:rPr>
              <a:t>Ensemble
compuesto</a:t>
            </a:r>
          </a:p>
        </p:txBody>
      </p:sp>
      <p:sp>
        <p:nvSpPr>
          <p:cNvPr id="38" name="TextBox 37"/>
          <p:cNvSpPr txBox="1"/>
          <p:nvPr/>
        </p:nvSpPr>
        <p:spPr>
          <a:xfrm>
            <a:off x="9641433" y="3520440"/>
            <a:ext cx="1925726" cy="658368"/>
          </a:xfrm>
          <a:prstGeom prst="rect">
            <a:avLst/>
          </a:prstGeom>
          <a:noFill/>
        </p:spPr>
        <p:txBody>
          <a:bodyPr wrap="square">
            <a:spAutoFit/>
          </a:bodyPr>
          <a:lstStyle/>
          <a:p>
            <a:pPr algn="l"/>
            <a:r>
              <a:rPr sz="1200" b="0" i="0">
                <a:solidFill>
                  <a:srgbClr val="FFFFFF"/>
                </a:solidFill>
                <a:latin typeface="Calibri"/>
              </a:rPr>
              <a:t>▸ Voting: soft
(RF+XGB+HGB)</a:t>
            </a:r>
          </a:p>
        </p:txBody>
      </p:sp>
      <p:sp>
        <p:nvSpPr>
          <p:cNvPr id="39" name="TextBox 38"/>
          <p:cNvSpPr txBox="1"/>
          <p:nvPr/>
        </p:nvSpPr>
        <p:spPr>
          <a:xfrm>
            <a:off x="9641433" y="4233672"/>
            <a:ext cx="1925726" cy="658368"/>
          </a:xfrm>
          <a:prstGeom prst="rect">
            <a:avLst/>
          </a:prstGeom>
          <a:noFill/>
        </p:spPr>
        <p:txBody>
          <a:bodyPr wrap="square">
            <a:spAutoFit/>
          </a:bodyPr>
          <a:lstStyle/>
          <a:p>
            <a:pPr algn="l"/>
            <a:r>
              <a:rPr sz="1200" b="0" i="0">
                <a:solidFill>
                  <a:srgbClr val="FFFFFF"/>
                </a:solidFill>
                <a:latin typeface="Calibri"/>
              </a:rPr>
              <a:t>▸ Stacking: LR
meta, cv=5</a:t>
            </a:r>
          </a:p>
        </p:txBody>
      </p:sp>
      <p:sp>
        <p:nvSpPr>
          <p:cNvPr id="40" name="TextBox 39"/>
          <p:cNvSpPr txBox="1"/>
          <p:nvPr/>
        </p:nvSpPr>
        <p:spPr>
          <a:xfrm>
            <a:off x="548640" y="6556248"/>
            <a:ext cx="11091672" cy="301752"/>
          </a:xfrm>
          <a:prstGeom prst="rect">
            <a:avLst/>
          </a:prstGeom>
          <a:noFill/>
        </p:spPr>
        <p:txBody>
          <a:bodyPr wrap="square">
            <a:spAutoFit/>
          </a:bodyPr>
          <a:lstStyle/>
          <a:p>
            <a:pPr algn="l"/>
            <a:r>
              <a:rPr sz="1200" b="0" i="1">
                <a:solidFill>
                  <a:srgbClr val="8CC63F"/>
                </a:solidFill>
                <a:latin typeface="Calibri"/>
              </a:rPr>
              <a:t>Threshold optimizado por F2 (no 0.5 convencional) sobre train set con validación cruzada interna. Rango resultante: 0.13 – 0.38 según algoritmo.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Arquitectura del servicio de inferencia</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TextBox 6"/>
          <p:cNvSpPr txBox="1"/>
          <p:nvPr/>
        </p:nvSpPr>
        <p:spPr>
          <a:xfrm>
            <a:off x="548640" y="960120"/>
            <a:ext cx="11091672" cy="329184"/>
          </a:xfrm>
          <a:prstGeom prst="rect">
            <a:avLst/>
          </a:prstGeom>
          <a:noFill/>
        </p:spPr>
        <p:txBody>
          <a:bodyPr wrap="square">
            <a:spAutoFit/>
          </a:bodyPr>
          <a:lstStyle/>
          <a:p>
            <a:pPr algn="l"/>
            <a:r>
              <a:rPr sz="1300" b="0" i="1">
                <a:solidFill>
                  <a:srgbClr val="A8C4B4"/>
                </a:solidFill>
                <a:latin typeface="Calibri"/>
              </a:rPr>
              <a:t>Separación explícita entre entrenamiento y consumo operativo del modelo</a:t>
            </a:r>
          </a:p>
        </p:txBody>
      </p:sp>
      <p:sp>
        <p:nvSpPr>
          <p:cNvPr id="8" name="Rectangle 7"/>
          <p:cNvSpPr/>
          <p:nvPr/>
        </p:nvSpPr>
        <p:spPr>
          <a:xfrm>
            <a:off x="365760" y="1417320"/>
            <a:ext cx="2560320"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256032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27048"/>
            <a:ext cx="2304287" cy="621792"/>
          </a:xfrm>
          <a:prstGeom prst="rect">
            <a:avLst/>
          </a:prstGeom>
          <a:noFill/>
        </p:spPr>
        <p:txBody>
          <a:bodyPr wrap="square">
            <a:spAutoFit/>
          </a:bodyPr>
          <a:lstStyle/>
          <a:p>
            <a:pPr algn="l"/>
            <a:r>
              <a:rPr sz="1400" b="1" i="0">
                <a:solidFill>
                  <a:srgbClr val="8CC63F"/>
                </a:solidFill>
                <a:latin typeface="Calibri"/>
              </a:rPr>
              <a:t>Base de datos
OPERA</a:t>
            </a:r>
          </a:p>
        </p:txBody>
      </p:sp>
      <p:sp>
        <p:nvSpPr>
          <p:cNvPr id="11" name="TextBox 10"/>
          <p:cNvSpPr txBox="1"/>
          <p:nvPr/>
        </p:nvSpPr>
        <p:spPr>
          <a:xfrm>
            <a:off x="502920" y="2221992"/>
            <a:ext cx="2304287" cy="3383280"/>
          </a:xfrm>
          <a:prstGeom prst="rect">
            <a:avLst/>
          </a:prstGeom>
          <a:noFill/>
        </p:spPr>
        <p:txBody>
          <a:bodyPr wrap="square">
            <a:spAutoFit/>
          </a:bodyPr>
          <a:lstStyle/>
          <a:p>
            <a:pPr algn="l"/>
            <a:r>
              <a:rPr sz="1200" b="0" i="0">
                <a:solidFill>
                  <a:srgbClr val="FFFFFF"/>
                </a:solidFill>
                <a:latin typeface="Calibri"/>
              </a:rPr>
              <a:t>Datos históricos de 30 962 episodios quirúrgicos.
Fuente primaria: HCE institucional.</a:t>
            </a:r>
          </a:p>
        </p:txBody>
      </p:sp>
      <p:sp>
        <p:nvSpPr>
          <p:cNvPr id="12" name="Rectangle 11"/>
          <p:cNvSpPr/>
          <p:nvPr/>
        </p:nvSpPr>
        <p:spPr>
          <a:xfrm>
            <a:off x="3108960" y="1417320"/>
            <a:ext cx="2560320"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1417320"/>
            <a:ext cx="256032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1527048"/>
            <a:ext cx="2304287" cy="621792"/>
          </a:xfrm>
          <a:prstGeom prst="rect">
            <a:avLst/>
          </a:prstGeom>
          <a:noFill/>
        </p:spPr>
        <p:txBody>
          <a:bodyPr wrap="square">
            <a:spAutoFit/>
          </a:bodyPr>
          <a:lstStyle/>
          <a:p>
            <a:pPr algn="l"/>
            <a:r>
              <a:rPr sz="1400" b="1" i="0">
                <a:solidFill>
                  <a:srgbClr val="8CC63F"/>
                </a:solidFill>
                <a:latin typeface="Calibri"/>
              </a:rPr>
              <a:t>Pipeline de
Entrenamiento</a:t>
            </a:r>
          </a:p>
        </p:txBody>
      </p:sp>
      <p:sp>
        <p:nvSpPr>
          <p:cNvPr id="15" name="TextBox 14"/>
          <p:cNvSpPr txBox="1"/>
          <p:nvPr/>
        </p:nvSpPr>
        <p:spPr>
          <a:xfrm>
            <a:off x="3246120" y="2221992"/>
            <a:ext cx="2304287" cy="3383280"/>
          </a:xfrm>
          <a:prstGeom prst="rect">
            <a:avLst/>
          </a:prstGeom>
          <a:noFill/>
        </p:spPr>
        <p:txBody>
          <a:bodyPr wrap="square">
            <a:spAutoFit/>
          </a:bodyPr>
          <a:lstStyle/>
          <a:p>
            <a:pPr algn="l"/>
            <a:r>
              <a:rPr sz="1200" b="0" i="0">
                <a:solidFill>
                  <a:srgbClr val="FFFFFF"/>
                </a:solidFill>
                <a:latin typeface="Calibri"/>
              </a:rPr>
              <a:t>Apache Airflow (DAG reproducible).
Limpieza → Target → Features → Modelos → Calibración → Evaluación → Reportes JSON.</a:t>
            </a:r>
          </a:p>
        </p:txBody>
      </p:sp>
      <p:sp>
        <p:nvSpPr>
          <p:cNvPr id="16" name="Rectangle 15"/>
          <p:cNvSpPr/>
          <p:nvPr/>
        </p:nvSpPr>
        <p:spPr>
          <a:xfrm>
            <a:off x="5852160" y="1417320"/>
            <a:ext cx="2560320"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1417320"/>
            <a:ext cx="256032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527048"/>
            <a:ext cx="2304287" cy="621792"/>
          </a:xfrm>
          <a:prstGeom prst="rect">
            <a:avLst/>
          </a:prstGeom>
          <a:noFill/>
        </p:spPr>
        <p:txBody>
          <a:bodyPr wrap="square">
            <a:spAutoFit/>
          </a:bodyPr>
          <a:lstStyle/>
          <a:p>
            <a:pPr algn="l"/>
            <a:r>
              <a:rPr sz="1400" b="1" i="0">
                <a:solidFill>
                  <a:srgbClr val="8CC63F"/>
                </a:solidFill>
                <a:latin typeface="Calibri"/>
              </a:rPr>
              <a:t>Modelos
Versionados</a:t>
            </a:r>
          </a:p>
        </p:txBody>
      </p:sp>
      <p:sp>
        <p:nvSpPr>
          <p:cNvPr id="19" name="TextBox 18"/>
          <p:cNvSpPr txBox="1"/>
          <p:nvPr/>
        </p:nvSpPr>
        <p:spPr>
          <a:xfrm>
            <a:off x="5989320" y="2221992"/>
            <a:ext cx="2304287" cy="3383280"/>
          </a:xfrm>
          <a:prstGeom prst="rect">
            <a:avLst/>
          </a:prstGeom>
          <a:noFill/>
        </p:spPr>
        <p:txBody>
          <a:bodyPr wrap="square">
            <a:spAutoFit/>
          </a:bodyPr>
          <a:lstStyle/>
          <a:p>
            <a:pPr algn="l"/>
            <a:r>
              <a:rPr sz="1200" b="0" i="0">
                <a:solidFill>
                  <a:srgbClr val="FFFFFF"/>
                </a:solidFill>
                <a:latin typeface="Calibri"/>
              </a:rPr>
              <a:t>Artefactos: .joblib + manifiesto JSON.
Contrato explícito: features, threshold, calibración, métricas de validación.</a:t>
            </a:r>
          </a:p>
        </p:txBody>
      </p:sp>
      <p:sp>
        <p:nvSpPr>
          <p:cNvPr id="20" name="Rectangle 19"/>
          <p:cNvSpPr/>
          <p:nvPr/>
        </p:nvSpPr>
        <p:spPr>
          <a:xfrm>
            <a:off x="8641080" y="1417320"/>
            <a:ext cx="3154680" cy="43891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41080" y="1417320"/>
            <a:ext cx="315468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1527048"/>
            <a:ext cx="2898648" cy="621792"/>
          </a:xfrm>
          <a:prstGeom prst="rect">
            <a:avLst/>
          </a:prstGeom>
          <a:noFill/>
        </p:spPr>
        <p:txBody>
          <a:bodyPr wrap="square">
            <a:spAutoFit/>
          </a:bodyPr>
          <a:lstStyle/>
          <a:p>
            <a:pPr algn="l"/>
            <a:r>
              <a:rPr sz="1400" b="1" i="0">
                <a:solidFill>
                  <a:srgbClr val="8CC63F"/>
                </a:solidFill>
                <a:latin typeface="Calibri"/>
              </a:rPr>
              <a:t>API REST
(FastAPI · Docker)</a:t>
            </a:r>
          </a:p>
        </p:txBody>
      </p:sp>
      <p:sp>
        <p:nvSpPr>
          <p:cNvPr id="23" name="TextBox 22"/>
          <p:cNvSpPr txBox="1"/>
          <p:nvPr/>
        </p:nvSpPr>
        <p:spPr>
          <a:xfrm>
            <a:off x="8778240" y="2221992"/>
            <a:ext cx="2898648" cy="3383280"/>
          </a:xfrm>
          <a:prstGeom prst="rect">
            <a:avLst/>
          </a:prstGeom>
          <a:noFill/>
        </p:spPr>
        <p:txBody>
          <a:bodyPr wrap="square">
            <a:spAutoFit/>
          </a:bodyPr>
          <a:lstStyle/>
          <a:p>
            <a:pPr algn="l"/>
            <a:r>
              <a:rPr sz="1200" b="0" i="0">
                <a:solidFill>
                  <a:srgbClr val="FFFFFF"/>
                </a:solidFill>
                <a:latin typeface="Calibri"/>
              </a:rPr>
              <a:t>Validación de entradas via manifiesto.
Preprocesador → Motor → Respuesta con metadatos de trazabilidad.
Descubrimiento dinámico de modelos al inicio.</a:t>
            </a:r>
          </a:p>
        </p:txBody>
      </p:sp>
      <p:sp>
        <p:nvSpPr>
          <p:cNvPr id="24" name="TextBox 23"/>
          <p:cNvSpPr txBox="1"/>
          <p:nvPr/>
        </p:nvSpPr>
        <p:spPr>
          <a:xfrm>
            <a:off x="2926080" y="3337560"/>
            <a:ext cx="201168" cy="384048"/>
          </a:xfrm>
          <a:prstGeom prst="rect">
            <a:avLst/>
          </a:prstGeom>
          <a:noFill/>
        </p:spPr>
        <p:txBody>
          <a:bodyPr wrap="square">
            <a:spAutoFit/>
          </a:bodyPr>
          <a:lstStyle/>
          <a:p>
            <a:pPr algn="l"/>
            <a:r>
              <a:rPr sz="2000" b="0" i="0">
                <a:solidFill>
                  <a:srgbClr val="8CC63F"/>
                </a:solidFill>
                <a:latin typeface="Calibri"/>
              </a:rPr>
              <a:t>→</a:t>
            </a:r>
          </a:p>
        </p:txBody>
      </p:sp>
      <p:sp>
        <p:nvSpPr>
          <p:cNvPr id="25" name="TextBox 24"/>
          <p:cNvSpPr txBox="1"/>
          <p:nvPr/>
        </p:nvSpPr>
        <p:spPr>
          <a:xfrm>
            <a:off x="5687568" y="3337560"/>
            <a:ext cx="201168" cy="384048"/>
          </a:xfrm>
          <a:prstGeom prst="rect">
            <a:avLst/>
          </a:prstGeom>
          <a:noFill/>
        </p:spPr>
        <p:txBody>
          <a:bodyPr wrap="square">
            <a:spAutoFit/>
          </a:bodyPr>
          <a:lstStyle/>
          <a:p>
            <a:pPr algn="l"/>
            <a:r>
              <a:rPr sz="2000" b="0" i="0">
                <a:solidFill>
                  <a:srgbClr val="8CC63F"/>
                </a:solidFill>
                <a:latin typeface="Calibri"/>
              </a:rPr>
              <a:t>→</a:t>
            </a:r>
          </a:p>
        </p:txBody>
      </p:sp>
      <p:sp>
        <p:nvSpPr>
          <p:cNvPr id="26" name="TextBox 25"/>
          <p:cNvSpPr txBox="1"/>
          <p:nvPr/>
        </p:nvSpPr>
        <p:spPr>
          <a:xfrm>
            <a:off x="8476488" y="3337560"/>
            <a:ext cx="201168" cy="384048"/>
          </a:xfrm>
          <a:prstGeom prst="rect">
            <a:avLst/>
          </a:prstGeom>
          <a:noFill/>
        </p:spPr>
        <p:txBody>
          <a:bodyPr wrap="square">
            <a:spAutoFit/>
          </a:bodyPr>
          <a:lstStyle/>
          <a:p>
            <a:pPr algn="l"/>
            <a:r>
              <a:rPr sz="2000" b="0" i="0">
                <a:solidFill>
                  <a:srgbClr val="8CC63F"/>
                </a:solidFill>
                <a:latin typeface="Calibri"/>
              </a:rPr>
              <a:t>→</a:t>
            </a:r>
          </a:p>
        </p:txBody>
      </p:sp>
      <p:sp>
        <p:nvSpPr>
          <p:cNvPr id="27" name="TextBox 26"/>
          <p:cNvSpPr txBox="1"/>
          <p:nvPr/>
        </p:nvSpPr>
        <p:spPr>
          <a:xfrm>
            <a:off x="365760" y="5916168"/>
            <a:ext cx="11457432" cy="329184"/>
          </a:xfrm>
          <a:prstGeom prst="rect">
            <a:avLst/>
          </a:prstGeom>
          <a:noFill/>
        </p:spPr>
        <p:txBody>
          <a:bodyPr wrap="square">
            <a:spAutoFit/>
          </a:bodyPr>
          <a:lstStyle/>
          <a:p>
            <a:pPr algn="l"/>
            <a:r>
              <a:rPr sz="1200" b="0" i="0">
                <a:solidFill>
                  <a:srgbClr val="A8C4B4"/>
                </a:solidFill>
                <a:latin typeface="Calibri"/>
              </a:rPr>
              <a:t>▸  Interfaz React (prueba de concepto): permite al personal clínico ingresar datos y visualizar la predicción.</a:t>
            </a:r>
          </a:p>
        </p:txBody>
      </p:sp>
      <p:sp>
        <p:nvSpPr>
          <p:cNvPr id="28" name="TextBox 27"/>
          <p:cNvSpPr txBox="1"/>
          <p:nvPr/>
        </p:nvSpPr>
        <p:spPr>
          <a:xfrm>
            <a:off x="365760" y="6272784"/>
            <a:ext cx="11457432" cy="329184"/>
          </a:xfrm>
          <a:prstGeom prst="rect">
            <a:avLst/>
          </a:prstGeom>
          <a:noFill/>
        </p:spPr>
        <p:txBody>
          <a:bodyPr wrap="square">
            <a:spAutoFit/>
          </a:bodyPr>
          <a:lstStyle/>
          <a:p>
            <a:pPr algn="l"/>
            <a:r>
              <a:rPr sz="1200" b="0" i="1">
                <a:solidFill>
                  <a:srgbClr val="FFAA44"/>
                </a:solidFill>
                <a:latin typeface="Calibri"/>
              </a:rPr>
              <a:t>▸  Nota: arquitectura prototipo funcional. No implica despliegue productivo en la FVL (fuera del alcance académico).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Manifiesto del modelo — contrato técnico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04 · Construcción de la solución</a:t>
            </a:r>
          </a:p>
        </p:txBody>
      </p:sp>
      <p:sp>
        <p:nvSpPr>
          <p:cNvPr id="7" name="TextBox 6"/>
          <p:cNvSpPr txBox="1"/>
          <p:nvPr/>
        </p:nvSpPr>
        <p:spPr>
          <a:xfrm>
            <a:off x="548640" y="960120"/>
            <a:ext cx="11091672" cy="457200"/>
          </a:xfrm>
          <a:prstGeom prst="rect">
            <a:avLst/>
          </a:prstGeom>
          <a:noFill/>
        </p:spPr>
        <p:txBody>
          <a:bodyPr wrap="square">
            <a:spAutoFit/>
          </a:bodyPr>
          <a:lstStyle/>
          <a:p>
            <a:pPr algn="l"/>
            <a:r>
              <a:rPr sz="1400" b="0" i="0">
                <a:solidFill>
                  <a:srgbClr val="FFFFFF"/>
                </a:solidFill>
                <a:latin typeface="Calibri"/>
              </a:rPr>
              <a:t>Cada modelo entrenado se almacena junto a un archivo JSON que actúa como contrato explícito entre el modelo y el servicio de inferencia. Permite que la API opere de forma genérica sin configuraciones codificadas manualmente.</a:t>
            </a:r>
          </a:p>
        </p:txBody>
      </p:sp>
      <p:sp>
        <p:nvSpPr>
          <p:cNvPr id="8" name="Rectangle 7"/>
          <p:cNvSpPr/>
          <p:nvPr/>
        </p:nvSpPr>
        <p:spPr>
          <a:xfrm>
            <a:off x="548640" y="155448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5448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64207"/>
            <a:ext cx="2407158" cy="502920"/>
          </a:xfrm>
          <a:prstGeom prst="rect">
            <a:avLst/>
          </a:prstGeom>
          <a:noFill/>
        </p:spPr>
        <p:txBody>
          <a:bodyPr wrap="square">
            <a:spAutoFit/>
          </a:bodyPr>
          <a:lstStyle/>
          <a:p>
            <a:pPr algn="l"/>
            <a:r>
              <a:rPr sz="1300" b="1" i="0">
                <a:solidFill>
                  <a:srgbClr val="8CC63F"/>
                </a:solidFill>
                <a:latin typeface="Calibri"/>
              </a:rPr>
              <a:t>Versión del target</a:t>
            </a:r>
          </a:p>
        </p:txBody>
      </p:sp>
      <p:sp>
        <p:nvSpPr>
          <p:cNvPr id="11" name="TextBox 10"/>
          <p:cNvSpPr txBox="1"/>
          <p:nvPr/>
        </p:nvSpPr>
        <p:spPr>
          <a:xfrm>
            <a:off x="685800" y="2231136"/>
            <a:ext cx="2407158" cy="1417320"/>
          </a:xfrm>
          <a:prstGeom prst="rect">
            <a:avLst/>
          </a:prstGeom>
          <a:noFill/>
        </p:spPr>
        <p:txBody>
          <a:bodyPr wrap="square">
            <a:spAutoFit/>
          </a:bodyPr>
          <a:lstStyle/>
          <a:p>
            <a:pPr algn="l"/>
            <a:r>
              <a:rPr sz="1200" b="0" i="0">
                <a:solidFill>
                  <a:srgbClr val="FFFFFF"/>
                </a:solidFill>
                <a:latin typeface="Calibri"/>
              </a:rPr>
              <a:t>Identifica cuál definición de variable objetivo usó este modelo.</a:t>
            </a:r>
          </a:p>
        </p:txBody>
      </p:sp>
      <p:sp>
        <p:nvSpPr>
          <p:cNvPr id="12" name="Rectangle 11"/>
          <p:cNvSpPr/>
          <p:nvPr/>
        </p:nvSpPr>
        <p:spPr>
          <a:xfrm>
            <a:off x="3348990" y="155448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8990" y="155448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6150" y="1664207"/>
            <a:ext cx="2407158" cy="502920"/>
          </a:xfrm>
          <a:prstGeom prst="rect">
            <a:avLst/>
          </a:prstGeom>
          <a:noFill/>
        </p:spPr>
        <p:txBody>
          <a:bodyPr wrap="square">
            <a:spAutoFit/>
          </a:bodyPr>
          <a:lstStyle/>
          <a:p>
            <a:pPr algn="l"/>
            <a:r>
              <a:rPr sz="1300" b="1" i="0">
                <a:solidFill>
                  <a:srgbClr val="8CC63F"/>
                </a:solidFill>
                <a:latin typeface="Calibri"/>
              </a:rPr>
              <a:t>Algoritmo y configuración</a:t>
            </a:r>
          </a:p>
        </p:txBody>
      </p:sp>
      <p:sp>
        <p:nvSpPr>
          <p:cNvPr id="15" name="TextBox 14"/>
          <p:cNvSpPr txBox="1"/>
          <p:nvPr/>
        </p:nvSpPr>
        <p:spPr>
          <a:xfrm>
            <a:off x="3486150" y="2231136"/>
            <a:ext cx="2407158" cy="1417320"/>
          </a:xfrm>
          <a:prstGeom prst="rect">
            <a:avLst/>
          </a:prstGeom>
          <a:noFill/>
        </p:spPr>
        <p:txBody>
          <a:bodyPr wrap="square">
            <a:spAutoFit/>
          </a:bodyPr>
          <a:lstStyle/>
          <a:p>
            <a:pPr algn="l"/>
            <a:r>
              <a:rPr sz="1200" b="0" i="0">
                <a:solidFill>
                  <a:srgbClr val="FFFFFF"/>
                </a:solidFill>
                <a:latin typeface="Calibri"/>
              </a:rPr>
              <a:t>Nombre del estimador e hiperparámetros clave para reproducibilidad.</a:t>
            </a:r>
          </a:p>
        </p:txBody>
      </p:sp>
      <p:sp>
        <p:nvSpPr>
          <p:cNvPr id="16" name="Rectangle 15"/>
          <p:cNvSpPr/>
          <p:nvPr/>
        </p:nvSpPr>
        <p:spPr>
          <a:xfrm>
            <a:off x="6149340" y="155448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9340" y="155448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6500" y="1664207"/>
            <a:ext cx="2407158" cy="502920"/>
          </a:xfrm>
          <a:prstGeom prst="rect">
            <a:avLst/>
          </a:prstGeom>
          <a:noFill/>
        </p:spPr>
        <p:txBody>
          <a:bodyPr wrap="square">
            <a:spAutoFit/>
          </a:bodyPr>
          <a:lstStyle/>
          <a:p>
            <a:pPr algn="l"/>
            <a:r>
              <a:rPr sz="1300" b="1" i="0">
                <a:solidFill>
                  <a:srgbClr val="8CC63F"/>
                </a:solidFill>
                <a:latin typeface="Calibri"/>
              </a:rPr>
              <a:t>Variables de entrada</a:t>
            </a:r>
          </a:p>
        </p:txBody>
      </p:sp>
      <p:sp>
        <p:nvSpPr>
          <p:cNvPr id="19" name="TextBox 18"/>
          <p:cNvSpPr txBox="1"/>
          <p:nvPr/>
        </p:nvSpPr>
        <p:spPr>
          <a:xfrm>
            <a:off x="6286500" y="2231136"/>
            <a:ext cx="2407158" cy="1417320"/>
          </a:xfrm>
          <a:prstGeom prst="rect">
            <a:avLst/>
          </a:prstGeom>
          <a:noFill/>
        </p:spPr>
        <p:txBody>
          <a:bodyPr wrap="square">
            <a:spAutoFit/>
          </a:bodyPr>
          <a:lstStyle/>
          <a:p>
            <a:pPr algn="l"/>
            <a:r>
              <a:rPr sz="1200" b="0" i="0">
                <a:solidFill>
                  <a:srgbClr val="FFFFFF"/>
                </a:solidFill>
                <a:latin typeface="Calibri"/>
              </a:rPr>
              <a:t>Lista exacta de features esperadas con tipos de datos.</a:t>
            </a:r>
          </a:p>
        </p:txBody>
      </p:sp>
      <p:sp>
        <p:nvSpPr>
          <p:cNvPr id="20" name="Rectangle 19"/>
          <p:cNvSpPr/>
          <p:nvPr/>
        </p:nvSpPr>
        <p:spPr>
          <a:xfrm>
            <a:off x="8949690" y="155448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9690" y="155448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6850" y="1664207"/>
            <a:ext cx="2407158" cy="502920"/>
          </a:xfrm>
          <a:prstGeom prst="rect">
            <a:avLst/>
          </a:prstGeom>
          <a:noFill/>
        </p:spPr>
        <p:txBody>
          <a:bodyPr wrap="square">
            <a:spAutoFit/>
          </a:bodyPr>
          <a:lstStyle/>
          <a:p>
            <a:pPr algn="l"/>
            <a:r>
              <a:rPr sz="1300" b="1" i="0">
                <a:solidFill>
                  <a:srgbClr val="8CC63F"/>
                </a:solidFill>
                <a:latin typeface="Calibri"/>
              </a:rPr>
              <a:t>Estrategia de imputación</a:t>
            </a:r>
          </a:p>
        </p:txBody>
      </p:sp>
      <p:sp>
        <p:nvSpPr>
          <p:cNvPr id="23" name="TextBox 22"/>
          <p:cNvSpPr txBox="1"/>
          <p:nvPr/>
        </p:nvSpPr>
        <p:spPr>
          <a:xfrm>
            <a:off x="9086850" y="2231136"/>
            <a:ext cx="2407158" cy="1417320"/>
          </a:xfrm>
          <a:prstGeom prst="rect">
            <a:avLst/>
          </a:prstGeom>
          <a:noFill/>
        </p:spPr>
        <p:txBody>
          <a:bodyPr wrap="square">
            <a:spAutoFit/>
          </a:bodyPr>
          <a:lstStyle/>
          <a:p>
            <a:pPr algn="l"/>
            <a:r>
              <a:rPr sz="1200" b="0" i="0">
                <a:solidFill>
                  <a:srgbClr val="FFFFFF"/>
                </a:solidFill>
                <a:latin typeface="Calibri"/>
              </a:rPr>
              <a:t>Cómo tratar valores faltantes durante la inferencia en producción.</a:t>
            </a:r>
          </a:p>
        </p:txBody>
      </p:sp>
      <p:sp>
        <p:nvSpPr>
          <p:cNvPr id="24" name="Rectangle 23"/>
          <p:cNvSpPr/>
          <p:nvPr/>
        </p:nvSpPr>
        <p:spPr>
          <a:xfrm>
            <a:off x="548640" y="393192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9319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041648"/>
            <a:ext cx="2407158" cy="502920"/>
          </a:xfrm>
          <a:prstGeom prst="rect">
            <a:avLst/>
          </a:prstGeom>
          <a:noFill/>
        </p:spPr>
        <p:txBody>
          <a:bodyPr wrap="square">
            <a:spAutoFit/>
          </a:bodyPr>
          <a:lstStyle/>
          <a:p>
            <a:pPr algn="l"/>
            <a:r>
              <a:rPr sz="1300" b="1" i="0">
                <a:solidFill>
                  <a:srgbClr val="8CC63F"/>
                </a:solidFill>
                <a:latin typeface="Calibri"/>
              </a:rPr>
              <a:t>Threshold operativo</a:t>
            </a:r>
          </a:p>
        </p:txBody>
      </p:sp>
      <p:sp>
        <p:nvSpPr>
          <p:cNvPr id="27" name="TextBox 26"/>
          <p:cNvSpPr txBox="1"/>
          <p:nvPr/>
        </p:nvSpPr>
        <p:spPr>
          <a:xfrm>
            <a:off x="685800" y="4608576"/>
            <a:ext cx="2407158" cy="1417320"/>
          </a:xfrm>
          <a:prstGeom prst="rect">
            <a:avLst/>
          </a:prstGeom>
          <a:noFill/>
        </p:spPr>
        <p:txBody>
          <a:bodyPr wrap="square">
            <a:spAutoFit/>
          </a:bodyPr>
          <a:lstStyle/>
          <a:p>
            <a:pPr algn="l"/>
            <a:r>
              <a:rPr sz="1200" b="0" i="0">
                <a:solidFill>
                  <a:srgbClr val="FFFFFF"/>
                </a:solidFill>
                <a:latin typeface="Calibri"/>
              </a:rPr>
              <a:t>Umbral optimizado por F2 sobre el conjunto de entrenamiento.</a:t>
            </a:r>
          </a:p>
        </p:txBody>
      </p:sp>
      <p:sp>
        <p:nvSpPr>
          <p:cNvPr id="28" name="Rectangle 27"/>
          <p:cNvSpPr/>
          <p:nvPr/>
        </p:nvSpPr>
        <p:spPr>
          <a:xfrm>
            <a:off x="3348990" y="393192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48990" y="39319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86150" y="4041648"/>
            <a:ext cx="2407158" cy="502920"/>
          </a:xfrm>
          <a:prstGeom prst="rect">
            <a:avLst/>
          </a:prstGeom>
          <a:noFill/>
        </p:spPr>
        <p:txBody>
          <a:bodyPr wrap="square">
            <a:spAutoFit/>
          </a:bodyPr>
          <a:lstStyle/>
          <a:p>
            <a:pPr algn="l"/>
            <a:r>
              <a:rPr sz="1300" b="1" i="0">
                <a:solidFill>
                  <a:srgbClr val="8CC63F"/>
                </a:solidFill>
                <a:latin typeface="Calibri"/>
              </a:rPr>
              <a:t>Métricas de validación</a:t>
            </a:r>
          </a:p>
        </p:txBody>
      </p:sp>
      <p:sp>
        <p:nvSpPr>
          <p:cNvPr id="31" name="TextBox 30"/>
          <p:cNvSpPr txBox="1"/>
          <p:nvPr/>
        </p:nvSpPr>
        <p:spPr>
          <a:xfrm>
            <a:off x="3486150" y="4608576"/>
            <a:ext cx="2407158" cy="1417320"/>
          </a:xfrm>
          <a:prstGeom prst="rect">
            <a:avLst/>
          </a:prstGeom>
          <a:noFill/>
        </p:spPr>
        <p:txBody>
          <a:bodyPr wrap="square">
            <a:spAutoFit/>
          </a:bodyPr>
          <a:lstStyle/>
          <a:p>
            <a:pPr algn="l"/>
            <a:r>
              <a:rPr sz="1200" b="0" i="0">
                <a:solidFill>
                  <a:srgbClr val="FFFFFF"/>
                </a:solidFill>
                <a:latin typeface="Calibri"/>
              </a:rPr>
              <a:t>AUC, Recall, F2, Brier-score del conjunto de prueba independiente.</a:t>
            </a:r>
          </a:p>
        </p:txBody>
      </p:sp>
      <p:sp>
        <p:nvSpPr>
          <p:cNvPr id="32" name="Rectangle 31"/>
          <p:cNvSpPr/>
          <p:nvPr/>
        </p:nvSpPr>
        <p:spPr>
          <a:xfrm>
            <a:off x="6149340" y="3931920"/>
            <a:ext cx="2663190" cy="221284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49340" y="39319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86500" y="4041648"/>
            <a:ext cx="2407158" cy="502920"/>
          </a:xfrm>
          <a:prstGeom prst="rect">
            <a:avLst/>
          </a:prstGeom>
          <a:noFill/>
        </p:spPr>
        <p:txBody>
          <a:bodyPr wrap="square">
            <a:spAutoFit/>
          </a:bodyPr>
          <a:lstStyle/>
          <a:p>
            <a:pPr algn="l"/>
            <a:r>
              <a:rPr sz="1300" b="1" i="0">
                <a:solidFill>
                  <a:srgbClr val="8CC63F"/>
                </a:solidFill>
                <a:latin typeface="Calibri"/>
              </a:rPr>
              <a:t>Información de calibración</a:t>
            </a:r>
          </a:p>
        </p:txBody>
      </p:sp>
      <p:sp>
        <p:nvSpPr>
          <p:cNvPr id="35" name="TextBox 34"/>
          <p:cNvSpPr txBox="1"/>
          <p:nvPr/>
        </p:nvSpPr>
        <p:spPr>
          <a:xfrm>
            <a:off x="6286500" y="4608576"/>
            <a:ext cx="2407158" cy="1417320"/>
          </a:xfrm>
          <a:prstGeom prst="rect">
            <a:avLst/>
          </a:prstGeom>
          <a:noFill/>
        </p:spPr>
        <p:txBody>
          <a:bodyPr wrap="square">
            <a:spAutoFit/>
          </a:bodyPr>
          <a:lstStyle/>
          <a:p>
            <a:pPr algn="l"/>
            <a:r>
              <a:rPr sz="1200" b="0" i="0">
                <a:solidFill>
                  <a:srgbClr val="FFFFFF"/>
                </a:solidFill>
                <a:latin typeface="Calibri"/>
              </a:rPr>
              <a:t>Método usado (isotónica / sigmoidal) y parámetros ajustados.</a:t>
            </a:r>
          </a:p>
        </p:txBody>
      </p:sp>
      <p:sp>
        <p:nvSpPr>
          <p:cNvPr id="36" name="TextBox 35"/>
          <p:cNvSpPr txBox="1"/>
          <p:nvPr/>
        </p:nvSpPr>
        <p:spPr>
          <a:xfrm>
            <a:off x="548640" y="6473952"/>
            <a:ext cx="11091672" cy="320040"/>
          </a:xfrm>
          <a:prstGeom prst="rect">
            <a:avLst/>
          </a:prstGeom>
          <a:noFill/>
        </p:spPr>
        <p:txBody>
          <a:bodyPr wrap="square">
            <a:spAutoFit/>
          </a:bodyPr>
          <a:lstStyle/>
          <a:p>
            <a:pPr algn="l"/>
            <a:r>
              <a:rPr sz="1300" b="1" i="0">
                <a:solidFill>
                  <a:srgbClr val="8CC63F"/>
                </a:solidFill>
                <a:latin typeface="Calibri"/>
              </a:rPr>
              <a:t>▸  El servicio carga automáticamente cualquier modelo que cumpla el esquema del manifiesto.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Resultados — Métricas del modelo final</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TextBox 6"/>
          <p:cNvSpPr txBox="1"/>
          <p:nvPr/>
        </p:nvSpPr>
        <p:spPr>
          <a:xfrm>
            <a:off x="548640" y="960120"/>
            <a:ext cx="11091672" cy="329184"/>
          </a:xfrm>
          <a:prstGeom prst="rect">
            <a:avLst/>
          </a:prstGeom>
          <a:noFill/>
        </p:spPr>
        <p:txBody>
          <a:bodyPr wrap="square">
            <a:spAutoFit/>
          </a:bodyPr>
          <a:lstStyle/>
          <a:p>
            <a:pPr algn="l"/>
            <a:r>
              <a:rPr sz="1200" b="0" i="1">
                <a:solidFill>
                  <a:srgbClr val="A8C4B4"/>
                </a:solidFill>
                <a:latin typeface="Calibri"/>
              </a:rPr>
              <a:t>XGBoost calibrado (isotónico)  ·  Target de máxima predictibilidad  ·  n_test = 4 856 registros</a:t>
            </a:r>
          </a:p>
        </p:txBody>
      </p:sp>
      <p:sp>
        <p:nvSpPr>
          <p:cNvPr id="8" name="Rectangle 7"/>
          <p:cNvSpPr/>
          <p:nvPr/>
        </p:nvSpPr>
        <p:spPr>
          <a:xfrm>
            <a:off x="548640" y="1389888"/>
            <a:ext cx="2663190" cy="173736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89888"/>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63040"/>
            <a:ext cx="2663190" cy="777240"/>
          </a:xfrm>
          <a:prstGeom prst="rect">
            <a:avLst/>
          </a:prstGeom>
          <a:noFill/>
        </p:spPr>
        <p:txBody>
          <a:bodyPr wrap="square">
            <a:spAutoFit/>
          </a:bodyPr>
          <a:lstStyle/>
          <a:p>
            <a:pPr algn="ctr"/>
            <a:r>
              <a:rPr sz="3400" b="1" i="0">
                <a:solidFill>
                  <a:srgbClr val="8CC63F"/>
                </a:solidFill>
                <a:latin typeface="Calibri"/>
              </a:rPr>
              <a:t>0.861</a:t>
            </a:r>
          </a:p>
        </p:txBody>
      </p:sp>
      <p:sp>
        <p:nvSpPr>
          <p:cNvPr id="11" name="TextBox 10"/>
          <p:cNvSpPr txBox="1"/>
          <p:nvPr/>
        </p:nvSpPr>
        <p:spPr>
          <a:xfrm>
            <a:off x="548640" y="2231136"/>
            <a:ext cx="2663190" cy="384048"/>
          </a:xfrm>
          <a:prstGeom prst="rect">
            <a:avLst/>
          </a:prstGeom>
          <a:noFill/>
        </p:spPr>
        <p:txBody>
          <a:bodyPr wrap="square">
            <a:spAutoFit/>
          </a:bodyPr>
          <a:lstStyle/>
          <a:p>
            <a:pPr algn="ctr"/>
            <a:r>
              <a:rPr sz="1400" b="1" i="0">
                <a:solidFill>
                  <a:srgbClr val="FFFFFF"/>
                </a:solidFill>
                <a:latin typeface="Calibri"/>
              </a:rPr>
              <a:t>ROC-AUC</a:t>
            </a:r>
          </a:p>
        </p:txBody>
      </p:sp>
      <p:sp>
        <p:nvSpPr>
          <p:cNvPr id="12" name="TextBox 11"/>
          <p:cNvSpPr txBox="1"/>
          <p:nvPr/>
        </p:nvSpPr>
        <p:spPr>
          <a:xfrm>
            <a:off x="548640" y="2633472"/>
            <a:ext cx="2663190" cy="402336"/>
          </a:xfrm>
          <a:prstGeom prst="rect">
            <a:avLst/>
          </a:prstGeom>
          <a:noFill/>
        </p:spPr>
        <p:txBody>
          <a:bodyPr wrap="square">
            <a:spAutoFit/>
          </a:bodyPr>
          <a:lstStyle/>
          <a:p>
            <a:pPr algn="ctr"/>
            <a:r>
              <a:rPr sz="1200" b="0" i="0">
                <a:solidFill>
                  <a:srgbClr val="A8C4B4"/>
                </a:solidFill>
                <a:latin typeface="Calibri"/>
              </a:rPr>
              <a:t>Discriminación global</a:t>
            </a:r>
          </a:p>
        </p:txBody>
      </p:sp>
      <p:sp>
        <p:nvSpPr>
          <p:cNvPr id="13" name="Rectangle 12"/>
          <p:cNvSpPr/>
          <p:nvPr/>
        </p:nvSpPr>
        <p:spPr>
          <a:xfrm>
            <a:off x="3348990" y="1389888"/>
            <a:ext cx="2663190" cy="173736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48990" y="1389888"/>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8990" y="1463040"/>
            <a:ext cx="2663190" cy="777240"/>
          </a:xfrm>
          <a:prstGeom prst="rect">
            <a:avLst/>
          </a:prstGeom>
          <a:noFill/>
        </p:spPr>
        <p:txBody>
          <a:bodyPr wrap="square">
            <a:spAutoFit/>
          </a:bodyPr>
          <a:lstStyle/>
          <a:p>
            <a:pPr algn="ctr"/>
            <a:r>
              <a:rPr sz="3400" b="1" i="0">
                <a:solidFill>
                  <a:srgbClr val="8CC63F"/>
                </a:solidFill>
                <a:latin typeface="Calibri"/>
              </a:rPr>
              <a:t>0.853</a:t>
            </a:r>
          </a:p>
        </p:txBody>
      </p:sp>
      <p:sp>
        <p:nvSpPr>
          <p:cNvPr id="16" name="TextBox 15"/>
          <p:cNvSpPr txBox="1"/>
          <p:nvPr/>
        </p:nvSpPr>
        <p:spPr>
          <a:xfrm>
            <a:off x="3348990" y="2231136"/>
            <a:ext cx="2663190" cy="384048"/>
          </a:xfrm>
          <a:prstGeom prst="rect">
            <a:avLst/>
          </a:prstGeom>
          <a:noFill/>
        </p:spPr>
        <p:txBody>
          <a:bodyPr wrap="square">
            <a:spAutoFit/>
          </a:bodyPr>
          <a:lstStyle/>
          <a:p>
            <a:pPr algn="ctr"/>
            <a:r>
              <a:rPr sz="1400" b="1" i="0">
                <a:solidFill>
                  <a:srgbClr val="FFFFFF"/>
                </a:solidFill>
                <a:latin typeface="Calibri"/>
              </a:rPr>
              <a:t>Recall</a:t>
            </a:r>
          </a:p>
        </p:txBody>
      </p:sp>
      <p:sp>
        <p:nvSpPr>
          <p:cNvPr id="17" name="TextBox 16"/>
          <p:cNvSpPr txBox="1"/>
          <p:nvPr/>
        </p:nvSpPr>
        <p:spPr>
          <a:xfrm>
            <a:off x="3348990" y="2633472"/>
            <a:ext cx="2663190" cy="402336"/>
          </a:xfrm>
          <a:prstGeom prst="rect">
            <a:avLst/>
          </a:prstGeom>
          <a:noFill/>
        </p:spPr>
        <p:txBody>
          <a:bodyPr wrap="square">
            <a:spAutoFit/>
          </a:bodyPr>
          <a:lstStyle/>
          <a:p>
            <a:pPr algn="ctr"/>
            <a:r>
              <a:rPr sz="1200" b="0" i="0">
                <a:solidFill>
                  <a:srgbClr val="A8C4B4"/>
                </a:solidFill>
                <a:latin typeface="Calibri"/>
              </a:rPr>
              <a:t>Detección de positivos</a:t>
            </a:r>
          </a:p>
        </p:txBody>
      </p:sp>
      <p:sp>
        <p:nvSpPr>
          <p:cNvPr id="18" name="Rectangle 17"/>
          <p:cNvSpPr/>
          <p:nvPr/>
        </p:nvSpPr>
        <p:spPr>
          <a:xfrm>
            <a:off x="6149340" y="1389888"/>
            <a:ext cx="2663190" cy="173736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9340" y="1389888"/>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9340" y="1463040"/>
            <a:ext cx="2663190" cy="777240"/>
          </a:xfrm>
          <a:prstGeom prst="rect">
            <a:avLst/>
          </a:prstGeom>
          <a:noFill/>
        </p:spPr>
        <p:txBody>
          <a:bodyPr wrap="square">
            <a:spAutoFit/>
          </a:bodyPr>
          <a:lstStyle/>
          <a:p>
            <a:pPr algn="ctr"/>
            <a:r>
              <a:rPr sz="3400" b="1" i="0">
                <a:solidFill>
                  <a:srgbClr val="8CC63F"/>
                </a:solidFill>
                <a:latin typeface="Calibri"/>
              </a:rPr>
              <a:t>0.677</a:t>
            </a:r>
          </a:p>
        </p:txBody>
      </p:sp>
      <p:sp>
        <p:nvSpPr>
          <p:cNvPr id="21" name="TextBox 20"/>
          <p:cNvSpPr txBox="1"/>
          <p:nvPr/>
        </p:nvSpPr>
        <p:spPr>
          <a:xfrm>
            <a:off x="6149340" y="2231136"/>
            <a:ext cx="2663190" cy="384048"/>
          </a:xfrm>
          <a:prstGeom prst="rect">
            <a:avLst/>
          </a:prstGeom>
          <a:noFill/>
        </p:spPr>
        <p:txBody>
          <a:bodyPr wrap="square">
            <a:spAutoFit/>
          </a:bodyPr>
          <a:lstStyle/>
          <a:p>
            <a:pPr algn="ctr"/>
            <a:r>
              <a:rPr sz="1400" b="1" i="0">
                <a:solidFill>
                  <a:srgbClr val="FFFFFF"/>
                </a:solidFill>
                <a:latin typeface="Calibri"/>
              </a:rPr>
              <a:t>F2-Score</a:t>
            </a:r>
          </a:p>
        </p:txBody>
      </p:sp>
      <p:sp>
        <p:nvSpPr>
          <p:cNvPr id="22" name="TextBox 21"/>
          <p:cNvSpPr txBox="1"/>
          <p:nvPr/>
        </p:nvSpPr>
        <p:spPr>
          <a:xfrm>
            <a:off x="6149340" y="2633472"/>
            <a:ext cx="2663190" cy="402336"/>
          </a:xfrm>
          <a:prstGeom prst="rect">
            <a:avLst/>
          </a:prstGeom>
          <a:noFill/>
        </p:spPr>
        <p:txBody>
          <a:bodyPr wrap="square">
            <a:spAutoFit/>
          </a:bodyPr>
          <a:lstStyle/>
          <a:p>
            <a:pPr algn="ctr"/>
            <a:r>
              <a:rPr sz="1200" b="0" i="0">
                <a:solidFill>
                  <a:srgbClr val="A8C4B4"/>
                </a:solidFill>
                <a:latin typeface="Calibri"/>
              </a:rPr>
              <a:t>Métrica de optimización</a:t>
            </a:r>
          </a:p>
        </p:txBody>
      </p:sp>
      <p:sp>
        <p:nvSpPr>
          <p:cNvPr id="23" name="Rectangle 22"/>
          <p:cNvSpPr/>
          <p:nvPr/>
        </p:nvSpPr>
        <p:spPr>
          <a:xfrm>
            <a:off x="8949690" y="1389888"/>
            <a:ext cx="2663190" cy="173736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9690" y="1389888"/>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49690" y="1463040"/>
            <a:ext cx="2663190" cy="777240"/>
          </a:xfrm>
          <a:prstGeom prst="rect">
            <a:avLst/>
          </a:prstGeom>
          <a:noFill/>
        </p:spPr>
        <p:txBody>
          <a:bodyPr wrap="square">
            <a:spAutoFit/>
          </a:bodyPr>
          <a:lstStyle/>
          <a:p>
            <a:pPr algn="ctr"/>
            <a:r>
              <a:rPr sz="3400" b="1" i="0">
                <a:solidFill>
                  <a:srgbClr val="8CC63F"/>
                </a:solidFill>
                <a:latin typeface="Calibri"/>
              </a:rPr>
              <a:t>0.097</a:t>
            </a:r>
          </a:p>
        </p:txBody>
      </p:sp>
      <p:sp>
        <p:nvSpPr>
          <p:cNvPr id="26" name="TextBox 25"/>
          <p:cNvSpPr txBox="1"/>
          <p:nvPr/>
        </p:nvSpPr>
        <p:spPr>
          <a:xfrm>
            <a:off x="8949690" y="2231136"/>
            <a:ext cx="2663190" cy="384048"/>
          </a:xfrm>
          <a:prstGeom prst="rect">
            <a:avLst/>
          </a:prstGeom>
          <a:noFill/>
        </p:spPr>
        <p:txBody>
          <a:bodyPr wrap="square">
            <a:spAutoFit/>
          </a:bodyPr>
          <a:lstStyle/>
          <a:p>
            <a:pPr algn="ctr"/>
            <a:r>
              <a:rPr sz="1400" b="1" i="0">
                <a:solidFill>
                  <a:srgbClr val="FFFFFF"/>
                </a:solidFill>
                <a:latin typeface="Calibri"/>
              </a:rPr>
              <a:t>Brier-score</a:t>
            </a:r>
          </a:p>
        </p:txBody>
      </p:sp>
      <p:sp>
        <p:nvSpPr>
          <p:cNvPr id="27" name="TextBox 26"/>
          <p:cNvSpPr txBox="1"/>
          <p:nvPr/>
        </p:nvSpPr>
        <p:spPr>
          <a:xfrm>
            <a:off x="8949690" y="2633472"/>
            <a:ext cx="2663190" cy="402336"/>
          </a:xfrm>
          <a:prstGeom prst="rect">
            <a:avLst/>
          </a:prstGeom>
          <a:noFill/>
        </p:spPr>
        <p:txBody>
          <a:bodyPr wrap="square">
            <a:spAutoFit/>
          </a:bodyPr>
          <a:lstStyle/>
          <a:p>
            <a:pPr algn="ctr"/>
            <a:r>
              <a:rPr sz="1200" b="0" i="0">
                <a:solidFill>
                  <a:srgbClr val="A8C4B4"/>
                </a:solidFill>
                <a:latin typeface="Calibri"/>
              </a:rPr>
              <a:t>Calibración de probs.</a:t>
            </a:r>
          </a:p>
        </p:txBody>
      </p:sp>
      <p:sp>
        <p:nvSpPr>
          <p:cNvPr id="28" name="TextBox 27"/>
          <p:cNvSpPr txBox="1"/>
          <p:nvPr/>
        </p:nvSpPr>
        <p:spPr>
          <a:xfrm>
            <a:off x="548640" y="3264408"/>
            <a:ext cx="11091672" cy="329184"/>
          </a:xfrm>
          <a:prstGeom prst="rect">
            <a:avLst/>
          </a:prstGeom>
          <a:noFill/>
        </p:spPr>
        <p:txBody>
          <a:bodyPr wrap="square">
            <a:spAutoFit/>
          </a:bodyPr>
          <a:lstStyle/>
          <a:p>
            <a:pPr algn="l"/>
            <a:r>
              <a:rPr sz="1300" b="1" i="0">
                <a:solidFill>
                  <a:srgbClr val="8CC63F"/>
                </a:solidFill>
                <a:latin typeface="Calibri"/>
              </a:rPr>
              <a:t>MÉTRICAS COMPLEMENTARIAS</a:t>
            </a:r>
          </a:p>
        </p:txBody>
      </p:sp>
      <p:sp>
        <p:nvSpPr>
          <p:cNvPr id="29" name="Rectangle 28"/>
          <p:cNvSpPr/>
          <p:nvPr/>
        </p:nvSpPr>
        <p:spPr>
          <a:xfrm>
            <a:off x="548640" y="3621024"/>
            <a:ext cx="11091672" cy="34747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639312"/>
            <a:ext cx="2029967" cy="292608"/>
          </a:xfrm>
          <a:prstGeom prst="rect">
            <a:avLst/>
          </a:prstGeom>
          <a:noFill/>
        </p:spPr>
        <p:txBody>
          <a:bodyPr wrap="square">
            <a:spAutoFit/>
          </a:bodyPr>
          <a:lstStyle/>
          <a:p>
            <a:pPr algn="l"/>
            <a:r>
              <a:rPr sz="1200" b="1" i="0">
                <a:solidFill>
                  <a:srgbClr val="0C2D2D"/>
                </a:solidFill>
                <a:latin typeface="Calibri"/>
              </a:rPr>
              <a:t>Métrica</a:t>
            </a:r>
          </a:p>
        </p:txBody>
      </p:sp>
      <p:sp>
        <p:nvSpPr>
          <p:cNvPr id="31" name="TextBox 30"/>
          <p:cNvSpPr txBox="1"/>
          <p:nvPr/>
        </p:nvSpPr>
        <p:spPr>
          <a:xfrm>
            <a:off x="2807208" y="3639312"/>
            <a:ext cx="1252728" cy="292608"/>
          </a:xfrm>
          <a:prstGeom prst="rect">
            <a:avLst/>
          </a:prstGeom>
          <a:noFill/>
        </p:spPr>
        <p:txBody>
          <a:bodyPr wrap="square">
            <a:spAutoFit/>
          </a:bodyPr>
          <a:lstStyle/>
          <a:p>
            <a:pPr algn="l"/>
            <a:r>
              <a:rPr sz="1200" b="1" i="0">
                <a:solidFill>
                  <a:srgbClr val="0C2D2D"/>
                </a:solidFill>
                <a:latin typeface="Calibri"/>
              </a:rPr>
              <a:t>Valor</a:t>
            </a:r>
          </a:p>
        </p:txBody>
      </p:sp>
      <p:sp>
        <p:nvSpPr>
          <p:cNvPr id="32" name="TextBox 31"/>
          <p:cNvSpPr txBox="1"/>
          <p:nvPr/>
        </p:nvSpPr>
        <p:spPr>
          <a:xfrm>
            <a:off x="4224528" y="3639312"/>
            <a:ext cx="7406640" cy="292608"/>
          </a:xfrm>
          <a:prstGeom prst="rect">
            <a:avLst/>
          </a:prstGeom>
          <a:noFill/>
        </p:spPr>
        <p:txBody>
          <a:bodyPr wrap="square">
            <a:spAutoFit/>
          </a:bodyPr>
          <a:lstStyle/>
          <a:p>
            <a:pPr algn="l"/>
            <a:r>
              <a:rPr sz="1200" b="1" i="0">
                <a:solidFill>
                  <a:srgbClr val="0C2D2D"/>
                </a:solidFill>
                <a:latin typeface="Calibri"/>
              </a:rPr>
              <a:t>Interpretación</a:t>
            </a:r>
          </a:p>
        </p:txBody>
      </p:sp>
      <p:sp>
        <p:nvSpPr>
          <p:cNvPr id="33" name="Rectangle 32"/>
          <p:cNvSpPr/>
          <p:nvPr/>
        </p:nvSpPr>
        <p:spPr>
          <a:xfrm>
            <a:off x="548640" y="3986784"/>
            <a:ext cx="11091672" cy="4389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050792"/>
            <a:ext cx="2029967" cy="329184"/>
          </a:xfrm>
          <a:prstGeom prst="rect">
            <a:avLst/>
          </a:prstGeom>
          <a:noFill/>
        </p:spPr>
        <p:txBody>
          <a:bodyPr wrap="square">
            <a:spAutoFit/>
          </a:bodyPr>
          <a:lstStyle/>
          <a:p>
            <a:pPr algn="l"/>
            <a:r>
              <a:rPr sz="1200" b="0" i="0">
                <a:solidFill>
                  <a:srgbClr val="FFFFFF"/>
                </a:solidFill>
                <a:latin typeface="Calibri"/>
              </a:rPr>
              <a:t>Precision</a:t>
            </a:r>
          </a:p>
        </p:txBody>
      </p:sp>
      <p:sp>
        <p:nvSpPr>
          <p:cNvPr id="35" name="TextBox 34"/>
          <p:cNvSpPr txBox="1"/>
          <p:nvPr/>
        </p:nvSpPr>
        <p:spPr>
          <a:xfrm>
            <a:off x="2807208" y="4050792"/>
            <a:ext cx="1252728" cy="329184"/>
          </a:xfrm>
          <a:prstGeom prst="rect">
            <a:avLst/>
          </a:prstGeom>
          <a:noFill/>
        </p:spPr>
        <p:txBody>
          <a:bodyPr wrap="square">
            <a:spAutoFit/>
          </a:bodyPr>
          <a:lstStyle/>
          <a:p>
            <a:pPr algn="l"/>
            <a:r>
              <a:rPr sz="1200" b="0" i="0">
                <a:solidFill>
                  <a:srgbClr val="FFFFFF"/>
                </a:solidFill>
                <a:latin typeface="Calibri"/>
              </a:rPr>
              <a:t>0.371</a:t>
            </a:r>
          </a:p>
        </p:txBody>
      </p:sp>
      <p:sp>
        <p:nvSpPr>
          <p:cNvPr id="36" name="TextBox 35"/>
          <p:cNvSpPr txBox="1"/>
          <p:nvPr/>
        </p:nvSpPr>
        <p:spPr>
          <a:xfrm>
            <a:off x="4224528" y="4050792"/>
            <a:ext cx="7406640" cy="329184"/>
          </a:xfrm>
          <a:prstGeom prst="rect">
            <a:avLst/>
          </a:prstGeom>
          <a:noFill/>
        </p:spPr>
        <p:txBody>
          <a:bodyPr wrap="square">
            <a:spAutoFit/>
          </a:bodyPr>
          <a:lstStyle/>
          <a:p>
            <a:pPr algn="l"/>
            <a:r>
              <a:rPr sz="1200" b="0" i="0">
                <a:solidFill>
                  <a:srgbClr val="FFFFFF"/>
                </a:solidFill>
                <a:latin typeface="Calibri"/>
              </a:rPr>
              <a:t>37 % de los marcados positivos lo son — deliberadamente bajo para mantener el recall alto.</a:t>
            </a:r>
          </a:p>
        </p:txBody>
      </p:sp>
      <p:sp>
        <p:nvSpPr>
          <p:cNvPr id="37" name="Rectangle 36"/>
          <p:cNvSpPr/>
          <p:nvPr/>
        </p:nvSpPr>
        <p:spPr>
          <a:xfrm>
            <a:off x="548640" y="4443984"/>
            <a:ext cx="11091672" cy="43891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4507992"/>
            <a:ext cx="2029967" cy="329184"/>
          </a:xfrm>
          <a:prstGeom prst="rect">
            <a:avLst/>
          </a:prstGeom>
          <a:noFill/>
        </p:spPr>
        <p:txBody>
          <a:bodyPr wrap="square">
            <a:spAutoFit/>
          </a:bodyPr>
          <a:lstStyle/>
          <a:p>
            <a:pPr algn="l"/>
            <a:r>
              <a:rPr sz="1200" b="0" i="0">
                <a:solidFill>
                  <a:srgbClr val="FFFFFF"/>
                </a:solidFill>
                <a:latin typeface="Calibri"/>
              </a:rPr>
              <a:t>Specificity</a:t>
            </a:r>
          </a:p>
        </p:txBody>
      </p:sp>
      <p:sp>
        <p:nvSpPr>
          <p:cNvPr id="39" name="TextBox 38"/>
          <p:cNvSpPr txBox="1"/>
          <p:nvPr/>
        </p:nvSpPr>
        <p:spPr>
          <a:xfrm>
            <a:off x="2807208" y="4507992"/>
            <a:ext cx="1252728" cy="329184"/>
          </a:xfrm>
          <a:prstGeom prst="rect">
            <a:avLst/>
          </a:prstGeom>
          <a:noFill/>
        </p:spPr>
        <p:txBody>
          <a:bodyPr wrap="square">
            <a:spAutoFit/>
          </a:bodyPr>
          <a:lstStyle/>
          <a:p>
            <a:pPr algn="l"/>
            <a:r>
              <a:rPr sz="1200" b="0" i="0">
                <a:solidFill>
                  <a:srgbClr val="FFFFFF"/>
                </a:solidFill>
                <a:latin typeface="Calibri"/>
              </a:rPr>
              <a:t>0.651</a:t>
            </a:r>
          </a:p>
        </p:txBody>
      </p:sp>
      <p:sp>
        <p:nvSpPr>
          <p:cNvPr id="40" name="TextBox 39"/>
          <p:cNvSpPr txBox="1"/>
          <p:nvPr/>
        </p:nvSpPr>
        <p:spPr>
          <a:xfrm>
            <a:off x="4224528" y="4507992"/>
            <a:ext cx="7406640" cy="329184"/>
          </a:xfrm>
          <a:prstGeom prst="rect">
            <a:avLst/>
          </a:prstGeom>
          <a:noFill/>
        </p:spPr>
        <p:txBody>
          <a:bodyPr wrap="square">
            <a:spAutoFit/>
          </a:bodyPr>
          <a:lstStyle/>
          <a:p>
            <a:pPr algn="l"/>
            <a:r>
              <a:rPr sz="1200" b="0" i="0">
                <a:solidFill>
                  <a:srgbClr val="FFFFFF"/>
                </a:solidFill>
                <a:latin typeface="Calibri"/>
              </a:rPr>
              <a:t>65 % de los negativos correctamente identificados.</a:t>
            </a:r>
          </a:p>
        </p:txBody>
      </p:sp>
      <p:sp>
        <p:nvSpPr>
          <p:cNvPr id="41" name="Rectangle 40"/>
          <p:cNvSpPr/>
          <p:nvPr/>
        </p:nvSpPr>
        <p:spPr>
          <a:xfrm>
            <a:off x="548640" y="4901184"/>
            <a:ext cx="11091672" cy="4389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4965192"/>
            <a:ext cx="2029967" cy="329184"/>
          </a:xfrm>
          <a:prstGeom prst="rect">
            <a:avLst/>
          </a:prstGeom>
          <a:noFill/>
        </p:spPr>
        <p:txBody>
          <a:bodyPr wrap="square">
            <a:spAutoFit/>
          </a:bodyPr>
          <a:lstStyle/>
          <a:p>
            <a:pPr algn="l"/>
            <a:r>
              <a:rPr sz="1200" b="0" i="0">
                <a:solidFill>
                  <a:srgbClr val="FFFFFF"/>
                </a:solidFill>
                <a:latin typeface="Calibri"/>
              </a:rPr>
              <a:t>Balanced Accuracy</a:t>
            </a:r>
          </a:p>
        </p:txBody>
      </p:sp>
      <p:sp>
        <p:nvSpPr>
          <p:cNvPr id="43" name="TextBox 42"/>
          <p:cNvSpPr txBox="1"/>
          <p:nvPr/>
        </p:nvSpPr>
        <p:spPr>
          <a:xfrm>
            <a:off x="2807208" y="4965192"/>
            <a:ext cx="1252728" cy="329184"/>
          </a:xfrm>
          <a:prstGeom prst="rect">
            <a:avLst/>
          </a:prstGeom>
          <a:noFill/>
        </p:spPr>
        <p:txBody>
          <a:bodyPr wrap="square">
            <a:spAutoFit/>
          </a:bodyPr>
          <a:lstStyle/>
          <a:p>
            <a:pPr algn="l"/>
            <a:r>
              <a:rPr sz="1200" b="0" i="0">
                <a:solidFill>
                  <a:srgbClr val="FFFFFF"/>
                </a:solidFill>
                <a:latin typeface="Calibri"/>
              </a:rPr>
              <a:t>0.752</a:t>
            </a:r>
          </a:p>
        </p:txBody>
      </p:sp>
      <p:sp>
        <p:nvSpPr>
          <p:cNvPr id="44" name="TextBox 43"/>
          <p:cNvSpPr txBox="1"/>
          <p:nvPr/>
        </p:nvSpPr>
        <p:spPr>
          <a:xfrm>
            <a:off x="4224528" y="4965192"/>
            <a:ext cx="7406640" cy="329184"/>
          </a:xfrm>
          <a:prstGeom prst="rect">
            <a:avLst/>
          </a:prstGeom>
          <a:noFill/>
        </p:spPr>
        <p:txBody>
          <a:bodyPr wrap="square">
            <a:spAutoFit/>
          </a:bodyPr>
          <a:lstStyle/>
          <a:p>
            <a:pPr algn="l"/>
            <a:r>
              <a:rPr sz="1200" b="0" i="0">
                <a:solidFill>
                  <a:srgbClr val="FFFFFF"/>
                </a:solidFill>
                <a:latin typeface="Calibri"/>
              </a:rPr>
              <a:t>Promedio de Recall y Specificity; corrige el desbalance de clases.</a:t>
            </a:r>
          </a:p>
        </p:txBody>
      </p:sp>
      <p:sp>
        <p:nvSpPr>
          <p:cNvPr id="45" name="Rectangle 44"/>
          <p:cNvSpPr/>
          <p:nvPr/>
        </p:nvSpPr>
        <p:spPr>
          <a:xfrm>
            <a:off x="548640" y="5358384"/>
            <a:ext cx="11091672" cy="43891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5422392"/>
            <a:ext cx="2029967" cy="329184"/>
          </a:xfrm>
          <a:prstGeom prst="rect">
            <a:avLst/>
          </a:prstGeom>
          <a:noFill/>
        </p:spPr>
        <p:txBody>
          <a:bodyPr wrap="square">
            <a:spAutoFit/>
          </a:bodyPr>
          <a:lstStyle/>
          <a:p>
            <a:pPr algn="l"/>
            <a:r>
              <a:rPr sz="1200" b="0" i="0">
                <a:solidFill>
                  <a:srgbClr val="FFFFFF"/>
                </a:solidFill>
                <a:latin typeface="Calibri"/>
              </a:rPr>
              <a:t>Tasa de FN</a:t>
            </a:r>
          </a:p>
        </p:txBody>
      </p:sp>
      <p:sp>
        <p:nvSpPr>
          <p:cNvPr id="47" name="TextBox 46"/>
          <p:cNvSpPr txBox="1"/>
          <p:nvPr/>
        </p:nvSpPr>
        <p:spPr>
          <a:xfrm>
            <a:off x="2807208" y="5422392"/>
            <a:ext cx="1252728" cy="329184"/>
          </a:xfrm>
          <a:prstGeom prst="rect">
            <a:avLst/>
          </a:prstGeom>
          <a:noFill/>
        </p:spPr>
        <p:txBody>
          <a:bodyPr wrap="square">
            <a:spAutoFit/>
          </a:bodyPr>
          <a:lstStyle/>
          <a:p>
            <a:pPr algn="l"/>
            <a:r>
              <a:rPr sz="1200" b="0" i="0">
                <a:solidFill>
                  <a:srgbClr val="FFFFFF"/>
                </a:solidFill>
                <a:latin typeface="Calibri"/>
              </a:rPr>
              <a:t>0.147</a:t>
            </a:r>
          </a:p>
        </p:txBody>
      </p:sp>
      <p:sp>
        <p:nvSpPr>
          <p:cNvPr id="48" name="TextBox 47"/>
          <p:cNvSpPr txBox="1"/>
          <p:nvPr/>
        </p:nvSpPr>
        <p:spPr>
          <a:xfrm>
            <a:off x="4224528" y="5422392"/>
            <a:ext cx="7406640" cy="329184"/>
          </a:xfrm>
          <a:prstGeom prst="rect">
            <a:avLst/>
          </a:prstGeom>
          <a:noFill/>
        </p:spPr>
        <p:txBody>
          <a:bodyPr wrap="square">
            <a:spAutoFit/>
          </a:bodyPr>
          <a:lstStyle/>
          <a:p>
            <a:pPr algn="l"/>
            <a:r>
              <a:rPr sz="1200" b="0" i="0">
                <a:solidFill>
                  <a:srgbClr val="FFFFFF"/>
                </a:solidFill>
                <a:latin typeface="Calibri"/>
              </a:rPr>
              <a:t>14.7 % de positivos verdaderos no detectados — métrica de mayor relevancia clínica.</a:t>
            </a:r>
          </a:p>
        </p:txBody>
      </p:sp>
      <p:sp>
        <p:nvSpPr>
          <p:cNvPr id="49" name="Rectangle 48"/>
          <p:cNvSpPr/>
          <p:nvPr/>
        </p:nvSpPr>
        <p:spPr>
          <a:xfrm>
            <a:off x="548640" y="5815584"/>
            <a:ext cx="11091672" cy="4389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5879592"/>
            <a:ext cx="2029967" cy="329184"/>
          </a:xfrm>
          <a:prstGeom prst="rect">
            <a:avLst/>
          </a:prstGeom>
          <a:noFill/>
        </p:spPr>
        <p:txBody>
          <a:bodyPr wrap="square">
            <a:spAutoFit/>
          </a:bodyPr>
          <a:lstStyle/>
          <a:p>
            <a:pPr algn="l"/>
            <a:r>
              <a:rPr sz="1200" b="0" i="0">
                <a:solidFill>
                  <a:srgbClr val="FFFFFF"/>
                </a:solidFill>
                <a:latin typeface="Calibri"/>
              </a:rPr>
              <a:t>Tasa pred. positiva</a:t>
            </a:r>
          </a:p>
        </p:txBody>
      </p:sp>
      <p:sp>
        <p:nvSpPr>
          <p:cNvPr id="51" name="TextBox 50"/>
          <p:cNvSpPr txBox="1"/>
          <p:nvPr/>
        </p:nvSpPr>
        <p:spPr>
          <a:xfrm>
            <a:off x="2807208" y="5879592"/>
            <a:ext cx="1252728" cy="329184"/>
          </a:xfrm>
          <a:prstGeom prst="rect">
            <a:avLst/>
          </a:prstGeom>
          <a:noFill/>
        </p:spPr>
        <p:txBody>
          <a:bodyPr wrap="square">
            <a:spAutoFit/>
          </a:bodyPr>
          <a:lstStyle/>
          <a:p>
            <a:pPr algn="l"/>
            <a:r>
              <a:rPr sz="1200" b="0" i="0">
                <a:solidFill>
                  <a:srgbClr val="FFFFFF"/>
                </a:solidFill>
                <a:latin typeface="Calibri"/>
              </a:rPr>
              <a:t>0.447</a:t>
            </a:r>
          </a:p>
        </p:txBody>
      </p:sp>
      <p:sp>
        <p:nvSpPr>
          <p:cNvPr id="52" name="TextBox 51"/>
          <p:cNvSpPr txBox="1"/>
          <p:nvPr/>
        </p:nvSpPr>
        <p:spPr>
          <a:xfrm>
            <a:off x="4224528" y="5879592"/>
            <a:ext cx="7406640" cy="329184"/>
          </a:xfrm>
          <a:prstGeom prst="rect">
            <a:avLst/>
          </a:prstGeom>
          <a:noFill/>
        </p:spPr>
        <p:txBody>
          <a:bodyPr wrap="square">
            <a:spAutoFit/>
          </a:bodyPr>
          <a:lstStyle/>
          <a:p>
            <a:pPr algn="l"/>
            <a:r>
              <a:rPr sz="1200" b="0" i="0">
                <a:solidFill>
                  <a:srgbClr val="FFFFFF"/>
                </a:solidFill>
                <a:latin typeface="Calibri"/>
              </a:rPr>
              <a:t>El modelo marca como candidato a valoración el 44.7 % del conjunto de prueba.</a:t>
            </a:r>
          </a:p>
        </p:txBody>
      </p:sp>
      <p:sp>
        <p:nvSpPr>
          <p:cNvPr id="53" name="Rectangle 52"/>
          <p:cNvSpPr/>
          <p:nvPr/>
        </p:nvSpPr>
        <p:spPr>
          <a:xfrm>
            <a:off x="548640" y="6272784"/>
            <a:ext cx="11091672" cy="43891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6336792"/>
            <a:ext cx="2029967" cy="329184"/>
          </a:xfrm>
          <a:prstGeom prst="rect">
            <a:avLst/>
          </a:prstGeom>
          <a:noFill/>
        </p:spPr>
        <p:txBody>
          <a:bodyPr wrap="square">
            <a:spAutoFit/>
          </a:bodyPr>
          <a:lstStyle/>
          <a:p>
            <a:pPr algn="l"/>
            <a:r>
              <a:rPr sz="1200" b="0" i="0">
                <a:solidFill>
                  <a:srgbClr val="FFFFFF"/>
                </a:solidFill>
                <a:latin typeface="Calibri"/>
              </a:rPr>
              <a:t>Threshold operativo</a:t>
            </a:r>
          </a:p>
        </p:txBody>
      </p:sp>
      <p:sp>
        <p:nvSpPr>
          <p:cNvPr id="55" name="TextBox 54"/>
          <p:cNvSpPr txBox="1"/>
          <p:nvPr/>
        </p:nvSpPr>
        <p:spPr>
          <a:xfrm>
            <a:off x="2807208" y="6336792"/>
            <a:ext cx="1252728" cy="329184"/>
          </a:xfrm>
          <a:prstGeom prst="rect">
            <a:avLst/>
          </a:prstGeom>
          <a:noFill/>
        </p:spPr>
        <p:txBody>
          <a:bodyPr wrap="square">
            <a:spAutoFit/>
          </a:bodyPr>
          <a:lstStyle/>
          <a:p>
            <a:pPr algn="l"/>
            <a:r>
              <a:rPr sz="1200" b="0" i="0">
                <a:solidFill>
                  <a:srgbClr val="FFFFFF"/>
                </a:solidFill>
                <a:latin typeface="Calibri"/>
              </a:rPr>
              <a:t>0.14</a:t>
            </a:r>
          </a:p>
        </p:txBody>
      </p:sp>
      <p:sp>
        <p:nvSpPr>
          <p:cNvPr id="56" name="TextBox 55"/>
          <p:cNvSpPr txBox="1"/>
          <p:nvPr/>
        </p:nvSpPr>
        <p:spPr>
          <a:xfrm>
            <a:off x="4224528" y="6336792"/>
            <a:ext cx="7406640" cy="329184"/>
          </a:xfrm>
          <a:prstGeom prst="rect">
            <a:avLst/>
          </a:prstGeom>
          <a:noFill/>
        </p:spPr>
        <p:txBody>
          <a:bodyPr wrap="square">
            <a:spAutoFit/>
          </a:bodyPr>
          <a:lstStyle/>
          <a:p>
            <a:pPr algn="l"/>
            <a:r>
              <a:rPr sz="1200" b="0" i="0">
                <a:solidFill>
                  <a:srgbClr val="FFFFFF"/>
                </a:solidFill>
                <a:latin typeface="Calibri"/>
              </a:rPr>
              <a:t>Optimizado por F2 sobre el conjunto de entrenamiento (rango global: 0.13–0.38).</a:t>
            </a:r>
          </a:p>
        </p:txBody>
      </p:sp>
      <p:sp>
        <p:nvSpPr>
          <p:cNvPr id="57" name="TextBox 56"/>
          <p:cNvSpPr txBox="1"/>
          <p:nvPr/>
        </p:nvSpPr>
        <p:spPr>
          <a:xfrm>
            <a:off x="548640" y="6601968"/>
            <a:ext cx="11091672" cy="256032"/>
          </a:xfrm>
          <a:prstGeom prst="rect">
            <a:avLst/>
          </a:prstGeom>
          <a:noFill/>
        </p:spPr>
        <p:txBody>
          <a:bodyPr wrap="square">
            <a:spAutoFit/>
          </a:bodyPr>
          <a:lstStyle/>
          <a:p>
            <a:pPr algn="l"/>
            <a:r>
              <a:rPr sz="1000" b="0" i="1">
                <a:solidFill>
                  <a:srgbClr val="A8C4B4"/>
                </a:solidFill>
                <a:latin typeface="Calibri"/>
              </a:rPr>
              <a:t>[Figura 15 — Matriz de confusión del modelo sobre el conjunto de prueba completo]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Análisis por subgrupos clínicos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TextBox 6"/>
          <p:cNvSpPr txBox="1"/>
          <p:nvPr/>
        </p:nvSpPr>
        <p:spPr>
          <a:xfrm>
            <a:off x="548640" y="960120"/>
            <a:ext cx="11091672" cy="329184"/>
          </a:xfrm>
          <a:prstGeom prst="rect">
            <a:avLst/>
          </a:prstGeom>
          <a:noFill/>
        </p:spPr>
        <p:txBody>
          <a:bodyPr wrap="square">
            <a:spAutoFit/>
          </a:bodyPr>
          <a:lstStyle/>
          <a:p>
            <a:pPr algn="l"/>
            <a:r>
              <a:rPr sz="1300" b="0" i="1">
                <a:solidFill>
                  <a:srgbClr val="A8C4B4"/>
                </a:solidFill>
                <a:latin typeface="Calibri"/>
              </a:rPr>
              <a:t>El modelo promedia señales heterogéneas. El desempeño varía significativamente entre subpoblaciones.</a:t>
            </a:r>
          </a:p>
        </p:txBody>
      </p:sp>
      <p:sp>
        <p:nvSpPr>
          <p:cNvPr id="8" name="Rectangle 7"/>
          <p:cNvSpPr/>
          <p:nvPr/>
        </p:nvSpPr>
        <p:spPr>
          <a:xfrm>
            <a:off x="457200" y="1389888"/>
            <a:ext cx="5577840" cy="50749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89888"/>
            <a:ext cx="557784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463040"/>
            <a:ext cx="5303520" cy="420624"/>
          </a:xfrm>
          <a:prstGeom prst="rect">
            <a:avLst/>
          </a:prstGeom>
          <a:noFill/>
        </p:spPr>
        <p:txBody>
          <a:bodyPr wrap="square">
            <a:spAutoFit/>
          </a:bodyPr>
          <a:lstStyle/>
          <a:p>
            <a:pPr algn="l"/>
            <a:r>
              <a:rPr sz="1400" b="1" i="0">
                <a:solidFill>
                  <a:srgbClr val="8CC63F"/>
                </a:solidFill>
                <a:latin typeface="Calibri"/>
              </a:rPr>
              <a:t>Desempeño por antecedente clínico</a:t>
            </a:r>
          </a:p>
        </p:txBody>
      </p:sp>
      <p:sp>
        <p:nvSpPr>
          <p:cNvPr id="11" name="Rectangle 10"/>
          <p:cNvSpPr/>
          <p:nvPr/>
        </p:nvSpPr>
        <p:spPr>
          <a:xfrm>
            <a:off x="502920" y="1920240"/>
            <a:ext cx="5440680" cy="80467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011680"/>
            <a:ext cx="2651760" cy="640080"/>
          </a:xfrm>
          <a:prstGeom prst="rect">
            <a:avLst/>
          </a:prstGeom>
          <a:noFill/>
        </p:spPr>
        <p:txBody>
          <a:bodyPr wrap="square">
            <a:spAutoFit/>
          </a:bodyPr>
          <a:lstStyle/>
          <a:p>
            <a:pPr algn="l"/>
            <a:r>
              <a:rPr sz="1200" b="0" i="0">
                <a:solidFill>
                  <a:srgbClr val="FFFFFF"/>
                </a:solidFill>
                <a:latin typeface="Calibri"/>
              </a:rPr>
              <a:t>Rango etario (bandas 10 años)</a:t>
            </a:r>
          </a:p>
        </p:txBody>
      </p:sp>
      <p:sp>
        <p:nvSpPr>
          <p:cNvPr id="13" name="TextBox 12"/>
          <p:cNvSpPr txBox="1"/>
          <p:nvPr/>
        </p:nvSpPr>
        <p:spPr>
          <a:xfrm>
            <a:off x="3310128" y="2011680"/>
            <a:ext cx="1097280" cy="640080"/>
          </a:xfrm>
          <a:prstGeom prst="rect">
            <a:avLst/>
          </a:prstGeom>
          <a:noFill/>
        </p:spPr>
        <p:txBody>
          <a:bodyPr wrap="square">
            <a:spAutoFit/>
          </a:bodyPr>
          <a:lstStyle/>
          <a:p>
            <a:pPr algn="l"/>
            <a:r>
              <a:rPr sz="1200" b="0" i="0">
                <a:solidFill>
                  <a:srgbClr val="A8C4B4"/>
                </a:solidFill>
                <a:latin typeface="Calibri"/>
              </a:rPr>
              <a:t>AUC 0.75 – 0.85</a:t>
            </a:r>
          </a:p>
        </p:txBody>
      </p:sp>
      <p:sp>
        <p:nvSpPr>
          <p:cNvPr id="14" name="TextBox 13"/>
          <p:cNvSpPr txBox="1"/>
          <p:nvPr/>
        </p:nvSpPr>
        <p:spPr>
          <a:xfrm>
            <a:off x="4443984" y="2011680"/>
            <a:ext cx="1444752" cy="640080"/>
          </a:xfrm>
          <a:prstGeom prst="rect">
            <a:avLst/>
          </a:prstGeom>
          <a:noFill/>
        </p:spPr>
        <p:txBody>
          <a:bodyPr wrap="square">
            <a:spAutoFit/>
          </a:bodyPr>
          <a:lstStyle/>
          <a:p>
            <a:pPr algn="l"/>
            <a:r>
              <a:rPr sz="1100" b="0" i="0">
                <a:solidFill>
                  <a:srgbClr val="FFFFFF"/>
                </a:solidFill>
                <a:latin typeface="Calibri"/>
              </a:rPr>
              <a:t>Estable ✓</a:t>
            </a:r>
          </a:p>
        </p:txBody>
      </p:sp>
      <p:sp>
        <p:nvSpPr>
          <p:cNvPr id="15" name="Rectangle 14"/>
          <p:cNvSpPr/>
          <p:nvPr/>
        </p:nvSpPr>
        <p:spPr>
          <a:xfrm>
            <a:off x="502920" y="2761488"/>
            <a:ext cx="5440680" cy="80467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852928"/>
            <a:ext cx="2651760" cy="640080"/>
          </a:xfrm>
          <a:prstGeom prst="rect">
            <a:avLst/>
          </a:prstGeom>
          <a:noFill/>
        </p:spPr>
        <p:txBody>
          <a:bodyPr wrap="square">
            <a:spAutoFit/>
          </a:bodyPr>
          <a:lstStyle/>
          <a:p>
            <a:pPr algn="l"/>
            <a:r>
              <a:rPr sz="1200" b="0" i="0">
                <a:solidFill>
                  <a:srgbClr val="FFFFFF"/>
                </a:solidFill>
                <a:latin typeface="Calibri"/>
              </a:rPr>
              <a:t>Antec. endocrinológicos</a:t>
            </a:r>
          </a:p>
        </p:txBody>
      </p:sp>
      <p:sp>
        <p:nvSpPr>
          <p:cNvPr id="17" name="TextBox 16"/>
          <p:cNvSpPr txBox="1"/>
          <p:nvPr/>
        </p:nvSpPr>
        <p:spPr>
          <a:xfrm>
            <a:off x="3310128" y="2852928"/>
            <a:ext cx="1097280" cy="640080"/>
          </a:xfrm>
          <a:prstGeom prst="rect">
            <a:avLst/>
          </a:prstGeom>
          <a:noFill/>
        </p:spPr>
        <p:txBody>
          <a:bodyPr wrap="square">
            <a:spAutoFit/>
          </a:bodyPr>
          <a:lstStyle/>
          <a:p>
            <a:pPr algn="l"/>
            <a:r>
              <a:rPr sz="1200" b="0" i="0">
                <a:solidFill>
                  <a:srgbClr val="A8C4B4"/>
                </a:solidFill>
                <a:latin typeface="Calibri"/>
              </a:rPr>
              <a:t>AUC ≈ 0.54</a:t>
            </a:r>
          </a:p>
        </p:txBody>
      </p:sp>
      <p:sp>
        <p:nvSpPr>
          <p:cNvPr id="18" name="TextBox 17"/>
          <p:cNvSpPr txBox="1"/>
          <p:nvPr/>
        </p:nvSpPr>
        <p:spPr>
          <a:xfrm>
            <a:off x="4443984" y="2852928"/>
            <a:ext cx="1444752" cy="640080"/>
          </a:xfrm>
          <a:prstGeom prst="rect">
            <a:avLst/>
          </a:prstGeom>
          <a:noFill/>
        </p:spPr>
        <p:txBody>
          <a:bodyPr wrap="square">
            <a:spAutoFit/>
          </a:bodyPr>
          <a:lstStyle/>
          <a:p>
            <a:pPr algn="l"/>
            <a:r>
              <a:rPr sz="1100" b="0" i="0">
                <a:solidFill>
                  <a:srgbClr val="FFAA44"/>
                </a:solidFill>
                <a:latin typeface="Calibri"/>
              </a:rPr>
              <a:t>⚠ Prácticamente aleatorio</a:t>
            </a:r>
          </a:p>
        </p:txBody>
      </p:sp>
      <p:sp>
        <p:nvSpPr>
          <p:cNvPr id="19" name="Rectangle 18"/>
          <p:cNvSpPr/>
          <p:nvPr/>
        </p:nvSpPr>
        <p:spPr>
          <a:xfrm>
            <a:off x="502920" y="3602736"/>
            <a:ext cx="5440680" cy="80467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694176"/>
            <a:ext cx="2651760" cy="640080"/>
          </a:xfrm>
          <a:prstGeom prst="rect">
            <a:avLst/>
          </a:prstGeom>
          <a:noFill/>
        </p:spPr>
        <p:txBody>
          <a:bodyPr wrap="square">
            <a:spAutoFit/>
          </a:bodyPr>
          <a:lstStyle/>
          <a:p>
            <a:pPr algn="l"/>
            <a:r>
              <a:rPr sz="1200" b="0" i="0">
                <a:solidFill>
                  <a:srgbClr val="FFFFFF"/>
                </a:solidFill>
                <a:latin typeface="Calibri"/>
              </a:rPr>
              <a:t>Antec. cardiovasculares</a:t>
            </a:r>
          </a:p>
        </p:txBody>
      </p:sp>
      <p:sp>
        <p:nvSpPr>
          <p:cNvPr id="21" name="TextBox 20"/>
          <p:cNvSpPr txBox="1"/>
          <p:nvPr/>
        </p:nvSpPr>
        <p:spPr>
          <a:xfrm>
            <a:off x="3310128" y="3694176"/>
            <a:ext cx="1097280" cy="640080"/>
          </a:xfrm>
          <a:prstGeom prst="rect">
            <a:avLst/>
          </a:prstGeom>
          <a:noFill/>
        </p:spPr>
        <p:txBody>
          <a:bodyPr wrap="square">
            <a:spAutoFit/>
          </a:bodyPr>
          <a:lstStyle/>
          <a:p>
            <a:pPr algn="l"/>
            <a:r>
              <a:rPr sz="1200" b="0" i="0">
                <a:solidFill>
                  <a:srgbClr val="A8C4B4"/>
                </a:solidFill>
                <a:latin typeface="Calibri"/>
              </a:rPr>
              <a:t>Tasa FN ≈ 24 %</a:t>
            </a:r>
          </a:p>
        </p:txBody>
      </p:sp>
      <p:sp>
        <p:nvSpPr>
          <p:cNvPr id="22" name="TextBox 21"/>
          <p:cNvSpPr txBox="1"/>
          <p:nvPr/>
        </p:nvSpPr>
        <p:spPr>
          <a:xfrm>
            <a:off x="4443984" y="3694176"/>
            <a:ext cx="1444752" cy="640080"/>
          </a:xfrm>
          <a:prstGeom prst="rect">
            <a:avLst/>
          </a:prstGeom>
          <a:noFill/>
        </p:spPr>
        <p:txBody>
          <a:bodyPr wrap="square">
            <a:spAutoFit/>
          </a:bodyPr>
          <a:lstStyle/>
          <a:p>
            <a:pPr algn="l"/>
            <a:r>
              <a:rPr sz="1100" b="0" i="0">
                <a:solidFill>
                  <a:srgbClr val="FFAA44"/>
                </a:solidFill>
                <a:latin typeface="Calibri"/>
              </a:rPr>
              <a:t>⚠ Peor detectados</a:t>
            </a:r>
          </a:p>
        </p:txBody>
      </p:sp>
      <p:sp>
        <p:nvSpPr>
          <p:cNvPr id="23" name="Rectangle 22"/>
          <p:cNvSpPr/>
          <p:nvPr/>
        </p:nvSpPr>
        <p:spPr>
          <a:xfrm>
            <a:off x="502920" y="4443984"/>
            <a:ext cx="5440680" cy="80467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4535424"/>
            <a:ext cx="2651760" cy="640080"/>
          </a:xfrm>
          <a:prstGeom prst="rect">
            <a:avLst/>
          </a:prstGeom>
          <a:noFill/>
        </p:spPr>
        <p:txBody>
          <a:bodyPr wrap="square">
            <a:spAutoFit/>
          </a:bodyPr>
          <a:lstStyle/>
          <a:p>
            <a:pPr algn="l"/>
            <a:r>
              <a:rPr sz="1200" b="0" i="0">
                <a:solidFill>
                  <a:srgbClr val="FFFFFF"/>
                </a:solidFill>
                <a:latin typeface="Calibri"/>
              </a:rPr>
              <a:t>Capítulo CIE-10 O (embarazo)</a:t>
            </a:r>
          </a:p>
        </p:txBody>
      </p:sp>
      <p:sp>
        <p:nvSpPr>
          <p:cNvPr id="25" name="TextBox 24"/>
          <p:cNvSpPr txBox="1"/>
          <p:nvPr/>
        </p:nvSpPr>
        <p:spPr>
          <a:xfrm>
            <a:off x="3310128" y="4535424"/>
            <a:ext cx="1097280" cy="640080"/>
          </a:xfrm>
          <a:prstGeom prst="rect">
            <a:avLst/>
          </a:prstGeom>
          <a:noFill/>
        </p:spPr>
        <p:txBody>
          <a:bodyPr wrap="square">
            <a:spAutoFit/>
          </a:bodyPr>
          <a:lstStyle/>
          <a:p>
            <a:pPr algn="l"/>
            <a:r>
              <a:rPr sz="1200" b="0" i="0">
                <a:solidFill>
                  <a:srgbClr val="A8C4B4"/>
                </a:solidFill>
                <a:latin typeface="Calibri"/>
              </a:rPr>
              <a:t>Alta predictibilidad</a:t>
            </a:r>
          </a:p>
        </p:txBody>
      </p:sp>
      <p:sp>
        <p:nvSpPr>
          <p:cNvPr id="26" name="TextBox 25"/>
          <p:cNvSpPr txBox="1"/>
          <p:nvPr/>
        </p:nvSpPr>
        <p:spPr>
          <a:xfrm>
            <a:off x="4443984" y="4535424"/>
            <a:ext cx="1444752" cy="640080"/>
          </a:xfrm>
          <a:prstGeom prst="rect">
            <a:avLst/>
          </a:prstGeom>
          <a:noFill/>
        </p:spPr>
        <p:txBody>
          <a:bodyPr wrap="square">
            <a:spAutoFit/>
          </a:bodyPr>
          <a:lstStyle/>
          <a:p>
            <a:pPr algn="l"/>
            <a:r>
              <a:rPr sz="1100" b="0" i="0">
                <a:solidFill>
                  <a:srgbClr val="8CC63F"/>
                </a:solidFill>
                <a:latin typeface="Calibri"/>
              </a:rPr>
              <a:t>Buena señal ✓</a:t>
            </a:r>
          </a:p>
        </p:txBody>
      </p:sp>
      <p:sp>
        <p:nvSpPr>
          <p:cNvPr id="27" name="Rectangle 26"/>
          <p:cNvSpPr/>
          <p:nvPr/>
        </p:nvSpPr>
        <p:spPr>
          <a:xfrm>
            <a:off x="502920" y="5285232"/>
            <a:ext cx="5440680" cy="804672"/>
          </a:xfrm>
          <a:prstGeom prst="rect">
            <a:avLst/>
          </a:prstGeom>
          <a:solidFill>
            <a:srgbClr val="091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5376672"/>
            <a:ext cx="2651760" cy="640080"/>
          </a:xfrm>
          <a:prstGeom prst="rect">
            <a:avLst/>
          </a:prstGeom>
          <a:noFill/>
        </p:spPr>
        <p:txBody>
          <a:bodyPr wrap="square">
            <a:spAutoFit/>
          </a:bodyPr>
          <a:lstStyle/>
          <a:p>
            <a:pPr algn="l"/>
            <a:r>
              <a:rPr sz="1200" b="0" i="0">
                <a:solidFill>
                  <a:srgbClr val="FFFFFF"/>
                </a:solidFill>
                <a:latin typeface="Calibri"/>
              </a:rPr>
              <a:t>Capítulo CIE-10 Z (preventivo)</a:t>
            </a:r>
          </a:p>
        </p:txBody>
      </p:sp>
      <p:sp>
        <p:nvSpPr>
          <p:cNvPr id="29" name="TextBox 28"/>
          <p:cNvSpPr txBox="1"/>
          <p:nvPr/>
        </p:nvSpPr>
        <p:spPr>
          <a:xfrm>
            <a:off x="3310128" y="5376672"/>
            <a:ext cx="1097280" cy="640080"/>
          </a:xfrm>
          <a:prstGeom prst="rect">
            <a:avLst/>
          </a:prstGeom>
          <a:noFill/>
        </p:spPr>
        <p:txBody>
          <a:bodyPr wrap="square">
            <a:spAutoFit/>
          </a:bodyPr>
          <a:lstStyle/>
          <a:p>
            <a:pPr algn="l"/>
            <a:r>
              <a:rPr sz="1200" b="0" i="0">
                <a:solidFill>
                  <a:srgbClr val="A8C4B4"/>
                </a:solidFill>
                <a:latin typeface="Calibri"/>
              </a:rPr>
              <a:t>Baja predictibilidad</a:t>
            </a:r>
          </a:p>
        </p:txBody>
      </p:sp>
      <p:sp>
        <p:nvSpPr>
          <p:cNvPr id="30" name="TextBox 29"/>
          <p:cNvSpPr txBox="1"/>
          <p:nvPr/>
        </p:nvSpPr>
        <p:spPr>
          <a:xfrm>
            <a:off x="4443984" y="5376672"/>
            <a:ext cx="1444752" cy="640080"/>
          </a:xfrm>
          <a:prstGeom prst="rect">
            <a:avLst/>
          </a:prstGeom>
          <a:noFill/>
        </p:spPr>
        <p:txBody>
          <a:bodyPr wrap="square">
            <a:spAutoFit/>
          </a:bodyPr>
          <a:lstStyle/>
          <a:p>
            <a:pPr algn="l"/>
            <a:r>
              <a:rPr sz="1100" b="0" i="0">
                <a:solidFill>
                  <a:srgbClr val="A8C4B4"/>
                </a:solidFill>
                <a:latin typeface="Calibri"/>
              </a:rPr>
              <a:t>Poco predecible</a:t>
            </a:r>
          </a:p>
        </p:txBody>
      </p:sp>
      <p:sp>
        <p:nvSpPr>
          <p:cNvPr id="31" name="Rectangle 30"/>
          <p:cNvSpPr/>
          <p:nvPr/>
        </p:nvSpPr>
        <p:spPr>
          <a:xfrm>
            <a:off x="6263640" y="1389888"/>
            <a:ext cx="5577840" cy="50749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1389888"/>
            <a:ext cx="557784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8232" y="1463040"/>
            <a:ext cx="5303520" cy="420624"/>
          </a:xfrm>
          <a:prstGeom prst="rect">
            <a:avLst/>
          </a:prstGeom>
          <a:noFill/>
        </p:spPr>
        <p:txBody>
          <a:bodyPr wrap="square">
            <a:spAutoFit/>
          </a:bodyPr>
          <a:lstStyle/>
          <a:p>
            <a:pPr algn="l"/>
            <a:r>
              <a:rPr sz="1400" b="1" i="0">
                <a:solidFill>
                  <a:srgbClr val="8CC63F"/>
                </a:solidFill>
                <a:latin typeface="Calibri"/>
              </a:rPr>
              <a:t>Fenotipos posoperatorios (PCA + K-Means)</a:t>
            </a:r>
          </a:p>
        </p:txBody>
      </p:sp>
      <p:sp>
        <p:nvSpPr>
          <p:cNvPr id="34" name="TextBox 33"/>
          <p:cNvSpPr txBox="1"/>
          <p:nvPr/>
        </p:nvSpPr>
        <p:spPr>
          <a:xfrm>
            <a:off x="6428232" y="1993392"/>
            <a:ext cx="5303520" cy="4297680"/>
          </a:xfrm>
          <a:prstGeom prst="rect">
            <a:avLst/>
          </a:prstGeom>
          <a:noFill/>
        </p:spPr>
        <p:txBody>
          <a:bodyPr wrap="square">
            <a:spAutoFit/>
          </a:bodyPr>
          <a:lstStyle/>
          <a:p>
            <a:pPr algn="l"/>
            <a:r>
              <a:rPr sz="1200" b="0" i="0">
                <a:solidFill>
                  <a:srgbClr val="FFFFFF"/>
                </a:solidFill>
                <a:latin typeface="Calibri"/>
              </a:rPr>
              <a:t>Se identificaron 5 fenotipos clínicamente distintos:
▸  4 fenotipos con 100 % de positivos, pero con
    perfiles preoperatorios completamente heterogéneos.
▸  1 fenotipo sin patrón clínico dominante.
Implicación: no existe un único fenotipo de 'paciente de riesgo'.
El modelo global atenúa señales que serían más discriminativas
en subpoblaciones específicas.
Esto sugiere modelos especializados por tipo de procedimiento
o perfil de comorbilidad como línea de mejora prioritaria.</a:t>
            </a:r>
          </a:p>
        </p:txBody>
      </p:sp>
      <p:sp>
        <p:nvSpPr>
          <p:cNvPr id="35" name="TextBox 34"/>
          <p:cNvSpPr txBox="1"/>
          <p:nvPr/>
        </p:nvSpPr>
        <p:spPr>
          <a:xfrm>
            <a:off x="457200" y="6565392"/>
            <a:ext cx="11365992" cy="274320"/>
          </a:xfrm>
          <a:prstGeom prst="rect">
            <a:avLst/>
          </a:prstGeom>
          <a:noFill/>
        </p:spPr>
        <p:txBody>
          <a:bodyPr wrap="square">
            <a:spAutoFit/>
          </a:bodyPr>
          <a:lstStyle/>
          <a:p>
            <a:pPr algn="l"/>
            <a:r>
              <a:rPr sz="1000" b="0" i="1">
                <a:solidFill>
                  <a:srgbClr val="A8C4B4"/>
                </a:solidFill>
                <a:latin typeface="Calibri"/>
              </a:rPr>
              <a:t>[Fig. 16 — Rendimiento por capítulo CIE-10]   [Fig. 17 — Fenotipos posoperatorios PCA]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Validación del pipeline como producto de software</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Rectangle 6"/>
          <p:cNvSpPr/>
          <p:nvPr/>
        </p:nvSpPr>
        <p:spPr>
          <a:xfrm>
            <a:off x="548640" y="960120"/>
            <a:ext cx="2663190" cy="53035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024128"/>
            <a:ext cx="2425446" cy="658368"/>
          </a:xfrm>
          <a:prstGeom prst="rect">
            <a:avLst/>
          </a:prstGeom>
          <a:noFill/>
        </p:spPr>
        <p:txBody>
          <a:bodyPr wrap="square">
            <a:spAutoFit/>
          </a:bodyPr>
          <a:lstStyle/>
          <a:p>
            <a:pPr algn="l"/>
            <a:r>
              <a:rPr sz="1300" b="1" i="0">
                <a:solidFill>
                  <a:srgbClr val="8CC63F"/>
                </a:solidFill>
                <a:latin typeface="Calibri"/>
              </a:rPr>
              <a:t>Suite de pruebas
unitarias</a:t>
            </a:r>
          </a:p>
        </p:txBody>
      </p:sp>
      <p:sp>
        <p:nvSpPr>
          <p:cNvPr id="10" name="Rectangle 9"/>
          <p:cNvSpPr/>
          <p:nvPr/>
        </p:nvSpPr>
        <p:spPr>
          <a:xfrm>
            <a:off x="676656" y="1755648"/>
            <a:ext cx="2425446" cy="420624"/>
          </a:xfrm>
          <a:prstGeom prst="rect">
            <a:avLst/>
          </a:prstGeom>
          <a:solidFill>
            <a:srgbClr val="2D6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773936"/>
            <a:ext cx="2425446" cy="384048"/>
          </a:xfrm>
          <a:prstGeom prst="rect">
            <a:avLst/>
          </a:prstGeom>
          <a:noFill/>
        </p:spPr>
        <p:txBody>
          <a:bodyPr wrap="square">
            <a:spAutoFit/>
          </a:bodyPr>
          <a:lstStyle/>
          <a:p>
            <a:pPr algn="ctr"/>
            <a:r>
              <a:rPr sz="1300" b="1" i="0">
                <a:solidFill>
                  <a:srgbClr val="FFFFFF"/>
                </a:solidFill>
                <a:latin typeface="Calibri"/>
              </a:rPr>
              <a:t>216 tests
pytest</a:t>
            </a:r>
          </a:p>
        </p:txBody>
      </p:sp>
      <p:sp>
        <p:nvSpPr>
          <p:cNvPr id="12" name="TextBox 11"/>
          <p:cNvSpPr txBox="1"/>
          <p:nvPr/>
        </p:nvSpPr>
        <p:spPr>
          <a:xfrm>
            <a:off x="676656" y="2267712"/>
            <a:ext cx="2425446" cy="804672"/>
          </a:xfrm>
          <a:prstGeom prst="rect">
            <a:avLst/>
          </a:prstGeom>
          <a:noFill/>
        </p:spPr>
        <p:txBody>
          <a:bodyPr wrap="square">
            <a:spAutoFit/>
          </a:bodyPr>
          <a:lstStyle/>
          <a:p>
            <a:pPr algn="l"/>
            <a:r>
              <a:rPr sz="1100" b="0" i="0">
                <a:solidFill>
                  <a:srgbClr val="FFFFFF"/>
                </a:solidFill>
                <a:latin typeface="Calibri"/>
              </a:rPr>
              <a:t>▸  Infraestructura: limpieza, carga, splits, entrenamiento, métricas, SHAP, reportes.</a:t>
            </a:r>
          </a:p>
        </p:txBody>
      </p:sp>
      <p:sp>
        <p:nvSpPr>
          <p:cNvPr id="13" name="TextBox 12"/>
          <p:cNvSpPr txBox="1"/>
          <p:nvPr/>
        </p:nvSpPr>
        <p:spPr>
          <a:xfrm>
            <a:off x="676656" y="3136391"/>
            <a:ext cx="2425446" cy="804672"/>
          </a:xfrm>
          <a:prstGeom prst="rect">
            <a:avLst/>
          </a:prstGeom>
          <a:noFill/>
        </p:spPr>
        <p:txBody>
          <a:bodyPr wrap="square">
            <a:spAutoFit/>
          </a:bodyPr>
          <a:lstStyle/>
          <a:p>
            <a:pPr algn="l"/>
            <a:r>
              <a:rPr sz="1100" b="0" i="0">
                <a:solidFill>
                  <a:srgbClr val="FFFFFF"/>
                </a:solidFill>
                <a:latin typeface="Calibri"/>
              </a:rPr>
              <a:t>▸  13 validadores clínicos de la variable objetivo con granularidad unitaria.</a:t>
            </a:r>
          </a:p>
        </p:txBody>
      </p:sp>
      <p:sp>
        <p:nvSpPr>
          <p:cNvPr id="14" name="TextBox 13"/>
          <p:cNvSpPr txBox="1"/>
          <p:nvPr/>
        </p:nvSpPr>
        <p:spPr>
          <a:xfrm>
            <a:off x="676656" y="4005072"/>
            <a:ext cx="2425446" cy="804672"/>
          </a:xfrm>
          <a:prstGeom prst="rect">
            <a:avLst/>
          </a:prstGeom>
          <a:noFill/>
        </p:spPr>
        <p:txBody>
          <a:bodyPr wrap="square">
            <a:spAutoFit/>
          </a:bodyPr>
          <a:lstStyle/>
          <a:p>
            <a:pPr algn="l"/>
            <a:r>
              <a:rPr sz="1100" b="0" i="0">
                <a:solidFill>
                  <a:srgbClr val="FFFFFF"/>
                </a:solidFill>
                <a:latin typeface="Calibri"/>
              </a:rPr>
              <a:t>▸  Cobertura de los módulos críticos del pipeline.</a:t>
            </a:r>
          </a:p>
        </p:txBody>
      </p:sp>
      <p:sp>
        <p:nvSpPr>
          <p:cNvPr id="15" name="Rectangle 14"/>
          <p:cNvSpPr/>
          <p:nvPr/>
        </p:nvSpPr>
        <p:spPr>
          <a:xfrm>
            <a:off x="3348990" y="960120"/>
            <a:ext cx="2663190" cy="53035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8990" y="9601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1024128"/>
            <a:ext cx="2425446" cy="658368"/>
          </a:xfrm>
          <a:prstGeom prst="rect">
            <a:avLst/>
          </a:prstGeom>
          <a:noFill/>
        </p:spPr>
        <p:txBody>
          <a:bodyPr wrap="square">
            <a:spAutoFit/>
          </a:bodyPr>
          <a:lstStyle/>
          <a:p>
            <a:pPr algn="l"/>
            <a:r>
              <a:rPr sz="1300" b="1" i="0">
                <a:solidFill>
                  <a:srgbClr val="8CC63F"/>
                </a:solidFill>
                <a:latin typeface="Calibri"/>
              </a:rPr>
              <a:t>Reportes automáticos
del pipeline</a:t>
            </a:r>
          </a:p>
        </p:txBody>
      </p:sp>
      <p:sp>
        <p:nvSpPr>
          <p:cNvPr id="18" name="Rectangle 17"/>
          <p:cNvSpPr/>
          <p:nvPr/>
        </p:nvSpPr>
        <p:spPr>
          <a:xfrm>
            <a:off x="3477006" y="1755648"/>
            <a:ext cx="2425446" cy="420624"/>
          </a:xfrm>
          <a:prstGeom prst="rect">
            <a:avLst/>
          </a:prstGeom>
          <a:solidFill>
            <a:srgbClr val="2D6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7006" y="1773936"/>
            <a:ext cx="2425446" cy="384048"/>
          </a:xfrm>
          <a:prstGeom prst="rect">
            <a:avLst/>
          </a:prstGeom>
          <a:noFill/>
        </p:spPr>
        <p:txBody>
          <a:bodyPr wrap="square">
            <a:spAutoFit/>
          </a:bodyPr>
          <a:lstStyle/>
          <a:p>
            <a:pPr algn="ctr"/>
            <a:r>
              <a:rPr sz="1300" b="1" i="0">
                <a:solidFill>
                  <a:srgbClr val="FFFFFF"/>
                </a:solidFill>
                <a:latin typeface="Calibri"/>
              </a:rPr>
              <a:t>JSON por ejecución</a:t>
            </a:r>
          </a:p>
        </p:txBody>
      </p:sp>
      <p:sp>
        <p:nvSpPr>
          <p:cNvPr id="20" name="TextBox 19"/>
          <p:cNvSpPr txBox="1"/>
          <p:nvPr/>
        </p:nvSpPr>
        <p:spPr>
          <a:xfrm>
            <a:off x="3477006" y="2267712"/>
            <a:ext cx="2425446" cy="804672"/>
          </a:xfrm>
          <a:prstGeom prst="rect">
            <a:avLst/>
          </a:prstGeom>
          <a:noFill/>
        </p:spPr>
        <p:txBody>
          <a:bodyPr wrap="square">
            <a:spAutoFit/>
          </a:bodyPr>
          <a:lstStyle/>
          <a:p>
            <a:pPr algn="l"/>
            <a:r>
              <a:rPr sz="1100" b="0" i="0">
                <a:solidFill>
                  <a:srgbClr val="FFFFFF"/>
                </a:solidFill>
                <a:latin typeface="Calibri"/>
              </a:rPr>
              <a:t>▸  Métricas clave verificables sin inspeccionar código fuente.</a:t>
            </a:r>
          </a:p>
        </p:txBody>
      </p:sp>
      <p:sp>
        <p:nvSpPr>
          <p:cNvPr id="21" name="TextBox 20"/>
          <p:cNvSpPr txBox="1"/>
          <p:nvPr/>
        </p:nvSpPr>
        <p:spPr>
          <a:xfrm>
            <a:off x="3477006" y="3136391"/>
            <a:ext cx="2425446" cy="804672"/>
          </a:xfrm>
          <a:prstGeom prst="rect">
            <a:avLst/>
          </a:prstGeom>
          <a:noFill/>
        </p:spPr>
        <p:txBody>
          <a:bodyPr wrap="square">
            <a:spAutoFit/>
          </a:bodyPr>
          <a:lstStyle/>
          <a:p>
            <a:pPr algn="l"/>
            <a:r>
              <a:rPr sz="1100" b="0" i="0">
                <a:solidFill>
                  <a:srgbClr val="FFFFFF"/>
                </a:solidFill>
                <a:latin typeface="Calibri"/>
              </a:rPr>
              <a:t>▸  Desviaciones detectables como prueba funcional del flujo completo.</a:t>
            </a:r>
          </a:p>
        </p:txBody>
      </p:sp>
      <p:sp>
        <p:nvSpPr>
          <p:cNvPr id="22" name="TextBox 21"/>
          <p:cNvSpPr txBox="1"/>
          <p:nvPr/>
        </p:nvSpPr>
        <p:spPr>
          <a:xfrm>
            <a:off x="3477006" y="4005072"/>
            <a:ext cx="2425446" cy="804672"/>
          </a:xfrm>
          <a:prstGeom prst="rect">
            <a:avLst/>
          </a:prstGeom>
          <a:noFill/>
        </p:spPr>
        <p:txBody>
          <a:bodyPr wrap="square">
            <a:spAutoFit/>
          </a:bodyPr>
          <a:lstStyle/>
          <a:p>
            <a:pPr algn="l"/>
            <a:r>
              <a:rPr sz="1100" b="0" i="0">
                <a:solidFill>
                  <a:srgbClr val="FFFFFF"/>
                </a:solidFill>
                <a:latin typeface="Calibri"/>
              </a:rPr>
              <a:t>▸  Generados en cada ejecución del DAG Airflow.</a:t>
            </a:r>
          </a:p>
        </p:txBody>
      </p:sp>
      <p:sp>
        <p:nvSpPr>
          <p:cNvPr id="23" name="Rectangle 22"/>
          <p:cNvSpPr/>
          <p:nvPr/>
        </p:nvSpPr>
        <p:spPr>
          <a:xfrm>
            <a:off x="6149340" y="960120"/>
            <a:ext cx="2663190" cy="53035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9340" y="9601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77355" y="1024128"/>
            <a:ext cx="2425446" cy="658368"/>
          </a:xfrm>
          <a:prstGeom prst="rect">
            <a:avLst/>
          </a:prstGeom>
          <a:noFill/>
        </p:spPr>
        <p:txBody>
          <a:bodyPr wrap="square">
            <a:spAutoFit/>
          </a:bodyPr>
          <a:lstStyle/>
          <a:p>
            <a:pPr algn="l"/>
            <a:r>
              <a:rPr sz="1300" b="1" i="0">
                <a:solidFill>
                  <a:srgbClr val="8CC63F"/>
                </a:solidFill>
                <a:latin typeface="Calibri"/>
              </a:rPr>
              <a:t>Validación de la
capa de inferencia</a:t>
            </a:r>
          </a:p>
        </p:txBody>
      </p:sp>
      <p:sp>
        <p:nvSpPr>
          <p:cNvPr id="26" name="Rectangle 25"/>
          <p:cNvSpPr/>
          <p:nvPr/>
        </p:nvSpPr>
        <p:spPr>
          <a:xfrm>
            <a:off x="6277355" y="1755648"/>
            <a:ext cx="2425446" cy="420624"/>
          </a:xfrm>
          <a:prstGeom prst="rect">
            <a:avLst/>
          </a:prstGeom>
          <a:solidFill>
            <a:srgbClr val="2D6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7355" y="1773936"/>
            <a:ext cx="2425446" cy="384048"/>
          </a:xfrm>
          <a:prstGeom prst="rect">
            <a:avLst/>
          </a:prstGeom>
          <a:noFill/>
        </p:spPr>
        <p:txBody>
          <a:bodyPr wrap="square">
            <a:spAutoFit/>
          </a:bodyPr>
          <a:lstStyle/>
          <a:p>
            <a:pPr algn="ctr"/>
            <a:r>
              <a:rPr sz="1300" b="1" i="0">
                <a:solidFill>
                  <a:srgbClr val="FFFFFF"/>
                </a:solidFill>
                <a:latin typeface="Calibri"/>
              </a:rPr>
              <a:t>3 componentes
testeables</a:t>
            </a:r>
          </a:p>
        </p:txBody>
      </p:sp>
      <p:sp>
        <p:nvSpPr>
          <p:cNvPr id="28" name="TextBox 27"/>
          <p:cNvSpPr txBox="1"/>
          <p:nvPr/>
        </p:nvSpPr>
        <p:spPr>
          <a:xfrm>
            <a:off x="6277355" y="2267712"/>
            <a:ext cx="2425446" cy="804672"/>
          </a:xfrm>
          <a:prstGeom prst="rect">
            <a:avLst/>
          </a:prstGeom>
          <a:noFill/>
        </p:spPr>
        <p:txBody>
          <a:bodyPr wrap="square">
            <a:spAutoFit/>
          </a:bodyPr>
          <a:lstStyle/>
          <a:p>
            <a:pPr algn="l"/>
            <a:r>
              <a:rPr sz="1100" b="0" i="0">
                <a:solidFill>
                  <a:srgbClr val="FFFFFF"/>
                </a:solidFill>
                <a:latin typeface="Calibri"/>
              </a:rPr>
              <a:t>▸  Preprocesador: solo admite features declaradas en el manifiesto.</a:t>
            </a:r>
          </a:p>
        </p:txBody>
      </p:sp>
      <p:sp>
        <p:nvSpPr>
          <p:cNvPr id="29" name="TextBox 28"/>
          <p:cNvSpPr txBox="1"/>
          <p:nvPr/>
        </p:nvSpPr>
        <p:spPr>
          <a:xfrm>
            <a:off x="6277355" y="3136391"/>
            <a:ext cx="2425446" cy="804672"/>
          </a:xfrm>
          <a:prstGeom prst="rect">
            <a:avLst/>
          </a:prstGeom>
          <a:noFill/>
        </p:spPr>
        <p:txBody>
          <a:bodyPr wrap="square">
            <a:spAutoFit/>
          </a:bodyPr>
          <a:lstStyle/>
          <a:p>
            <a:pPr algn="l"/>
            <a:r>
              <a:rPr sz="1100" b="0" i="0">
                <a:solidFill>
                  <a:srgbClr val="FFFFFF"/>
                </a:solidFill>
                <a:latin typeface="Calibri"/>
              </a:rPr>
              <a:t>▸  Motor: aplica threshold y retorna respuesta con metadatos de trazabilidad.</a:t>
            </a:r>
          </a:p>
        </p:txBody>
      </p:sp>
      <p:sp>
        <p:nvSpPr>
          <p:cNvPr id="30" name="TextBox 29"/>
          <p:cNvSpPr txBox="1"/>
          <p:nvPr/>
        </p:nvSpPr>
        <p:spPr>
          <a:xfrm>
            <a:off x="6277355" y="4005072"/>
            <a:ext cx="2425446" cy="804672"/>
          </a:xfrm>
          <a:prstGeom prst="rect">
            <a:avLst/>
          </a:prstGeom>
          <a:noFill/>
        </p:spPr>
        <p:txBody>
          <a:bodyPr wrap="square">
            <a:spAutoFit/>
          </a:bodyPr>
          <a:lstStyle/>
          <a:p>
            <a:pPr algn="l"/>
            <a:r>
              <a:rPr sz="1100" b="0" i="0">
                <a:solidFill>
                  <a:srgbClr val="FFFFFF"/>
                </a:solidFill>
                <a:latin typeface="Calibri"/>
              </a:rPr>
              <a:t>▸  Registro: descubrimiento automático de modelos al inicio del servicio.</a:t>
            </a:r>
          </a:p>
        </p:txBody>
      </p:sp>
      <p:sp>
        <p:nvSpPr>
          <p:cNvPr id="31" name="Rectangle 30"/>
          <p:cNvSpPr/>
          <p:nvPr/>
        </p:nvSpPr>
        <p:spPr>
          <a:xfrm>
            <a:off x="8949690" y="960120"/>
            <a:ext cx="2663190" cy="53035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49690" y="960120"/>
            <a:ext cx="2663190"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7706" y="1024128"/>
            <a:ext cx="2425446" cy="658368"/>
          </a:xfrm>
          <a:prstGeom prst="rect">
            <a:avLst/>
          </a:prstGeom>
          <a:noFill/>
        </p:spPr>
        <p:txBody>
          <a:bodyPr wrap="square">
            <a:spAutoFit/>
          </a:bodyPr>
          <a:lstStyle/>
          <a:p>
            <a:pPr algn="l"/>
            <a:r>
              <a:rPr sz="1300" b="1" i="0">
                <a:solidFill>
                  <a:srgbClr val="8CC63F"/>
                </a:solidFill>
                <a:latin typeface="Calibri"/>
              </a:rPr>
              <a:t>Suite de pruebas
E2E</a:t>
            </a:r>
          </a:p>
        </p:txBody>
      </p:sp>
      <p:sp>
        <p:nvSpPr>
          <p:cNvPr id="34" name="Rectangle 33"/>
          <p:cNvSpPr/>
          <p:nvPr/>
        </p:nvSpPr>
        <p:spPr>
          <a:xfrm>
            <a:off x="9077706" y="1755648"/>
            <a:ext cx="2425446" cy="420624"/>
          </a:xfrm>
          <a:prstGeom prst="rect">
            <a:avLst/>
          </a:prstGeom>
          <a:solidFill>
            <a:srgbClr val="2D6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77706" y="1773936"/>
            <a:ext cx="2425446" cy="384048"/>
          </a:xfrm>
          <a:prstGeom prst="rect">
            <a:avLst/>
          </a:prstGeom>
          <a:noFill/>
        </p:spPr>
        <p:txBody>
          <a:bodyPr wrap="square">
            <a:spAutoFit/>
          </a:bodyPr>
          <a:lstStyle/>
          <a:p>
            <a:pPr algn="ctr"/>
            <a:r>
              <a:rPr sz="1300" b="1" i="0">
                <a:solidFill>
                  <a:srgbClr val="FFFFFF"/>
                </a:solidFill>
                <a:latin typeface="Calibri"/>
              </a:rPr>
              <a:t>23 tests
integración</a:t>
            </a:r>
          </a:p>
        </p:txBody>
      </p:sp>
      <p:sp>
        <p:nvSpPr>
          <p:cNvPr id="36" name="TextBox 35"/>
          <p:cNvSpPr txBox="1"/>
          <p:nvPr/>
        </p:nvSpPr>
        <p:spPr>
          <a:xfrm>
            <a:off x="9077706" y="2267712"/>
            <a:ext cx="2425446" cy="804672"/>
          </a:xfrm>
          <a:prstGeom prst="rect">
            <a:avLst/>
          </a:prstGeom>
          <a:noFill/>
        </p:spPr>
        <p:txBody>
          <a:bodyPr wrap="square">
            <a:spAutoFit/>
          </a:bodyPr>
          <a:lstStyle/>
          <a:p>
            <a:pPr algn="l"/>
            <a:r>
              <a:rPr sz="1100" b="0" i="0">
                <a:solidFill>
                  <a:srgbClr val="FFFFFF"/>
                </a:solidFill>
                <a:latin typeface="Calibri"/>
              </a:rPr>
              <a:t>▸  Disponibilidad y estado del servicio.</a:t>
            </a:r>
          </a:p>
        </p:txBody>
      </p:sp>
      <p:sp>
        <p:nvSpPr>
          <p:cNvPr id="37" name="TextBox 36"/>
          <p:cNvSpPr txBox="1"/>
          <p:nvPr/>
        </p:nvSpPr>
        <p:spPr>
          <a:xfrm>
            <a:off x="9077706" y="3136391"/>
            <a:ext cx="2425446" cy="804672"/>
          </a:xfrm>
          <a:prstGeom prst="rect">
            <a:avLst/>
          </a:prstGeom>
          <a:noFill/>
        </p:spPr>
        <p:txBody>
          <a:bodyPr wrap="square">
            <a:spAutoFit/>
          </a:bodyPr>
          <a:lstStyle/>
          <a:p>
            <a:pPr algn="l"/>
            <a:r>
              <a:rPr sz="1100" b="0" i="0">
                <a:solidFill>
                  <a:srgbClr val="FFFFFF"/>
                </a:solidFill>
                <a:latin typeface="Calibri"/>
              </a:rPr>
              <a:t>▸  Descubrimiento y consistencia de modelos registrados.</a:t>
            </a:r>
          </a:p>
        </p:txBody>
      </p:sp>
      <p:sp>
        <p:nvSpPr>
          <p:cNvPr id="38" name="TextBox 37"/>
          <p:cNvSpPr txBox="1"/>
          <p:nvPr/>
        </p:nvSpPr>
        <p:spPr>
          <a:xfrm>
            <a:off x="9077706" y="4005072"/>
            <a:ext cx="2425446" cy="804672"/>
          </a:xfrm>
          <a:prstGeom prst="rect">
            <a:avLst/>
          </a:prstGeom>
          <a:noFill/>
        </p:spPr>
        <p:txBody>
          <a:bodyPr wrap="square">
            <a:spAutoFit/>
          </a:bodyPr>
          <a:lstStyle/>
          <a:p>
            <a:pPr algn="l"/>
            <a:r>
              <a:rPr sz="1100" b="0" i="0">
                <a:solidFill>
                  <a:srgbClr val="FFFFFF"/>
                </a:solidFill>
                <a:latin typeface="Calibri"/>
              </a:rPr>
              <a:t>▸  Predicción individual + 2 casos de referencia clínica.</a:t>
            </a:r>
          </a:p>
        </p:txBody>
      </p:sp>
      <p:sp>
        <p:nvSpPr>
          <p:cNvPr id="39" name="TextBox 38"/>
          <p:cNvSpPr txBox="1"/>
          <p:nvPr/>
        </p:nvSpPr>
        <p:spPr>
          <a:xfrm>
            <a:off x="9077706" y="4873752"/>
            <a:ext cx="2425446" cy="804672"/>
          </a:xfrm>
          <a:prstGeom prst="rect">
            <a:avLst/>
          </a:prstGeom>
          <a:noFill/>
        </p:spPr>
        <p:txBody>
          <a:bodyPr wrap="square">
            <a:spAutoFit/>
          </a:bodyPr>
          <a:lstStyle/>
          <a:p>
            <a:pPr algn="l"/>
            <a:r>
              <a:rPr sz="1100" b="0" i="0">
                <a:solidFill>
                  <a:srgbClr val="FFFFFF"/>
                </a:solidFill>
                <a:latin typeface="Calibri"/>
              </a:rPr>
              <a:t>▸  Rechazo de entradas inválidas · Predicción en lote · Robustez ante fallos.</a:t>
            </a:r>
          </a:p>
        </p:txBody>
      </p:sp>
      <p:sp>
        <p:nvSpPr>
          <p:cNvPr id="40" name="Rectangle 39"/>
          <p:cNvSpPr/>
          <p:nvPr/>
        </p:nvSpPr>
        <p:spPr>
          <a:xfrm>
            <a:off x="548640" y="6355080"/>
            <a:ext cx="11091672" cy="56692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6400800"/>
            <a:ext cx="10771632" cy="475488"/>
          </a:xfrm>
          <a:prstGeom prst="rect">
            <a:avLst/>
          </a:prstGeom>
          <a:noFill/>
        </p:spPr>
        <p:txBody>
          <a:bodyPr wrap="square">
            <a:spAutoFit/>
          </a:bodyPr>
          <a:lstStyle/>
          <a:p>
            <a:pPr algn="l"/>
            <a:r>
              <a:rPr sz="1200" b="1" i="0">
                <a:solidFill>
                  <a:srgbClr val="8CC63F"/>
                </a:solidFill>
                <a:latin typeface="Calibri"/>
              </a:rPr>
              <a:t>Resultado: en todos los casos el servicio respondió dentro de los márgenes esperados sin interrupciones en su operación. Los 2 casos de referencia clínica (bajo y alto riesgo) produjeron predicciones coherentes con el criterio médico.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Validación cualitativa con stakeholders clínicos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TextBox 6"/>
          <p:cNvSpPr txBox="1"/>
          <p:nvPr/>
        </p:nvSpPr>
        <p:spPr>
          <a:xfrm>
            <a:off x="548640" y="960120"/>
            <a:ext cx="11091672" cy="329184"/>
          </a:xfrm>
          <a:prstGeom prst="rect">
            <a:avLst/>
          </a:prstGeom>
          <a:noFill/>
        </p:spPr>
        <p:txBody>
          <a:bodyPr wrap="square">
            <a:spAutoFit/>
          </a:bodyPr>
          <a:lstStyle/>
          <a:p>
            <a:pPr algn="l"/>
            <a:r>
              <a:rPr sz="1300" b="0" i="1">
                <a:solidFill>
                  <a:srgbClr val="A8C4B4"/>
                </a:solidFill>
                <a:latin typeface="Calibri"/>
              </a:rPr>
              <a:t>Interlocución con el equipo clínico de la FVL a través de los tutores institucionales del proyecto.</a:t>
            </a:r>
          </a:p>
        </p:txBody>
      </p:sp>
      <p:sp>
        <p:nvSpPr>
          <p:cNvPr id="8" name="Rectangle 7"/>
          <p:cNvSpPr/>
          <p:nvPr/>
        </p:nvSpPr>
        <p:spPr>
          <a:xfrm>
            <a:off x="548640" y="1389888"/>
            <a:ext cx="5436108" cy="22677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89888"/>
            <a:ext cx="64008" cy="226771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99616"/>
            <a:ext cx="5125212" cy="457200"/>
          </a:xfrm>
          <a:prstGeom prst="rect">
            <a:avLst/>
          </a:prstGeom>
          <a:noFill/>
        </p:spPr>
        <p:txBody>
          <a:bodyPr wrap="square">
            <a:spAutoFit/>
          </a:bodyPr>
          <a:lstStyle/>
          <a:p>
            <a:pPr algn="l"/>
            <a:r>
              <a:rPr sz="1400" b="1" i="0">
                <a:solidFill>
                  <a:srgbClr val="8CC63F"/>
                </a:solidFill>
                <a:latin typeface="Calibri"/>
              </a:rPr>
              <a:t>Variable objetivo</a:t>
            </a:r>
          </a:p>
        </p:txBody>
      </p:sp>
      <p:sp>
        <p:nvSpPr>
          <p:cNvPr id="11" name="TextBox 10"/>
          <p:cNvSpPr txBox="1"/>
          <p:nvPr/>
        </p:nvSpPr>
        <p:spPr>
          <a:xfrm>
            <a:off x="731520" y="2011680"/>
            <a:ext cx="5125212" cy="1316736"/>
          </a:xfrm>
          <a:prstGeom prst="rect">
            <a:avLst/>
          </a:prstGeom>
          <a:noFill/>
        </p:spPr>
        <p:txBody>
          <a:bodyPr wrap="square">
            <a:spAutoFit/>
          </a:bodyPr>
          <a:lstStyle/>
          <a:p>
            <a:pPr algn="l"/>
            <a:r>
              <a:rPr sz="1200" b="0" i="0">
                <a:solidFill>
                  <a:srgbClr val="FFFFFF"/>
                </a:solidFill>
                <a:latin typeface="Calibri"/>
              </a:rPr>
              <a:t>La incorporación de hospitalización no anticipada como componente central fue avalada como clínicamente razonable por el equipo de anestesiología.</a:t>
            </a:r>
          </a:p>
        </p:txBody>
      </p:sp>
      <p:sp>
        <p:nvSpPr>
          <p:cNvPr id="12" name="TextBox 11"/>
          <p:cNvSpPr txBox="1"/>
          <p:nvPr/>
        </p:nvSpPr>
        <p:spPr>
          <a:xfrm>
            <a:off x="731520" y="3346704"/>
            <a:ext cx="5125212" cy="274320"/>
          </a:xfrm>
          <a:prstGeom prst="rect">
            <a:avLst/>
          </a:prstGeom>
          <a:noFill/>
        </p:spPr>
        <p:txBody>
          <a:bodyPr wrap="square">
            <a:spAutoFit/>
          </a:bodyPr>
          <a:lstStyle/>
          <a:p>
            <a:pPr algn="l"/>
            <a:r>
              <a:rPr sz="1200" b="1" i="0">
                <a:solidFill>
                  <a:srgbClr val="8CC63F"/>
                </a:solidFill>
                <a:latin typeface="Calibri"/>
              </a:rPr>
              <a:t>✓  Aprobada</a:t>
            </a:r>
          </a:p>
        </p:txBody>
      </p:sp>
      <p:sp>
        <p:nvSpPr>
          <p:cNvPr id="13" name="Rectangle 12"/>
          <p:cNvSpPr/>
          <p:nvPr/>
        </p:nvSpPr>
        <p:spPr>
          <a:xfrm>
            <a:off x="6167628" y="1389888"/>
            <a:ext cx="5436108" cy="22677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7628" y="1389888"/>
            <a:ext cx="64008" cy="226771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508" y="1499616"/>
            <a:ext cx="5125212" cy="457200"/>
          </a:xfrm>
          <a:prstGeom prst="rect">
            <a:avLst/>
          </a:prstGeom>
          <a:noFill/>
        </p:spPr>
        <p:txBody>
          <a:bodyPr wrap="square">
            <a:spAutoFit/>
          </a:bodyPr>
          <a:lstStyle/>
          <a:p>
            <a:pPr algn="l"/>
            <a:r>
              <a:rPr sz="1400" b="1" i="0">
                <a:solidFill>
                  <a:srgbClr val="8CC63F"/>
                </a:solidFill>
                <a:latin typeface="Calibri"/>
              </a:rPr>
              <a:t>Predictores dominantes</a:t>
            </a:r>
          </a:p>
        </p:txBody>
      </p:sp>
      <p:sp>
        <p:nvSpPr>
          <p:cNvPr id="16" name="TextBox 15"/>
          <p:cNvSpPr txBox="1"/>
          <p:nvPr/>
        </p:nvSpPr>
        <p:spPr>
          <a:xfrm>
            <a:off x="6350508" y="2011680"/>
            <a:ext cx="5125212" cy="1316736"/>
          </a:xfrm>
          <a:prstGeom prst="rect">
            <a:avLst/>
          </a:prstGeom>
          <a:noFill/>
        </p:spPr>
        <p:txBody>
          <a:bodyPr wrap="square">
            <a:spAutoFit/>
          </a:bodyPr>
          <a:lstStyle/>
          <a:p>
            <a:pPr algn="l"/>
            <a:r>
              <a:rPr sz="1200" b="0" i="0">
                <a:solidFill>
                  <a:srgbClr val="FFFFFF"/>
                </a:solidFill>
                <a:latin typeface="Calibri"/>
              </a:rPr>
              <a:t>Tipo de anestesia propuesta y severidad del procedimiento lideran el modelo — esperable desde el criterio clínico. También señalado como posible limitación: complejidad del procedimiento &gt; riesgo intrínseco del paciente.</a:t>
            </a:r>
          </a:p>
        </p:txBody>
      </p:sp>
      <p:sp>
        <p:nvSpPr>
          <p:cNvPr id="17" name="TextBox 16"/>
          <p:cNvSpPr txBox="1"/>
          <p:nvPr/>
        </p:nvSpPr>
        <p:spPr>
          <a:xfrm>
            <a:off x="6350508" y="3346704"/>
            <a:ext cx="5125212" cy="274320"/>
          </a:xfrm>
          <a:prstGeom prst="rect">
            <a:avLst/>
          </a:prstGeom>
          <a:noFill/>
        </p:spPr>
        <p:txBody>
          <a:bodyPr wrap="square">
            <a:spAutoFit/>
          </a:bodyPr>
          <a:lstStyle/>
          <a:p>
            <a:pPr algn="l"/>
            <a:r>
              <a:rPr sz="1200" b="1" i="0">
                <a:solidFill>
                  <a:srgbClr val="8CC63F"/>
                </a:solidFill>
                <a:latin typeface="Calibri"/>
              </a:rPr>
              <a:t>✓  Con matiz</a:t>
            </a:r>
          </a:p>
        </p:txBody>
      </p:sp>
      <p:sp>
        <p:nvSpPr>
          <p:cNvPr id="18" name="Rectangle 17"/>
          <p:cNvSpPr/>
          <p:nvPr/>
        </p:nvSpPr>
        <p:spPr>
          <a:xfrm>
            <a:off x="548640" y="3822191"/>
            <a:ext cx="5436108" cy="22677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22191"/>
            <a:ext cx="64008" cy="226771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31920"/>
            <a:ext cx="5125212" cy="457200"/>
          </a:xfrm>
          <a:prstGeom prst="rect">
            <a:avLst/>
          </a:prstGeom>
          <a:noFill/>
        </p:spPr>
        <p:txBody>
          <a:bodyPr wrap="square">
            <a:spAutoFit/>
          </a:bodyPr>
          <a:lstStyle/>
          <a:p>
            <a:pPr algn="l"/>
            <a:r>
              <a:rPr sz="1400" b="1" i="0">
                <a:solidFill>
                  <a:srgbClr val="8CC63F"/>
                </a:solidFill>
                <a:latin typeface="Calibri"/>
              </a:rPr>
              <a:t>Threshold y recall</a:t>
            </a:r>
          </a:p>
        </p:txBody>
      </p:sp>
      <p:sp>
        <p:nvSpPr>
          <p:cNvPr id="21" name="TextBox 20"/>
          <p:cNvSpPr txBox="1"/>
          <p:nvPr/>
        </p:nvSpPr>
        <p:spPr>
          <a:xfrm>
            <a:off x="731520" y="4443983"/>
            <a:ext cx="5125212" cy="1316736"/>
          </a:xfrm>
          <a:prstGeom prst="rect">
            <a:avLst/>
          </a:prstGeom>
          <a:noFill/>
        </p:spPr>
        <p:txBody>
          <a:bodyPr wrap="square">
            <a:spAutoFit/>
          </a:bodyPr>
          <a:lstStyle/>
          <a:p>
            <a:pPr algn="l"/>
            <a:r>
              <a:rPr sz="1200" b="0" i="0">
                <a:solidFill>
                  <a:srgbClr val="FFFFFF"/>
                </a:solidFill>
                <a:latin typeface="Calibri"/>
              </a:rPr>
              <a:t>Umbral de 0.14 y la priorización de sensibilidad sobre precisión fueron refrendados como adecuados. Con Recall 0.853, el sistema refiere el 44.7 % de la población de prueba.</a:t>
            </a:r>
          </a:p>
        </p:txBody>
      </p:sp>
      <p:sp>
        <p:nvSpPr>
          <p:cNvPr id="22" name="TextBox 21"/>
          <p:cNvSpPr txBox="1"/>
          <p:nvPr/>
        </p:nvSpPr>
        <p:spPr>
          <a:xfrm>
            <a:off x="731520" y="5779008"/>
            <a:ext cx="5125212" cy="274320"/>
          </a:xfrm>
          <a:prstGeom prst="rect">
            <a:avLst/>
          </a:prstGeom>
          <a:noFill/>
        </p:spPr>
        <p:txBody>
          <a:bodyPr wrap="square">
            <a:spAutoFit/>
          </a:bodyPr>
          <a:lstStyle/>
          <a:p>
            <a:pPr algn="l"/>
            <a:r>
              <a:rPr sz="1200" b="1" i="0">
                <a:solidFill>
                  <a:srgbClr val="8CC63F"/>
                </a:solidFill>
                <a:latin typeface="Calibri"/>
              </a:rPr>
              <a:t>✓  Aceptado</a:t>
            </a:r>
          </a:p>
        </p:txBody>
      </p:sp>
      <p:sp>
        <p:nvSpPr>
          <p:cNvPr id="23" name="Rectangle 22"/>
          <p:cNvSpPr/>
          <p:nvPr/>
        </p:nvSpPr>
        <p:spPr>
          <a:xfrm>
            <a:off x="6167628" y="3822191"/>
            <a:ext cx="5436108" cy="226771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67628" y="3822191"/>
            <a:ext cx="64008" cy="226771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508" y="3931920"/>
            <a:ext cx="5125212" cy="457200"/>
          </a:xfrm>
          <a:prstGeom prst="rect">
            <a:avLst/>
          </a:prstGeom>
          <a:noFill/>
        </p:spPr>
        <p:txBody>
          <a:bodyPr wrap="square">
            <a:spAutoFit/>
          </a:bodyPr>
          <a:lstStyle/>
          <a:p>
            <a:pPr algn="l"/>
            <a:r>
              <a:rPr sz="1400" b="1" i="0">
                <a:solidFill>
                  <a:srgbClr val="8CC63F"/>
                </a:solidFill>
                <a:latin typeface="Calibri"/>
              </a:rPr>
              <a:t>Costo diferencial FN / FP</a:t>
            </a:r>
          </a:p>
        </p:txBody>
      </p:sp>
      <p:sp>
        <p:nvSpPr>
          <p:cNvPr id="26" name="TextBox 25"/>
          <p:cNvSpPr txBox="1"/>
          <p:nvPr/>
        </p:nvSpPr>
        <p:spPr>
          <a:xfrm>
            <a:off x="6350508" y="4443983"/>
            <a:ext cx="5125212" cy="1316736"/>
          </a:xfrm>
          <a:prstGeom prst="rect">
            <a:avLst/>
          </a:prstGeom>
          <a:noFill/>
        </p:spPr>
        <p:txBody>
          <a:bodyPr wrap="square">
            <a:spAutoFit/>
          </a:bodyPr>
          <a:lstStyle/>
          <a:p>
            <a:pPr algn="l"/>
            <a:r>
              <a:rPr sz="1200" b="0" i="0">
                <a:solidFill>
                  <a:srgbClr val="FFFFFF"/>
                </a:solidFill>
                <a:latin typeface="Calibri"/>
              </a:rPr>
              <a:t>El equipo reconoció que el costo de un FN (paciente de riesgo que no recibe valoración) supera ampliamente al de un FP (paciente enviado innecesariamente). Esto justifica el diseño.</a:t>
            </a:r>
          </a:p>
        </p:txBody>
      </p:sp>
      <p:sp>
        <p:nvSpPr>
          <p:cNvPr id="27" name="TextBox 26"/>
          <p:cNvSpPr txBox="1"/>
          <p:nvPr/>
        </p:nvSpPr>
        <p:spPr>
          <a:xfrm>
            <a:off x="6350508" y="5779008"/>
            <a:ext cx="5125212" cy="274320"/>
          </a:xfrm>
          <a:prstGeom prst="rect">
            <a:avLst/>
          </a:prstGeom>
          <a:noFill/>
        </p:spPr>
        <p:txBody>
          <a:bodyPr wrap="square">
            <a:spAutoFit/>
          </a:bodyPr>
          <a:lstStyle/>
          <a:p>
            <a:pPr algn="l"/>
            <a:r>
              <a:rPr sz="1200" b="1" i="0">
                <a:solidFill>
                  <a:srgbClr val="8CC63F"/>
                </a:solidFill>
                <a:latin typeface="Calibri"/>
              </a:rPr>
              <a:t>✓  Justifica el diseño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Impacto del proyecto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Rectangle 6"/>
          <p:cNvSpPr/>
          <p:nvPr/>
        </p:nvSpPr>
        <p:spPr>
          <a:xfrm>
            <a:off x="548640" y="960120"/>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069848"/>
            <a:ext cx="3313176" cy="457200"/>
          </a:xfrm>
          <a:prstGeom prst="rect">
            <a:avLst/>
          </a:prstGeom>
          <a:noFill/>
        </p:spPr>
        <p:txBody>
          <a:bodyPr wrap="square">
            <a:spAutoFit/>
          </a:bodyPr>
          <a:lstStyle/>
          <a:p>
            <a:pPr algn="l"/>
            <a:r>
              <a:rPr sz="1400" b="1" i="0">
                <a:solidFill>
                  <a:srgbClr val="8CC63F"/>
                </a:solidFill>
                <a:latin typeface="Calibri"/>
              </a:rPr>
              <a:t>Operativo</a:t>
            </a:r>
          </a:p>
        </p:txBody>
      </p:sp>
      <p:sp>
        <p:nvSpPr>
          <p:cNvPr id="10" name="TextBox 9"/>
          <p:cNvSpPr txBox="1"/>
          <p:nvPr/>
        </p:nvSpPr>
        <p:spPr>
          <a:xfrm>
            <a:off x="694944" y="1581912"/>
            <a:ext cx="3313176" cy="1664208"/>
          </a:xfrm>
          <a:prstGeom prst="rect">
            <a:avLst/>
          </a:prstGeom>
          <a:noFill/>
        </p:spPr>
        <p:txBody>
          <a:bodyPr wrap="square">
            <a:spAutoFit/>
          </a:bodyPr>
          <a:lstStyle/>
          <a:p>
            <a:pPr algn="l"/>
            <a:r>
              <a:rPr sz="1200" b="0" i="0">
                <a:solidFill>
                  <a:srgbClr val="FFFFFF"/>
                </a:solidFill>
                <a:latin typeface="Calibri"/>
              </a:rPr>
              <a:t>Optimización de recursos especializados. Reducción potencial de consultas no pertinentes. Alivio de la carga operativa del personal asistencial.</a:t>
            </a:r>
          </a:p>
        </p:txBody>
      </p:sp>
      <p:sp>
        <p:nvSpPr>
          <p:cNvPr id="11" name="Rectangle 10"/>
          <p:cNvSpPr/>
          <p:nvPr/>
        </p:nvSpPr>
        <p:spPr>
          <a:xfrm>
            <a:off x="4300728" y="960120"/>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00728"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7032" y="1069848"/>
            <a:ext cx="3313176" cy="457200"/>
          </a:xfrm>
          <a:prstGeom prst="rect">
            <a:avLst/>
          </a:prstGeom>
          <a:noFill/>
        </p:spPr>
        <p:txBody>
          <a:bodyPr wrap="square">
            <a:spAutoFit/>
          </a:bodyPr>
          <a:lstStyle/>
          <a:p>
            <a:pPr algn="l"/>
            <a:r>
              <a:rPr sz="1400" b="1" i="0">
                <a:solidFill>
                  <a:srgbClr val="8CC63F"/>
                </a:solidFill>
                <a:latin typeface="Calibri"/>
              </a:rPr>
              <a:t>Clínico</a:t>
            </a:r>
          </a:p>
        </p:txBody>
      </p:sp>
      <p:sp>
        <p:nvSpPr>
          <p:cNvPr id="14" name="TextBox 13"/>
          <p:cNvSpPr txBox="1"/>
          <p:nvPr/>
        </p:nvSpPr>
        <p:spPr>
          <a:xfrm>
            <a:off x="4447032" y="1581912"/>
            <a:ext cx="3313176" cy="1664208"/>
          </a:xfrm>
          <a:prstGeom prst="rect">
            <a:avLst/>
          </a:prstGeom>
          <a:noFill/>
        </p:spPr>
        <p:txBody>
          <a:bodyPr wrap="square">
            <a:spAutoFit/>
          </a:bodyPr>
          <a:lstStyle/>
          <a:p>
            <a:pPr algn="l"/>
            <a:r>
              <a:rPr sz="1200" b="0" i="0">
                <a:solidFill>
                  <a:srgbClr val="FFFFFF"/>
                </a:solidFill>
                <a:latin typeface="Calibri"/>
              </a:rPr>
              <a:t>Identificación temprana y objetiva de pacientes con Recall 85.3 %. Apoyo al juicio clínico — no sustitución. Trazabilidad de cada predicción.</a:t>
            </a:r>
          </a:p>
        </p:txBody>
      </p:sp>
      <p:sp>
        <p:nvSpPr>
          <p:cNvPr id="15" name="Rectangle 14"/>
          <p:cNvSpPr/>
          <p:nvPr/>
        </p:nvSpPr>
        <p:spPr>
          <a:xfrm>
            <a:off x="8052816" y="960120"/>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9120" y="1069848"/>
            <a:ext cx="3313176" cy="457200"/>
          </a:xfrm>
          <a:prstGeom prst="rect">
            <a:avLst/>
          </a:prstGeom>
          <a:noFill/>
        </p:spPr>
        <p:txBody>
          <a:bodyPr wrap="square">
            <a:spAutoFit/>
          </a:bodyPr>
          <a:lstStyle/>
          <a:p>
            <a:pPr algn="l"/>
            <a:r>
              <a:rPr sz="1400" b="1" i="0">
                <a:solidFill>
                  <a:srgbClr val="8CC63F"/>
                </a:solidFill>
                <a:latin typeface="Calibri"/>
              </a:rPr>
              <a:t>Social</a:t>
            </a:r>
          </a:p>
        </p:txBody>
      </p:sp>
      <p:sp>
        <p:nvSpPr>
          <p:cNvPr id="18" name="TextBox 17"/>
          <p:cNvSpPr txBox="1"/>
          <p:nvPr/>
        </p:nvSpPr>
        <p:spPr>
          <a:xfrm>
            <a:off x="8199120" y="1581912"/>
            <a:ext cx="3313176" cy="1664208"/>
          </a:xfrm>
          <a:prstGeom prst="rect">
            <a:avLst/>
          </a:prstGeom>
          <a:noFill/>
        </p:spPr>
        <p:txBody>
          <a:bodyPr wrap="square">
            <a:spAutoFit/>
          </a:bodyPr>
          <a:lstStyle/>
          <a:p>
            <a:pPr algn="l"/>
            <a:r>
              <a:rPr sz="1200" b="0" i="0">
                <a:solidFill>
                  <a:srgbClr val="FFFFFF"/>
                </a:solidFill>
                <a:latin typeface="Calibri"/>
              </a:rPr>
              <a:t>Priorización consistente basada en perfil de riesgo → mayor equidad en el acceso a valoración especializada.</a:t>
            </a:r>
          </a:p>
        </p:txBody>
      </p:sp>
      <p:sp>
        <p:nvSpPr>
          <p:cNvPr id="19" name="Rectangle 18"/>
          <p:cNvSpPr/>
          <p:nvPr/>
        </p:nvSpPr>
        <p:spPr>
          <a:xfrm>
            <a:off x="548640" y="3520439"/>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520439"/>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630168"/>
            <a:ext cx="3313176" cy="457200"/>
          </a:xfrm>
          <a:prstGeom prst="rect">
            <a:avLst/>
          </a:prstGeom>
          <a:noFill/>
        </p:spPr>
        <p:txBody>
          <a:bodyPr wrap="square">
            <a:spAutoFit/>
          </a:bodyPr>
          <a:lstStyle/>
          <a:p>
            <a:pPr algn="l"/>
            <a:r>
              <a:rPr sz="1400" b="1" i="0">
                <a:solidFill>
                  <a:srgbClr val="8CC63F"/>
                </a:solidFill>
                <a:latin typeface="Calibri"/>
              </a:rPr>
              <a:t>Cultural / institucional</a:t>
            </a:r>
          </a:p>
        </p:txBody>
      </p:sp>
      <p:sp>
        <p:nvSpPr>
          <p:cNvPr id="22" name="TextBox 21"/>
          <p:cNvSpPr txBox="1"/>
          <p:nvPr/>
        </p:nvSpPr>
        <p:spPr>
          <a:xfrm>
            <a:off x="694944" y="4142231"/>
            <a:ext cx="3313176" cy="1664208"/>
          </a:xfrm>
          <a:prstGeom prst="rect">
            <a:avLst/>
          </a:prstGeom>
          <a:noFill/>
        </p:spPr>
        <p:txBody>
          <a:bodyPr wrap="square">
            <a:spAutoFit/>
          </a:bodyPr>
          <a:lstStyle/>
          <a:p>
            <a:pPr algn="l"/>
            <a:r>
              <a:rPr sz="1200" b="0" i="0">
                <a:solidFill>
                  <a:srgbClr val="FFFFFF"/>
                </a:solidFill>
                <a:latin typeface="Calibri"/>
              </a:rPr>
              <a:t>Fomenta adopción de gobernanza ética en IA: anonimización, trazabilidad y explicabilidad (SHAP).</a:t>
            </a:r>
          </a:p>
        </p:txBody>
      </p:sp>
      <p:sp>
        <p:nvSpPr>
          <p:cNvPr id="23" name="Rectangle 22"/>
          <p:cNvSpPr/>
          <p:nvPr/>
        </p:nvSpPr>
        <p:spPr>
          <a:xfrm>
            <a:off x="4300728" y="3520439"/>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00728" y="3520439"/>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47032" y="3630168"/>
            <a:ext cx="3313176" cy="457200"/>
          </a:xfrm>
          <a:prstGeom prst="rect">
            <a:avLst/>
          </a:prstGeom>
          <a:noFill/>
        </p:spPr>
        <p:txBody>
          <a:bodyPr wrap="square">
            <a:spAutoFit/>
          </a:bodyPr>
          <a:lstStyle/>
          <a:p>
            <a:pPr algn="l"/>
            <a:r>
              <a:rPr sz="1400" b="1" i="0">
                <a:solidFill>
                  <a:srgbClr val="8CC63F"/>
                </a:solidFill>
                <a:latin typeface="Calibri"/>
              </a:rPr>
              <a:t>Metodológico</a:t>
            </a:r>
          </a:p>
        </p:txBody>
      </p:sp>
      <p:sp>
        <p:nvSpPr>
          <p:cNvPr id="26" name="TextBox 25"/>
          <p:cNvSpPr txBox="1"/>
          <p:nvPr/>
        </p:nvSpPr>
        <p:spPr>
          <a:xfrm>
            <a:off x="4447032" y="4142231"/>
            <a:ext cx="3313176" cy="1664208"/>
          </a:xfrm>
          <a:prstGeom prst="rect">
            <a:avLst/>
          </a:prstGeom>
          <a:noFill/>
        </p:spPr>
        <p:txBody>
          <a:bodyPr wrap="square">
            <a:spAutoFit/>
          </a:bodyPr>
          <a:lstStyle/>
          <a:p>
            <a:pPr algn="l"/>
            <a:r>
              <a:rPr sz="1200" b="0" i="0">
                <a:solidFill>
                  <a:srgbClr val="FFFFFF"/>
                </a:solidFill>
                <a:latin typeface="Calibri"/>
              </a:rPr>
              <a:t>Pipeline CRISP-DM reproducible de extremo a extremo como referente para proyectos de IA en salud en Colombia.</a:t>
            </a:r>
          </a:p>
        </p:txBody>
      </p:sp>
      <p:sp>
        <p:nvSpPr>
          <p:cNvPr id="27" name="Rectangle 26"/>
          <p:cNvSpPr/>
          <p:nvPr/>
        </p:nvSpPr>
        <p:spPr>
          <a:xfrm>
            <a:off x="8052816" y="3520439"/>
            <a:ext cx="3587496" cy="2395728"/>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3520439"/>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99120" y="3630168"/>
            <a:ext cx="3313176" cy="457200"/>
          </a:xfrm>
          <a:prstGeom prst="rect">
            <a:avLst/>
          </a:prstGeom>
          <a:noFill/>
        </p:spPr>
        <p:txBody>
          <a:bodyPr wrap="square">
            <a:spAutoFit/>
          </a:bodyPr>
          <a:lstStyle/>
          <a:p>
            <a:pPr algn="l"/>
            <a:r>
              <a:rPr sz="1400" b="1" i="0">
                <a:solidFill>
                  <a:srgbClr val="8CC63F"/>
                </a:solidFill>
                <a:latin typeface="Calibri"/>
              </a:rPr>
              <a:t>Ambiental / económico</a:t>
            </a:r>
          </a:p>
        </p:txBody>
      </p:sp>
      <p:sp>
        <p:nvSpPr>
          <p:cNvPr id="30" name="TextBox 29"/>
          <p:cNvSpPr txBox="1"/>
          <p:nvPr/>
        </p:nvSpPr>
        <p:spPr>
          <a:xfrm>
            <a:off x="8199120" y="4142231"/>
            <a:ext cx="3313176" cy="1664208"/>
          </a:xfrm>
          <a:prstGeom prst="rect">
            <a:avLst/>
          </a:prstGeom>
          <a:noFill/>
        </p:spPr>
        <p:txBody>
          <a:bodyPr wrap="square">
            <a:spAutoFit/>
          </a:bodyPr>
          <a:lstStyle/>
          <a:p>
            <a:pPr algn="l"/>
            <a:r>
              <a:rPr sz="1200" b="0" i="0">
                <a:solidFill>
                  <a:srgbClr val="FFFFFF"/>
                </a:solidFill>
                <a:latin typeface="Calibri"/>
              </a:rPr>
              <a:t>Selección más precisa → potencialmente menos repetición de exámenes y desplazamientos innecesarios.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Limitaciones identificadas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05 · Resultados y validación</a:t>
            </a:r>
          </a:p>
        </p:txBody>
      </p:sp>
      <p:sp>
        <p:nvSpPr>
          <p:cNvPr id="7" name="Rectangle 6"/>
          <p:cNvSpPr/>
          <p:nvPr/>
        </p:nvSpPr>
        <p:spPr>
          <a:xfrm>
            <a:off x="548640" y="960120"/>
            <a:ext cx="3587496" cy="254203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64008" cy="254203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069848"/>
            <a:ext cx="502920" cy="475488"/>
          </a:xfrm>
          <a:prstGeom prst="rect">
            <a:avLst/>
          </a:prstGeom>
          <a:noFill/>
        </p:spPr>
        <p:txBody>
          <a:bodyPr wrap="square">
            <a:spAutoFit/>
          </a:bodyPr>
          <a:lstStyle/>
          <a:p>
            <a:pPr algn="l"/>
            <a:r>
              <a:rPr sz="1800" b="1" i="0">
                <a:solidFill>
                  <a:srgbClr val="FF8866"/>
                </a:solidFill>
                <a:latin typeface="Calibri"/>
              </a:rPr>
              <a:t>L1</a:t>
            </a:r>
          </a:p>
        </p:txBody>
      </p:sp>
      <p:sp>
        <p:nvSpPr>
          <p:cNvPr id="10" name="TextBox 9"/>
          <p:cNvSpPr txBox="1"/>
          <p:nvPr/>
        </p:nvSpPr>
        <p:spPr>
          <a:xfrm>
            <a:off x="1280160" y="1115568"/>
            <a:ext cx="2718816" cy="512064"/>
          </a:xfrm>
          <a:prstGeom prst="rect">
            <a:avLst/>
          </a:prstGeom>
          <a:noFill/>
        </p:spPr>
        <p:txBody>
          <a:bodyPr wrap="square">
            <a:spAutoFit/>
          </a:bodyPr>
          <a:lstStyle/>
          <a:p>
            <a:pPr algn="l"/>
            <a:r>
              <a:rPr sz="1300" b="1" i="0">
                <a:solidFill>
                  <a:srgbClr val="FFFFFF"/>
                </a:solidFill>
                <a:latin typeface="Calibri"/>
              </a:rPr>
              <a:t>Complejidad &gt; riesgo intrínseco</a:t>
            </a:r>
          </a:p>
        </p:txBody>
      </p:sp>
      <p:sp>
        <p:nvSpPr>
          <p:cNvPr id="11" name="TextBox 10"/>
          <p:cNvSpPr txBox="1"/>
          <p:nvPr/>
        </p:nvSpPr>
        <p:spPr>
          <a:xfrm>
            <a:off x="731520" y="1673352"/>
            <a:ext cx="3258312" cy="1700784"/>
          </a:xfrm>
          <a:prstGeom prst="rect">
            <a:avLst/>
          </a:prstGeom>
          <a:noFill/>
        </p:spPr>
        <p:txBody>
          <a:bodyPr wrap="square">
            <a:spAutoFit/>
          </a:bodyPr>
          <a:lstStyle/>
          <a:p>
            <a:pPr algn="l"/>
            <a:r>
              <a:rPr sz="1200" b="0" i="0">
                <a:solidFill>
                  <a:srgbClr val="A8C4B4"/>
                </a:solidFill>
                <a:latin typeface="Calibri"/>
              </a:rPr>
              <a:t>Variables dominantes: procedimiento y tipo de anestesia, no comorbilidades. El modelo detecta complejidad operativa más que riesgo del paciente.</a:t>
            </a:r>
          </a:p>
        </p:txBody>
      </p:sp>
      <p:sp>
        <p:nvSpPr>
          <p:cNvPr id="12" name="Rectangle 11"/>
          <p:cNvSpPr/>
          <p:nvPr/>
        </p:nvSpPr>
        <p:spPr>
          <a:xfrm>
            <a:off x="4300728" y="960120"/>
            <a:ext cx="3587496" cy="254203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0728" y="960120"/>
            <a:ext cx="64008" cy="254203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3608" y="1069848"/>
            <a:ext cx="502920" cy="475488"/>
          </a:xfrm>
          <a:prstGeom prst="rect">
            <a:avLst/>
          </a:prstGeom>
          <a:noFill/>
        </p:spPr>
        <p:txBody>
          <a:bodyPr wrap="square">
            <a:spAutoFit/>
          </a:bodyPr>
          <a:lstStyle/>
          <a:p>
            <a:pPr algn="l"/>
            <a:r>
              <a:rPr sz="1800" b="1" i="0">
                <a:solidFill>
                  <a:srgbClr val="FF8866"/>
                </a:solidFill>
                <a:latin typeface="Calibri"/>
              </a:rPr>
              <a:t>L2</a:t>
            </a:r>
          </a:p>
        </p:txBody>
      </p:sp>
      <p:sp>
        <p:nvSpPr>
          <p:cNvPr id="15" name="TextBox 14"/>
          <p:cNvSpPr txBox="1"/>
          <p:nvPr/>
        </p:nvSpPr>
        <p:spPr>
          <a:xfrm>
            <a:off x="5032248" y="1115568"/>
            <a:ext cx="2718816" cy="512064"/>
          </a:xfrm>
          <a:prstGeom prst="rect">
            <a:avLst/>
          </a:prstGeom>
          <a:noFill/>
        </p:spPr>
        <p:txBody>
          <a:bodyPr wrap="square">
            <a:spAutoFit/>
          </a:bodyPr>
          <a:lstStyle/>
          <a:p>
            <a:pPr algn="l"/>
            <a:r>
              <a:rPr sz="1300" b="1" i="0">
                <a:solidFill>
                  <a:srgbClr val="FFFFFF"/>
                </a:solidFill>
                <a:latin typeface="Calibri"/>
              </a:rPr>
              <a:t>Subgrupos peor detectados</a:t>
            </a:r>
          </a:p>
        </p:txBody>
      </p:sp>
      <p:sp>
        <p:nvSpPr>
          <p:cNvPr id="16" name="TextBox 15"/>
          <p:cNvSpPr txBox="1"/>
          <p:nvPr/>
        </p:nvSpPr>
        <p:spPr>
          <a:xfrm>
            <a:off x="4483608" y="1673352"/>
            <a:ext cx="3258312" cy="1700784"/>
          </a:xfrm>
          <a:prstGeom prst="rect">
            <a:avLst/>
          </a:prstGeom>
          <a:noFill/>
        </p:spPr>
        <p:txBody>
          <a:bodyPr wrap="square">
            <a:spAutoFit/>
          </a:bodyPr>
          <a:lstStyle/>
          <a:p>
            <a:pPr algn="l"/>
            <a:r>
              <a:rPr sz="1200" b="0" i="0">
                <a:solidFill>
                  <a:srgbClr val="A8C4B4"/>
                </a:solidFill>
                <a:latin typeface="Calibri"/>
              </a:rPr>
              <a:t>Endocrinológicos: AUC ≈ 0.54. Cardiovasculares: FN ≈ 24 %. Precisamente quienes más se beneficiarían de valoración formal.</a:t>
            </a:r>
          </a:p>
        </p:txBody>
      </p:sp>
      <p:sp>
        <p:nvSpPr>
          <p:cNvPr id="17" name="Rectangle 16"/>
          <p:cNvSpPr/>
          <p:nvPr/>
        </p:nvSpPr>
        <p:spPr>
          <a:xfrm>
            <a:off x="8052816" y="960120"/>
            <a:ext cx="3587496" cy="254203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2816" y="960120"/>
            <a:ext cx="64008" cy="254203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5695" y="1069848"/>
            <a:ext cx="502920" cy="475488"/>
          </a:xfrm>
          <a:prstGeom prst="rect">
            <a:avLst/>
          </a:prstGeom>
          <a:noFill/>
        </p:spPr>
        <p:txBody>
          <a:bodyPr wrap="square">
            <a:spAutoFit/>
          </a:bodyPr>
          <a:lstStyle/>
          <a:p>
            <a:pPr algn="l"/>
            <a:r>
              <a:rPr sz="1800" b="1" i="0">
                <a:solidFill>
                  <a:srgbClr val="FF8866"/>
                </a:solidFill>
                <a:latin typeface="Calibri"/>
              </a:rPr>
              <a:t>L3</a:t>
            </a:r>
          </a:p>
        </p:txBody>
      </p:sp>
      <p:sp>
        <p:nvSpPr>
          <p:cNvPr id="20" name="TextBox 19"/>
          <p:cNvSpPr txBox="1"/>
          <p:nvPr/>
        </p:nvSpPr>
        <p:spPr>
          <a:xfrm>
            <a:off x="8784336" y="1115568"/>
            <a:ext cx="2718816" cy="512064"/>
          </a:xfrm>
          <a:prstGeom prst="rect">
            <a:avLst/>
          </a:prstGeom>
          <a:noFill/>
        </p:spPr>
        <p:txBody>
          <a:bodyPr wrap="square">
            <a:spAutoFit/>
          </a:bodyPr>
          <a:lstStyle/>
          <a:p>
            <a:pPr algn="l"/>
            <a:r>
              <a:rPr sz="1300" b="1" i="0">
                <a:solidFill>
                  <a:srgbClr val="FFFFFF"/>
                </a:solidFill>
                <a:latin typeface="Calibri"/>
              </a:rPr>
              <a:t>Sin validación clínica formal</a:t>
            </a:r>
          </a:p>
        </p:txBody>
      </p:sp>
      <p:sp>
        <p:nvSpPr>
          <p:cNvPr id="21" name="TextBox 20"/>
          <p:cNvSpPr txBox="1"/>
          <p:nvPr/>
        </p:nvSpPr>
        <p:spPr>
          <a:xfrm>
            <a:off x="8235695" y="1673352"/>
            <a:ext cx="3258312" cy="1700784"/>
          </a:xfrm>
          <a:prstGeom prst="rect">
            <a:avLst/>
          </a:prstGeom>
          <a:noFill/>
        </p:spPr>
        <p:txBody>
          <a:bodyPr wrap="square">
            <a:spAutoFit/>
          </a:bodyPr>
          <a:lstStyle/>
          <a:p>
            <a:pPr algn="l"/>
            <a:r>
              <a:rPr sz="1200" b="0" i="0">
                <a:solidFill>
                  <a:srgbClr val="A8C4B4"/>
                </a:solidFill>
                <a:latin typeface="Calibri"/>
              </a:rPr>
              <a:t>El modelo no fue evaluado por anestesiólogos en casos individuales reales. No es posible afirmar seguridad asistencial directa.</a:t>
            </a:r>
          </a:p>
        </p:txBody>
      </p:sp>
      <p:sp>
        <p:nvSpPr>
          <p:cNvPr id="22" name="Rectangle 21"/>
          <p:cNvSpPr/>
          <p:nvPr/>
        </p:nvSpPr>
        <p:spPr>
          <a:xfrm>
            <a:off x="548640" y="3685032"/>
            <a:ext cx="3587496" cy="254203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685032"/>
            <a:ext cx="64008" cy="254203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794760"/>
            <a:ext cx="502920" cy="475488"/>
          </a:xfrm>
          <a:prstGeom prst="rect">
            <a:avLst/>
          </a:prstGeom>
          <a:noFill/>
        </p:spPr>
        <p:txBody>
          <a:bodyPr wrap="square">
            <a:spAutoFit/>
          </a:bodyPr>
          <a:lstStyle/>
          <a:p>
            <a:pPr algn="l"/>
            <a:r>
              <a:rPr sz="1800" b="1" i="0">
                <a:solidFill>
                  <a:srgbClr val="FF8866"/>
                </a:solidFill>
                <a:latin typeface="Calibri"/>
              </a:rPr>
              <a:t>L4</a:t>
            </a:r>
          </a:p>
        </p:txBody>
      </p:sp>
      <p:sp>
        <p:nvSpPr>
          <p:cNvPr id="25" name="TextBox 24"/>
          <p:cNvSpPr txBox="1"/>
          <p:nvPr/>
        </p:nvSpPr>
        <p:spPr>
          <a:xfrm>
            <a:off x="1280160" y="3840480"/>
            <a:ext cx="2718816" cy="512064"/>
          </a:xfrm>
          <a:prstGeom prst="rect">
            <a:avLst/>
          </a:prstGeom>
          <a:noFill/>
        </p:spPr>
        <p:txBody>
          <a:bodyPr wrap="square">
            <a:spAutoFit/>
          </a:bodyPr>
          <a:lstStyle/>
          <a:p>
            <a:pPr algn="l"/>
            <a:r>
              <a:rPr sz="1300" b="1" i="0">
                <a:solidFill>
                  <a:srgbClr val="FFFFFF"/>
                </a:solidFill>
                <a:latin typeface="Calibri"/>
              </a:rPr>
              <a:t>Sin validación externa</a:t>
            </a:r>
          </a:p>
        </p:txBody>
      </p:sp>
      <p:sp>
        <p:nvSpPr>
          <p:cNvPr id="26" name="TextBox 25"/>
          <p:cNvSpPr txBox="1"/>
          <p:nvPr/>
        </p:nvSpPr>
        <p:spPr>
          <a:xfrm>
            <a:off x="731520" y="4398264"/>
            <a:ext cx="3258312" cy="1700784"/>
          </a:xfrm>
          <a:prstGeom prst="rect">
            <a:avLst/>
          </a:prstGeom>
          <a:noFill/>
        </p:spPr>
        <p:txBody>
          <a:bodyPr wrap="square">
            <a:spAutoFit/>
          </a:bodyPr>
          <a:lstStyle/>
          <a:p>
            <a:pPr algn="l"/>
            <a:r>
              <a:rPr sz="1200" b="0" i="0">
                <a:solidFill>
                  <a:srgbClr val="A8C4B4"/>
                </a:solidFill>
                <a:latin typeface="Calibri"/>
              </a:rPr>
              <a:t>Todas las métricas son sobre partición interna de la FVL. Generalización a otras instituciones no demostrada.</a:t>
            </a:r>
          </a:p>
        </p:txBody>
      </p:sp>
      <p:sp>
        <p:nvSpPr>
          <p:cNvPr id="27" name="Rectangle 26"/>
          <p:cNvSpPr/>
          <p:nvPr/>
        </p:nvSpPr>
        <p:spPr>
          <a:xfrm>
            <a:off x="4300728" y="3685032"/>
            <a:ext cx="3587496" cy="2542032"/>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00728" y="3685032"/>
            <a:ext cx="64008" cy="2542032"/>
          </a:xfrm>
          <a:prstGeom prst="rect">
            <a:avLst/>
          </a:prstGeom>
          <a:solidFill>
            <a:srgbClr val="CC5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3608" y="3794760"/>
            <a:ext cx="502920" cy="475488"/>
          </a:xfrm>
          <a:prstGeom prst="rect">
            <a:avLst/>
          </a:prstGeom>
          <a:noFill/>
        </p:spPr>
        <p:txBody>
          <a:bodyPr wrap="square">
            <a:spAutoFit/>
          </a:bodyPr>
          <a:lstStyle/>
          <a:p>
            <a:pPr algn="l"/>
            <a:r>
              <a:rPr sz="1800" b="1" i="0">
                <a:solidFill>
                  <a:srgbClr val="FF8866"/>
                </a:solidFill>
                <a:latin typeface="Calibri"/>
              </a:rPr>
              <a:t>L5</a:t>
            </a:r>
          </a:p>
        </p:txBody>
      </p:sp>
      <p:sp>
        <p:nvSpPr>
          <p:cNvPr id="30" name="TextBox 29"/>
          <p:cNvSpPr txBox="1"/>
          <p:nvPr/>
        </p:nvSpPr>
        <p:spPr>
          <a:xfrm>
            <a:off x="5032248" y="3840480"/>
            <a:ext cx="2718816" cy="512064"/>
          </a:xfrm>
          <a:prstGeom prst="rect">
            <a:avLst/>
          </a:prstGeom>
          <a:noFill/>
        </p:spPr>
        <p:txBody>
          <a:bodyPr wrap="square">
            <a:spAutoFit/>
          </a:bodyPr>
          <a:lstStyle/>
          <a:p>
            <a:pPr algn="l"/>
            <a:r>
              <a:rPr sz="1300" b="1" i="0">
                <a:solidFill>
                  <a:srgbClr val="FFFFFF"/>
                </a:solidFill>
                <a:latin typeface="Calibri"/>
              </a:rPr>
              <a:t>Sesgo de selección (work-up bias)</a:t>
            </a:r>
          </a:p>
        </p:txBody>
      </p:sp>
      <p:sp>
        <p:nvSpPr>
          <p:cNvPr id="31" name="TextBox 30"/>
          <p:cNvSpPr txBox="1"/>
          <p:nvPr/>
        </p:nvSpPr>
        <p:spPr>
          <a:xfrm>
            <a:off x="4483608" y="4398264"/>
            <a:ext cx="3258312" cy="1700784"/>
          </a:xfrm>
          <a:prstGeom prst="rect">
            <a:avLst/>
          </a:prstGeom>
          <a:noFill/>
        </p:spPr>
        <p:txBody>
          <a:bodyPr wrap="square">
            <a:spAutoFit/>
          </a:bodyPr>
          <a:lstStyle/>
          <a:p>
            <a:pPr algn="l"/>
            <a:r>
              <a:rPr sz="1200" b="0" i="0">
                <a:solidFill>
                  <a:srgbClr val="A8C4B4"/>
                </a:solidFill>
                <a:latin typeface="Calibri"/>
              </a:rPr>
              <a:t>El dataset incluye solo pacientes ya remitidos. El modelo aprende dentro de una población preseleccionada, no sobre la población quirúrgica general.</a:t>
            </a:r>
          </a:p>
        </p:txBody>
      </p:sp>
      <p:sp>
        <p:nvSpPr>
          <p:cNvPr id="32" name="TextBox 31"/>
          <p:cNvSpPr txBox="1"/>
          <p:nvPr/>
        </p:nvSpPr>
        <p:spPr>
          <a:xfrm>
            <a:off x="548640" y="6510528"/>
            <a:ext cx="11091672" cy="329184"/>
          </a:xfrm>
          <a:prstGeom prst="rect">
            <a:avLst/>
          </a:prstGeom>
          <a:noFill/>
        </p:spPr>
        <p:txBody>
          <a:bodyPr wrap="square">
            <a:spAutoFit/>
          </a:bodyPr>
          <a:lstStyle/>
          <a:p>
            <a:pPr algn="l"/>
            <a:r>
              <a:rPr sz="1200" b="0" i="1">
                <a:solidFill>
                  <a:srgbClr val="8CC63F"/>
                </a:solidFill>
                <a:latin typeface="Calibri"/>
              </a:rPr>
              <a:t>▸  Estas limitaciones son documentadas con honestidad y orientan directamente el trabajo futuro.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Conclusiones</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06 · Conclusiones y trabajo futuro</a:t>
            </a:r>
          </a:p>
        </p:txBody>
      </p:sp>
      <p:sp>
        <p:nvSpPr>
          <p:cNvPr id="7" name="TextBox 6"/>
          <p:cNvSpPr txBox="1"/>
          <p:nvPr/>
        </p:nvSpPr>
        <p:spPr>
          <a:xfrm>
            <a:off x="548640" y="960120"/>
            <a:ext cx="11091672" cy="365760"/>
          </a:xfrm>
          <a:prstGeom prst="rect">
            <a:avLst/>
          </a:prstGeom>
          <a:noFill/>
        </p:spPr>
        <p:txBody>
          <a:bodyPr wrap="square">
            <a:spAutoFit/>
          </a:bodyPr>
          <a:lstStyle/>
          <a:p>
            <a:pPr algn="l"/>
            <a:r>
              <a:rPr sz="1600" b="1" i="0">
                <a:solidFill>
                  <a:srgbClr val="FFFFFF"/>
                </a:solidFill>
                <a:latin typeface="Calibri"/>
              </a:rPr>
              <a:t>Los cinco objetivos específicos fueron cumplidos.</a:t>
            </a:r>
          </a:p>
        </p:txBody>
      </p:sp>
      <p:sp>
        <p:nvSpPr>
          <p:cNvPr id="8" name="Rectangle 7"/>
          <p:cNvSpPr/>
          <p:nvPr/>
        </p:nvSpPr>
        <p:spPr>
          <a:xfrm>
            <a:off x="548640" y="1389888"/>
            <a:ext cx="2126894"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35608"/>
            <a:ext cx="2126894" cy="566928"/>
          </a:xfrm>
          <a:prstGeom prst="rect">
            <a:avLst/>
          </a:prstGeom>
          <a:noFill/>
        </p:spPr>
        <p:txBody>
          <a:bodyPr wrap="square">
            <a:spAutoFit/>
          </a:bodyPr>
          <a:lstStyle/>
          <a:p>
            <a:pPr algn="ctr"/>
            <a:r>
              <a:rPr sz="1200" b="1" i="0">
                <a:solidFill>
                  <a:srgbClr val="8CC63F"/>
                </a:solidFill>
                <a:latin typeface="Calibri"/>
              </a:rPr>
              <a:t>✓  OE1  Datos</a:t>
            </a:r>
          </a:p>
        </p:txBody>
      </p:sp>
      <p:sp>
        <p:nvSpPr>
          <p:cNvPr id="10" name="Rectangle 9"/>
          <p:cNvSpPr/>
          <p:nvPr/>
        </p:nvSpPr>
        <p:spPr>
          <a:xfrm>
            <a:off x="2794406" y="1389888"/>
            <a:ext cx="2126894"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94406" y="1435608"/>
            <a:ext cx="2126894" cy="566928"/>
          </a:xfrm>
          <a:prstGeom prst="rect">
            <a:avLst/>
          </a:prstGeom>
          <a:noFill/>
        </p:spPr>
        <p:txBody>
          <a:bodyPr wrap="square">
            <a:spAutoFit/>
          </a:bodyPr>
          <a:lstStyle/>
          <a:p>
            <a:pPr algn="ctr"/>
            <a:r>
              <a:rPr sz="1200" b="1" i="0">
                <a:solidFill>
                  <a:srgbClr val="8CC63F"/>
                </a:solidFill>
                <a:latin typeface="Calibri"/>
              </a:rPr>
              <a:t>✓  OE2  Modelo</a:t>
            </a:r>
          </a:p>
        </p:txBody>
      </p:sp>
      <p:sp>
        <p:nvSpPr>
          <p:cNvPr id="12" name="Rectangle 11"/>
          <p:cNvSpPr/>
          <p:nvPr/>
        </p:nvSpPr>
        <p:spPr>
          <a:xfrm>
            <a:off x="5040172" y="1389888"/>
            <a:ext cx="2126894"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172" y="1435608"/>
            <a:ext cx="2126894" cy="566928"/>
          </a:xfrm>
          <a:prstGeom prst="rect">
            <a:avLst/>
          </a:prstGeom>
          <a:noFill/>
        </p:spPr>
        <p:txBody>
          <a:bodyPr wrap="square">
            <a:spAutoFit/>
          </a:bodyPr>
          <a:lstStyle/>
          <a:p>
            <a:pPr algn="ctr"/>
            <a:r>
              <a:rPr sz="1200" b="1" i="0">
                <a:solidFill>
                  <a:srgbClr val="8CC63F"/>
                </a:solidFill>
                <a:latin typeface="Calibri"/>
              </a:rPr>
              <a:t>✓  OE3  Evaluación</a:t>
            </a:r>
          </a:p>
        </p:txBody>
      </p:sp>
      <p:sp>
        <p:nvSpPr>
          <p:cNvPr id="14" name="Rectangle 13"/>
          <p:cNvSpPr/>
          <p:nvPr/>
        </p:nvSpPr>
        <p:spPr>
          <a:xfrm>
            <a:off x="7285939" y="1389888"/>
            <a:ext cx="2126894"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85939" y="1435608"/>
            <a:ext cx="2126894" cy="566928"/>
          </a:xfrm>
          <a:prstGeom prst="rect">
            <a:avLst/>
          </a:prstGeom>
          <a:noFill/>
        </p:spPr>
        <p:txBody>
          <a:bodyPr wrap="square">
            <a:spAutoFit/>
          </a:bodyPr>
          <a:lstStyle/>
          <a:p>
            <a:pPr algn="ctr"/>
            <a:r>
              <a:rPr sz="1200" b="1" i="0">
                <a:solidFill>
                  <a:srgbClr val="8CC63F"/>
                </a:solidFill>
                <a:latin typeface="Calibri"/>
              </a:rPr>
              <a:t>✓  OE4  API</a:t>
            </a:r>
          </a:p>
        </p:txBody>
      </p:sp>
      <p:sp>
        <p:nvSpPr>
          <p:cNvPr id="16" name="Rectangle 15"/>
          <p:cNvSpPr/>
          <p:nvPr/>
        </p:nvSpPr>
        <p:spPr>
          <a:xfrm>
            <a:off x="9531705" y="1389888"/>
            <a:ext cx="2126894" cy="658368"/>
          </a:xfrm>
          <a:prstGeom prst="rect">
            <a:avLst/>
          </a:prstGeom>
          <a:solidFill>
            <a:srgbClr val="1A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31705" y="1435608"/>
            <a:ext cx="2126894" cy="566928"/>
          </a:xfrm>
          <a:prstGeom prst="rect">
            <a:avLst/>
          </a:prstGeom>
          <a:noFill/>
        </p:spPr>
        <p:txBody>
          <a:bodyPr wrap="square">
            <a:spAutoFit/>
          </a:bodyPr>
          <a:lstStyle/>
          <a:p>
            <a:pPr algn="ctr"/>
            <a:r>
              <a:rPr sz="1200" b="1" i="0">
                <a:solidFill>
                  <a:srgbClr val="8CC63F"/>
                </a:solidFill>
                <a:latin typeface="Calibri"/>
              </a:rPr>
              <a:t>✓  OE5  Arquitectura</a:t>
            </a:r>
          </a:p>
        </p:txBody>
      </p:sp>
      <p:sp>
        <p:nvSpPr>
          <p:cNvPr id="18" name="TextBox 17"/>
          <p:cNvSpPr txBox="1"/>
          <p:nvPr/>
        </p:nvSpPr>
        <p:spPr>
          <a:xfrm>
            <a:off x="548640" y="2194560"/>
            <a:ext cx="11091672" cy="329184"/>
          </a:xfrm>
          <a:prstGeom prst="rect">
            <a:avLst/>
          </a:prstGeom>
          <a:noFill/>
        </p:spPr>
        <p:txBody>
          <a:bodyPr wrap="square">
            <a:spAutoFit/>
          </a:bodyPr>
          <a:lstStyle/>
          <a:p>
            <a:pPr algn="l"/>
            <a:r>
              <a:rPr sz="1300" b="1" i="0">
                <a:solidFill>
                  <a:srgbClr val="8CC63F"/>
                </a:solidFill>
                <a:latin typeface="Calibri"/>
              </a:rPr>
              <a:t>TRES DECISIONES DE DISEÑO CON MAYOR IMPACTO</a:t>
            </a:r>
          </a:p>
        </p:txBody>
      </p:sp>
      <p:sp>
        <p:nvSpPr>
          <p:cNvPr id="19" name="Rectangle 18"/>
          <p:cNvSpPr/>
          <p:nvPr/>
        </p:nvSpPr>
        <p:spPr>
          <a:xfrm>
            <a:off x="548640" y="2633472"/>
            <a:ext cx="3587496" cy="3822191"/>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33472"/>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2706624"/>
            <a:ext cx="3313176" cy="530352"/>
          </a:xfrm>
          <a:prstGeom prst="rect">
            <a:avLst/>
          </a:prstGeom>
          <a:noFill/>
        </p:spPr>
        <p:txBody>
          <a:bodyPr wrap="square">
            <a:spAutoFit/>
          </a:bodyPr>
          <a:lstStyle/>
          <a:p>
            <a:pPr algn="l"/>
            <a:r>
              <a:rPr sz="1300" b="1" i="0">
                <a:solidFill>
                  <a:srgbClr val="8CC63F"/>
                </a:solidFill>
                <a:latin typeface="Calibri"/>
              </a:rPr>
              <a:t>1ª  Reformulación iterativa del target</a:t>
            </a:r>
          </a:p>
        </p:txBody>
      </p:sp>
      <p:sp>
        <p:nvSpPr>
          <p:cNvPr id="22" name="TextBox 21"/>
          <p:cNvSpPr txBox="1"/>
          <p:nvPr/>
        </p:nvSpPr>
        <p:spPr>
          <a:xfrm>
            <a:off x="694944" y="3310128"/>
            <a:ext cx="3313176" cy="3017520"/>
          </a:xfrm>
          <a:prstGeom prst="rect">
            <a:avLst/>
          </a:prstGeom>
          <a:noFill/>
        </p:spPr>
        <p:txBody>
          <a:bodyPr wrap="square">
            <a:spAutoFit/>
          </a:bodyPr>
          <a:lstStyle/>
          <a:p>
            <a:pPr algn="l"/>
            <a:r>
              <a:rPr sz="1200" b="0" i="0">
                <a:solidFill>
                  <a:srgbClr val="FFFFFF"/>
                </a:solidFill>
                <a:latin typeface="Calibri"/>
              </a:rPr>
              <a:t>Pasar de 'todos los flags posoperatorios' a 'solo flags con AUC individual &gt; 0.76' elevó el ROC-AUC de ≈ 0.62 a 0.86 sin cambiar el algoritmo.
La definición del problema tiene mayor impacto que la elección del algoritmo.</a:t>
            </a:r>
          </a:p>
        </p:txBody>
      </p:sp>
      <p:sp>
        <p:nvSpPr>
          <p:cNvPr id="23" name="Rectangle 22"/>
          <p:cNvSpPr/>
          <p:nvPr/>
        </p:nvSpPr>
        <p:spPr>
          <a:xfrm>
            <a:off x="4300728" y="2633472"/>
            <a:ext cx="3587496" cy="3822191"/>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00728" y="2633472"/>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47032" y="2706624"/>
            <a:ext cx="3313176" cy="530352"/>
          </a:xfrm>
          <a:prstGeom prst="rect">
            <a:avLst/>
          </a:prstGeom>
          <a:noFill/>
        </p:spPr>
        <p:txBody>
          <a:bodyPr wrap="square">
            <a:spAutoFit/>
          </a:bodyPr>
          <a:lstStyle/>
          <a:p>
            <a:pPr algn="l"/>
            <a:r>
              <a:rPr sz="1300" b="1" i="0">
                <a:solidFill>
                  <a:srgbClr val="8CC63F"/>
                </a:solidFill>
                <a:latin typeface="Calibri"/>
              </a:rPr>
              <a:t>2ª  F2 + threshold bajo (0.14)</a:t>
            </a:r>
          </a:p>
        </p:txBody>
      </p:sp>
      <p:sp>
        <p:nvSpPr>
          <p:cNvPr id="26" name="TextBox 25"/>
          <p:cNvSpPr txBox="1"/>
          <p:nvPr/>
        </p:nvSpPr>
        <p:spPr>
          <a:xfrm>
            <a:off x="4447032" y="3310128"/>
            <a:ext cx="3313176" cy="3017520"/>
          </a:xfrm>
          <a:prstGeom prst="rect">
            <a:avLst/>
          </a:prstGeom>
          <a:noFill/>
        </p:spPr>
        <p:txBody>
          <a:bodyPr wrap="square">
            <a:spAutoFit/>
          </a:bodyPr>
          <a:lstStyle/>
          <a:p>
            <a:pPr algn="l"/>
            <a:r>
              <a:rPr sz="1200" b="0" i="0">
                <a:solidFill>
                  <a:srgbClr val="FFFFFF"/>
                </a:solidFill>
                <a:latin typeface="Calibri"/>
              </a:rPr>
              <a:t>Garantiza Recall 0.853 con Precision 0.371 — balance clínicamente correcto.
El costo de un falso negativo (paciente de riesgo sin valoración) supera ampliamente al de un falso positivo.</a:t>
            </a:r>
          </a:p>
        </p:txBody>
      </p:sp>
      <p:sp>
        <p:nvSpPr>
          <p:cNvPr id="27" name="Rectangle 26"/>
          <p:cNvSpPr/>
          <p:nvPr/>
        </p:nvSpPr>
        <p:spPr>
          <a:xfrm>
            <a:off x="8052816" y="2633472"/>
            <a:ext cx="3587496" cy="3822191"/>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2633472"/>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99120" y="2706624"/>
            <a:ext cx="3313176" cy="530352"/>
          </a:xfrm>
          <a:prstGeom prst="rect">
            <a:avLst/>
          </a:prstGeom>
          <a:noFill/>
        </p:spPr>
        <p:txBody>
          <a:bodyPr wrap="square">
            <a:spAutoFit/>
          </a:bodyPr>
          <a:lstStyle/>
          <a:p>
            <a:pPr algn="l"/>
            <a:r>
              <a:rPr sz="1300" b="1" i="0">
                <a:solidFill>
                  <a:srgbClr val="8CC63F"/>
                </a:solidFill>
                <a:latin typeface="Calibri"/>
              </a:rPr>
              <a:t>3ª  Calibración isotónica obligatoria</a:t>
            </a:r>
          </a:p>
        </p:txBody>
      </p:sp>
      <p:sp>
        <p:nvSpPr>
          <p:cNvPr id="30" name="TextBox 29"/>
          <p:cNvSpPr txBox="1"/>
          <p:nvPr/>
        </p:nvSpPr>
        <p:spPr>
          <a:xfrm>
            <a:off x="8199120" y="3310128"/>
            <a:ext cx="3313176" cy="3017520"/>
          </a:xfrm>
          <a:prstGeom prst="rect">
            <a:avLst/>
          </a:prstGeom>
          <a:noFill/>
        </p:spPr>
        <p:txBody>
          <a:bodyPr wrap="square">
            <a:spAutoFit/>
          </a:bodyPr>
          <a:lstStyle/>
          <a:p>
            <a:pPr algn="l"/>
            <a:r>
              <a:rPr sz="1200" b="0" i="0">
                <a:solidFill>
                  <a:srgbClr val="FFFFFF"/>
                </a:solidFill>
                <a:latin typeface="Calibri"/>
              </a:rPr>
              <a:t>Convierte scores crudos de árboles en probabilidades interpretables.
Brier-score 0.097 confirma que el threshold tiene significado probabilístico real y el clínico puede interpretar el nivel de riesgo asignado.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Trabajo futuro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06 · Conclusiones y trabajo futuro</a:t>
            </a:r>
          </a:p>
        </p:txBody>
      </p:sp>
      <p:sp>
        <p:nvSpPr>
          <p:cNvPr id="7" name="Rectangle 6"/>
          <p:cNvSpPr/>
          <p:nvPr/>
        </p:nvSpPr>
        <p:spPr>
          <a:xfrm>
            <a:off x="548640" y="960120"/>
            <a:ext cx="3587496" cy="25603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069848"/>
            <a:ext cx="384048" cy="502920"/>
          </a:xfrm>
          <a:prstGeom prst="rect">
            <a:avLst/>
          </a:prstGeom>
          <a:noFill/>
        </p:spPr>
        <p:txBody>
          <a:bodyPr wrap="square">
            <a:spAutoFit/>
          </a:bodyPr>
          <a:lstStyle/>
          <a:p>
            <a:pPr algn="l"/>
            <a:r>
              <a:rPr sz="2200" b="1" i="0">
                <a:solidFill>
                  <a:srgbClr val="8CC63F"/>
                </a:solidFill>
                <a:latin typeface="Calibri"/>
              </a:rPr>
              <a:t>1</a:t>
            </a:r>
          </a:p>
        </p:txBody>
      </p:sp>
      <p:sp>
        <p:nvSpPr>
          <p:cNvPr id="10" name="TextBox 9"/>
          <p:cNvSpPr txBox="1"/>
          <p:nvPr/>
        </p:nvSpPr>
        <p:spPr>
          <a:xfrm>
            <a:off x="1143000" y="1088136"/>
            <a:ext cx="2855976" cy="566928"/>
          </a:xfrm>
          <a:prstGeom prst="rect">
            <a:avLst/>
          </a:prstGeom>
          <a:noFill/>
        </p:spPr>
        <p:txBody>
          <a:bodyPr wrap="square">
            <a:spAutoFit/>
          </a:bodyPr>
          <a:lstStyle/>
          <a:p>
            <a:pPr algn="l"/>
            <a:r>
              <a:rPr sz="1300" b="1" i="0">
                <a:solidFill>
                  <a:srgbClr val="FFFFFF"/>
                </a:solidFill>
                <a:latin typeface="Calibri"/>
              </a:rPr>
              <a:t>Validación clínica
formal y prospectiva</a:t>
            </a:r>
          </a:p>
        </p:txBody>
      </p:sp>
      <p:sp>
        <p:nvSpPr>
          <p:cNvPr id="11" name="TextBox 10"/>
          <p:cNvSpPr txBox="1"/>
          <p:nvPr/>
        </p:nvSpPr>
        <p:spPr>
          <a:xfrm>
            <a:off x="713232" y="1728216"/>
            <a:ext cx="3276600" cy="1664208"/>
          </a:xfrm>
          <a:prstGeom prst="rect">
            <a:avLst/>
          </a:prstGeom>
          <a:noFill/>
        </p:spPr>
        <p:txBody>
          <a:bodyPr wrap="square">
            <a:spAutoFit/>
          </a:bodyPr>
          <a:lstStyle/>
          <a:p>
            <a:pPr algn="l"/>
            <a:r>
              <a:rPr sz="1200" b="0" i="0">
                <a:solidFill>
                  <a:srgbClr val="A8C4B4"/>
                </a:solidFill>
                <a:latin typeface="Calibri"/>
              </a:rPr>
              <a:t>Evaluación por anestesiólogos en casos individuales reales. Piloto controlado en FVL con captura de pacientes no remitidos para corregir el work-up bias.</a:t>
            </a:r>
          </a:p>
        </p:txBody>
      </p:sp>
      <p:sp>
        <p:nvSpPr>
          <p:cNvPr id="12" name="Rectangle 11"/>
          <p:cNvSpPr/>
          <p:nvPr/>
        </p:nvSpPr>
        <p:spPr>
          <a:xfrm>
            <a:off x="4300728" y="960120"/>
            <a:ext cx="3587496" cy="25603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0728"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5320" y="1069848"/>
            <a:ext cx="384048" cy="502920"/>
          </a:xfrm>
          <a:prstGeom prst="rect">
            <a:avLst/>
          </a:prstGeom>
          <a:noFill/>
        </p:spPr>
        <p:txBody>
          <a:bodyPr wrap="square">
            <a:spAutoFit/>
          </a:bodyPr>
          <a:lstStyle/>
          <a:p>
            <a:pPr algn="l"/>
            <a:r>
              <a:rPr sz="2200" b="1" i="0">
                <a:solidFill>
                  <a:srgbClr val="8CC63F"/>
                </a:solidFill>
                <a:latin typeface="Calibri"/>
              </a:rPr>
              <a:t>2</a:t>
            </a:r>
          </a:p>
        </p:txBody>
      </p:sp>
      <p:sp>
        <p:nvSpPr>
          <p:cNvPr id="15" name="TextBox 14"/>
          <p:cNvSpPr txBox="1"/>
          <p:nvPr/>
        </p:nvSpPr>
        <p:spPr>
          <a:xfrm>
            <a:off x="4895088" y="1088136"/>
            <a:ext cx="2855976" cy="566928"/>
          </a:xfrm>
          <a:prstGeom prst="rect">
            <a:avLst/>
          </a:prstGeom>
          <a:noFill/>
        </p:spPr>
        <p:txBody>
          <a:bodyPr wrap="square">
            <a:spAutoFit/>
          </a:bodyPr>
          <a:lstStyle/>
          <a:p>
            <a:pPr algn="l"/>
            <a:r>
              <a:rPr sz="1300" b="1" i="0">
                <a:solidFill>
                  <a:srgbClr val="FFFFFF"/>
                </a:solidFill>
                <a:latin typeface="Calibri"/>
              </a:rPr>
              <a:t>Validación externa</a:t>
            </a:r>
          </a:p>
        </p:txBody>
      </p:sp>
      <p:sp>
        <p:nvSpPr>
          <p:cNvPr id="16" name="TextBox 15"/>
          <p:cNvSpPr txBox="1"/>
          <p:nvPr/>
        </p:nvSpPr>
        <p:spPr>
          <a:xfrm>
            <a:off x="4465320" y="1728216"/>
            <a:ext cx="3276600" cy="1664208"/>
          </a:xfrm>
          <a:prstGeom prst="rect">
            <a:avLst/>
          </a:prstGeom>
          <a:noFill/>
        </p:spPr>
        <p:txBody>
          <a:bodyPr wrap="square">
            <a:spAutoFit/>
          </a:bodyPr>
          <a:lstStyle/>
          <a:p>
            <a:pPr algn="l"/>
            <a:r>
              <a:rPr sz="1200" b="0" i="0">
                <a:solidFill>
                  <a:srgbClr val="A8C4B4"/>
                </a:solidFill>
                <a:latin typeface="Calibri"/>
              </a:rPr>
              <a:t>Replicar el modelo en otras instituciones colombianas de alta complejidad con características poblacionales comparables.</a:t>
            </a:r>
          </a:p>
        </p:txBody>
      </p:sp>
      <p:sp>
        <p:nvSpPr>
          <p:cNvPr id="17" name="Rectangle 16"/>
          <p:cNvSpPr/>
          <p:nvPr/>
        </p:nvSpPr>
        <p:spPr>
          <a:xfrm>
            <a:off x="8052816" y="960120"/>
            <a:ext cx="3587496" cy="25603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2816" y="960120"/>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7408" y="1069848"/>
            <a:ext cx="384048" cy="502920"/>
          </a:xfrm>
          <a:prstGeom prst="rect">
            <a:avLst/>
          </a:prstGeom>
          <a:noFill/>
        </p:spPr>
        <p:txBody>
          <a:bodyPr wrap="square">
            <a:spAutoFit/>
          </a:bodyPr>
          <a:lstStyle/>
          <a:p>
            <a:pPr algn="l"/>
            <a:r>
              <a:rPr sz="2200" b="1" i="0">
                <a:solidFill>
                  <a:srgbClr val="8CC63F"/>
                </a:solidFill>
                <a:latin typeface="Calibri"/>
              </a:rPr>
              <a:t>3</a:t>
            </a:r>
          </a:p>
        </p:txBody>
      </p:sp>
      <p:sp>
        <p:nvSpPr>
          <p:cNvPr id="20" name="TextBox 19"/>
          <p:cNvSpPr txBox="1"/>
          <p:nvPr/>
        </p:nvSpPr>
        <p:spPr>
          <a:xfrm>
            <a:off x="8647176" y="1088136"/>
            <a:ext cx="2855976" cy="566928"/>
          </a:xfrm>
          <a:prstGeom prst="rect">
            <a:avLst/>
          </a:prstGeom>
          <a:noFill/>
        </p:spPr>
        <p:txBody>
          <a:bodyPr wrap="square">
            <a:spAutoFit/>
          </a:bodyPr>
          <a:lstStyle/>
          <a:p>
            <a:pPr algn="l"/>
            <a:r>
              <a:rPr sz="1300" b="1" i="0">
                <a:solidFill>
                  <a:srgbClr val="FFFFFF"/>
                </a:solidFill>
                <a:latin typeface="Calibri"/>
              </a:rPr>
              <a:t>Enriquecimiento de
variables</a:t>
            </a:r>
          </a:p>
        </p:txBody>
      </p:sp>
      <p:sp>
        <p:nvSpPr>
          <p:cNvPr id="21" name="TextBox 20"/>
          <p:cNvSpPr txBox="1"/>
          <p:nvPr/>
        </p:nvSpPr>
        <p:spPr>
          <a:xfrm>
            <a:off x="8217408" y="1728216"/>
            <a:ext cx="3276600" cy="1664208"/>
          </a:xfrm>
          <a:prstGeom prst="rect">
            <a:avLst/>
          </a:prstGeom>
          <a:noFill/>
        </p:spPr>
        <p:txBody>
          <a:bodyPr wrap="square">
            <a:spAutoFit/>
          </a:bodyPr>
          <a:lstStyle/>
          <a:p>
            <a:pPr algn="l"/>
            <a:r>
              <a:rPr sz="1200" b="0" i="0">
                <a:solidFill>
                  <a:srgbClr val="A8C4B4"/>
                </a:solidFill>
                <a:latin typeface="Calibri"/>
              </a:rPr>
              <a:t>Incorporar valores continuos (HbA1c, creatinina sérica, fracción de eyección) en lugar de indicadores binarios. Mejora crítica para subgrupos CV y endocrinológico.</a:t>
            </a:r>
          </a:p>
        </p:txBody>
      </p:sp>
      <p:sp>
        <p:nvSpPr>
          <p:cNvPr id="22" name="Rectangle 21"/>
          <p:cNvSpPr/>
          <p:nvPr/>
        </p:nvSpPr>
        <p:spPr>
          <a:xfrm>
            <a:off x="548640" y="3685032"/>
            <a:ext cx="3587496" cy="25603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685032"/>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794760"/>
            <a:ext cx="384048" cy="502920"/>
          </a:xfrm>
          <a:prstGeom prst="rect">
            <a:avLst/>
          </a:prstGeom>
          <a:noFill/>
        </p:spPr>
        <p:txBody>
          <a:bodyPr wrap="square">
            <a:spAutoFit/>
          </a:bodyPr>
          <a:lstStyle/>
          <a:p>
            <a:pPr algn="l"/>
            <a:r>
              <a:rPr sz="2200" b="1" i="0">
                <a:solidFill>
                  <a:srgbClr val="8CC63F"/>
                </a:solidFill>
                <a:latin typeface="Calibri"/>
              </a:rPr>
              <a:t>4</a:t>
            </a:r>
          </a:p>
        </p:txBody>
      </p:sp>
      <p:sp>
        <p:nvSpPr>
          <p:cNvPr id="25" name="TextBox 24"/>
          <p:cNvSpPr txBox="1"/>
          <p:nvPr/>
        </p:nvSpPr>
        <p:spPr>
          <a:xfrm>
            <a:off x="1143000" y="3813048"/>
            <a:ext cx="2855976" cy="566928"/>
          </a:xfrm>
          <a:prstGeom prst="rect">
            <a:avLst/>
          </a:prstGeom>
          <a:noFill/>
        </p:spPr>
        <p:txBody>
          <a:bodyPr wrap="square">
            <a:spAutoFit/>
          </a:bodyPr>
          <a:lstStyle/>
          <a:p>
            <a:pPr algn="l"/>
            <a:r>
              <a:rPr sz="1300" b="1" i="0">
                <a:solidFill>
                  <a:srgbClr val="FFFFFF"/>
                </a:solidFill>
                <a:latin typeface="Calibri"/>
              </a:rPr>
              <a:t>Extensión a
población pediátrica</a:t>
            </a:r>
          </a:p>
        </p:txBody>
      </p:sp>
      <p:sp>
        <p:nvSpPr>
          <p:cNvPr id="26" name="TextBox 25"/>
          <p:cNvSpPr txBox="1"/>
          <p:nvPr/>
        </p:nvSpPr>
        <p:spPr>
          <a:xfrm>
            <a:off x="713232" y="4453128"/>
            <a:ext cx="3276600" cy="1664208"/>
          </a:xfrm>
          <a:prstGeom prst="rect">
            <a:avLst/>
          </a:prstGeom>
          <a:noFill/>
        </p:spPr>
        <p:txBody>
          <a:bodyPr wrap="square">
            <a:spAutoFit/>
          </a:bodyPr>
          <a:lstStyle/>
          <a:p>
            <a:pPr algn="l"/>
            <a:r>
              <a:rPr sz="1200" b="0" i="0">
                <a:solidFill>
                  <a:srgbClr val="A8C4B4"/>
                </a:solidFill>
                <a:latin typeface="Calibri"/>
              </a:rPr>
              <a:t>Modelo específico para los 6 683 registros pediátricos excluidos, con variable objetivo adaptada y validación con el equipo de anestesia pediátrica de la FVL.</a:t>
            </a:r>
          </a:p>
        </p:txBody>
      </p:sp>
      <p:sp>
        <p:nvSpPr>
          <p:cNvPr id="27" name="Rectangle 26"/>
          <p:cNvSpPr/>
          <p:nvPr/>
        </p:nvSpPr>
        <p:spPr>
          <a:xfrm>
            <a:off x="4300728" y="3685032"/>
            <a:ext cx="3587496" cy="2560320"/>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00728" y="3685032"/>
            <a:ext cx="3587496" cy="50292"/>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5320" y="3794760"/>
            <a:ext cx="384048" cy="502920"/>
          </a:xfrm>
          <a:prstGeom prst="rect">
            <a:avLst/>
          </a:prstGeom>
          <a:noFill/>
        </p:spPr>
        <p:txBody>
          <a:bodyPr wrap="square">
            <a:spAutoFit/>
          </a:bodyPr>
          <a:lstStyle/>
          <a:p>
            <a:pPr algn="l"/>
            <a:r>
              <a:rPr sz="2200" b="1" i="0">
                <a:solidFill>
                  <a:srgbClr val="8CC63F"/>
                </a:solidFill>
                <a:latin typeface="Calibri"/>
              </a:rPr>
              <a:t>5</a:t>
            </a:r>
          </a:p>
        </p:txBody>
      </p:sp>
      <p:sp>
        <p:nvSpPr>
          <p:cNvPr id="30" name="TextBox 29"/>
          <p:cNvSpPr txBox="1"/>
          <p:nvPr/>
        </p:nvSpPr>
        <p:spPr>
          <a:xfrm>
            <a:off x="4895088" y="3813048"/>
            <a:ext cx="2855976" cy="566928"/>
          </a:xfrm>
          <a:prstGeom prst="rect">
            <a:avLst/>
          </a:prstGeom>
          <a:noFill/>
        </p:spPr>
        <p:txBody>
          <a:bodyPr wrap="square">
            <a:spAutoFit/>
          </a:bodyPr>
          <a:lstStyle/>
          <a:p>
            <a:pPr algn="l"/>
            <a:r>
              <a:rPr sz="1300" b="1" i="0">
                <a:solidFill>
                  <a:srgbClr val="FFFFFF"/>
                </a:solidFill>
                <a:latin typeface="Calibri"/>
              </a:rPr>
              <a:t>Integración efectiva
con OPERA</a:t>
            </a:r>
          </a:p>
        </p:txBody>
      </p:sp>
      <p:sp>
        <p:nvSpPr>
          <p:cNvPr id="31" name="TextBox 30"/>
          <p:cNvSpPr txBox="1"/>
          <p:nvPr/>
        </p:nvSpPr>
        <p:spPr>
          <a:xfrm>
            <a:off x="4465320" y="4453128"/>
            <a:ext cx="3276600" cy="1664208"/>
          </a:xfrm>
          <a:prstGeom prst="rect">
            <a:avLst/>
          </a:prstGeom>
          <a:noFill/>
        </p:spPr>
        <p:txBody>
          <a:bodyPr wrap="square">
            <a:spAutoFit/>
          </a:bodyPr>
          <a:lstStyle/>
          <a:p>
            <a:pPr algn="l"/>
            <a:r>
              <a:rPr sz="1200" b="0" i="0">
                <a:solidFill>
                  <a:srgbClr val="A8C4B4"/>
                </a:solidFill>
                <a:latin typeface="Calibri"/>
              </a:rPr>
              <a:t>Piloto de conexión real con la HCE institucional: consumo directo de variables, evaluación de latencia en producción y recalibración periódica del modelo.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365760" y="164592"/>
            <a:ext cx="11457432" cy="566928"/>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91440" cy="566928"/>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091672" cy="530352"/>
          </a:xfrm>
          <a:prstGeom prst="rect">
            <a:avLst/>
          </a:prstGeom>
          <a:noFill/>
        </p:spPr>
        <p:txBody>
          <a:bodyPr wrap="square">
            <a:spAutoFit/>
          </a:bodyPr>
          <a:lstStyle/>
          <a:p>
            <a:pPr algn="l"/>
            <a:r>
              <a:rPr sz="2400" b="1" i="0">
                <a:solidFill>
                  <a:srgbClr val="FFFFFF"/>
                </a:solidFill>
                <a:latin typeface="Calibri"/>
              </a:rPr>
              <a:t>Aporte del proyecto</a:t>
            </a:r>
          </a:p>
        </p:txBody>
      </p:sp>
      <p:sp>
        <p:nvSpPr>
          <p:cNvPr id="5" name="Rectangle 4"/>
          <p:cNvSpPr/>
          <p:nvPr/>
        </p:nvSpPr>
        <p:spPr>
          <a:xfrm>
            <a:off x="365760" y="749808"/>
            <a:ext cx="11457432" cy="3657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2712" y="786384"/>
            <a:ext cx="3931920" cy="228600"/>
          </a:xfrm>
          <a:prstGeom prst="rect">
            <a:avLst/>
          </a:prstGeom>
          <a:noFill/>
        </p:spPr>
        <p:txBody>
          <a:bodyPr wrap="square">
            <a:spAutoFit/>
          </a:bodyPr>
          <a:lstStyle/>
          <a:p>
            <a:pPr algn="r"/>
            <a:r>
              <a:rPr sz="1000" b="0" i="1">
                <a:solidFill>
                  <a:srgbClr val="A8C4B4"/>
                </a:solidFill>
                <a:latin typeface="Calibri"/>
              </a:rPr>
              <a:t>06 · Conclusiones</a:t>
            </a:r>
          </a:p>
        </p:txBody>
      </p:sp>
      <p:sp>
        <p:nvSpPr>
          <p:cNvPr id="7" name="TextBox 6"/>
          <p:cNvSpPr txBox="1"/>
          <p:nvPr/>
        </p:nvSpPr>
        <p:spPr>
          <a:xfrm>
            <a:off x="548640" y="960120"/>
            <a:ext cx="11091672" cy="594360"/>
          </a:xfrm>
          <a:prstGeom prst="rect">
            <a:avLst/>
          </a:prstGeom>
          <a:noFill/>
        </p:spPr>
        <p:txBody>
          <a:bodyPr wrap="square">
            <a:spAutoFit/>
          </a:bodyPr>
          <a:lstStyle/>
          <a:p>
            <a:pPr algn="l"/>
            <a:r>
              <a:rPr sz="1400" b="0" i="0">
                <a:solidFill>
                  <a:srgbClr val="FFFFFF"/>
                </a:solidFill>
                <a:latin typeface="Calibri"/>
              </a:rPr>
              <a:t>El proyecto entrega un pipeline reproducible de extremo a extremo:
desde los registros del sistema HCE hasta un servicio de inferencia con probabilidades calibradas,
específicamente diseñado para el contexto clínico y operativo de la FVL.</a:t>
            </a:r>
          </a:p>
        </p:txBody>
      </p:sp>
      <p:sp>
        <p:nvSpPr>
          <p:cNvPr id="8" name="Rectangle 7"/>
          <p:cNvSpPr/>
          <p:nvPr/>
        </p:nvSpPr>
        <p:spPr>
          <a:xfrm>
            <a:off x="548640" y="1682496"/>
            <a:ext cx="5436108" cy="22311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82496"/>
            <a:ext cx="64008" cy="223113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92224"/>
            <a:ext cx="5125212" cy="457200"/>
          </a:xfrm>
          <a:prstGeom prst="rect">
            <a:avLst/>
          </a:prstGeom>
          <a:noFill/>
        </p:spPr>
        <p:txBody>
          <a:bodyPr wrap="square">
            <a:spAutoFit/>
          </a:bodyPr>
          <a:lstStyle/>
          <a:p>
            <a:pPr algn="l"/>
            <a:r>
              <a:rPr sz="1400" b="1" i="0">
                <a:solidFill>
                  <a:srgbClr val="8CC63F"/>
                </a:solidFill>
                <a:latin typeface="Calibri"/>
              </a:rPr>
              <a:t>Técnico</a:t>
            </a:r>
          </a:p>
        </p:txBody>
      </p:sp>
      <p:sp>
        <p:nvSpPr>
          <p:cNvPr id="11" name="TextBox 10"/>
          <p:cNvSpPr txBox="1"/>
          <p:nvPr/>
        </p:nvSpPr>
        <p:spPr>
          <a:xfrm>
            <a:off x="731520" y="2304288"/>
            <a:ext cx="5125212" cy="1499616"/>
          </a:xfrm>
          <a:prstGeom prst="rect">
            <a:avLst/>
          </a:prstGeom>
          <a:noFill/>
        </p:spPr>
        <p:txBody>
          <a:bodyPr wrap="square">
            <a:spAutoFit/>
          </a:bodyPr>
          <a:lstStyle/>
          <a:p>
            <a:pPr algn="l"/>
            <a:r>
              <a:rPr sz="1250" b="0" i="0">
                <a:solidFill>
                  <a:srgbClr val="FFFFFF"/>
                </a:solidFill>
                <a:latin typeface="Calibri"/>
              </a:rPr>
              <a:t>Pipeline CRISP-DM completo: limpieza determinista, codificación CIE-10 + LLM, calibración isotónica, SHAP, manifiesto como contrato. Todo documentado y versionado.</a:t>
            </a:r>
          </a:p>
        </p:txBody>
      </p:sp>
      <p:sp>
        <p:nvSpPr>
          <p:cNvPr id="12" name="Rectangle 11"/>
          <p:cNvSpPr/>
          <p:nvPr/>
        </p:nvSpPr>
        <p:spPr>
          <a:xfrm>
            <a:off x="6167628" y="1682496"/>
            <a:ext cx="5436108" cy="22311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67628" y="1682496"/>
            <a:ext cx="64008" cy="223113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508" y="1792224"/>
            <a:ext cx="5125212" cy="457200"/>
          </a:xfrm>
          <a:prstGeom prst="rect">
            <a:avLst/>
          </a:prstGeom>
          <a:noFill/>
        </p:spPr>
        <p:txBody>
          <a:bodyPr wrap="square">
            <a:spAutoFit/>
          </a:bodyPr>
          <a:lstStyle/>
          <a:p>
            <a:pPr algn="l"/>
            <a:r>
              <a:rPr sz="1400" b="1" i="0">
                <a:solidFill>
                  <a:srgbClr val="8CC63F"/>
                </a:solidFill>
                <a:latin typeface="Calibri"/>
              </a:rPr>
              <a:t>Clínico</a:t>
            </a:r>
          </a:p>
        </p:txBody>
      </p:sp>
      <p:sp>
        <p:nvSpPr>
          <p:cNvPr id="15" name="TextBox 14"/>
          <p:cNvSpPr txBox="1"/>
          <p:nvPr/>
        </p:nvSpPr>
        <p:spPr>
          <a:xfrm>
            <a:off x="6350508" y="2304288"/>
            <a:ext cx="5125212" cy="1499616"/>
          </a:xfrm>
          <a:prstGeom prst="rect">
            <a:avLst/>
          </a:prstGeom>
          <a:noFill/>
        </p:spPr>
        <p:txBody>
          <a:bodyPr wrap="square">
            <a:spAutoFit/>
          </a:bodyPr>
          <a:lstStyle/>
          <a:p>
            <a:pPr algn="l"/>
            <a:r>
              <a:rPr sz="1250" b="0" i="0">
                <a:solidFill>
                  <a:srgbClr val="FFFFFF"/>
                </a:solidFill>
                <a:latin typeface="Calibri"/>
              </a:rPr>
              <a:t>Modelo con Recall 0.853 orientado al contexto: FN más costoso que FP. Validación cualitativa con equipo clínico FVL. Explicabilidad por caso (SHAP).</a:t>
            </a:r>
          </a:p>
        </p:txBody>
      </p:sp>
      <p:sp>
        <p:nvSpPr>
          <p:cNvPr id="16" name="Rectangle 15"/>
          <p:cNvSpPr/>
          <p:nvPr/>
        </p:nvSpPr>
        <p:spPr>
          <a:xfrm>
            <a:off x="548640" y="4078224"/>
            <a:ext cx="5436108" cy="22311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78224"/>
            <a:ext cx="64008" cy="223113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187952"/>
            <a:ext cx="5125212" cy="457200"/>
          </a:xfrm>
          <a:prstGeom prst="rect">
            <a:avLst/>
          </a:prstGeom>
          <a:noFill/>
        </p:spPr>
        <p:txBody>
          <a:bodyPr wrap="square">
            <a:spAutoFit/>
          </a:bodyPr>
          <a:lstStyle/>
          <a:p>
            <a:pPr algn="l"/>
            <a:r>
              <a:rPr sz="1400" b="1" i="0">
                <a:solidFill>
                  <a:srgbClr val="8CC63F"/>
                </a:solidFill>
                <a:latin typeface="Calibri"/>
              </a:rPr>
              <a:t>Ético</a:t>
            </a:r>
          </a:p>
        </p:txBody>
      </p:sp>
      <p:sp>
        <p:nvSpPr>
          <p:cNvPr id="19" name="TextBox 18"/>
          <p:cNvSpPr txBox="1"/>
          <p:nvPr/>
        </p:nvSpPr>
        <p:spPr>
          <a:xfrm>
            <a:off x="731520" y="4700016"/>
            <a:ext cx="5125212" cy="1499616"/>
          </a:xfrm>
          <a:prstGeom prst="rect">
            <a:avLst/>
          </a:prstGeom>
          <a:noFill/>
        </p:spPr>
        <p:txBody>
          <a:bodyPr wrap="square">
            <a:spAutoFit/>
          </a:bodyPr>
          <a:lstStyle/>
          <a:p>
            <a:pPr algn="l"/>
            <a:r>
              <a:rPr sz="1250" b="0" i="0">
                <a:solidFill>
                  <a:srgbClr val="FFFFFF"/>
                </a:solidFill>
                <a:latin typeface="Calibri"/>
              </a:rPr>
              <a:t>La herramienta es apoyo a la decisión — la responsabilidad recae en el equipo médico. Los sesgos (CV, endocrino) se comunican explícitamente. No usar como criterio excluyente.</a:t>
            </a:r>
          </a:p>
        </p:txBody>
      </p:sp>
      <p:sp>
        <p:nvSpPr>
          <p:cNvPr id="20" name="Rectangle 19"/>
          <p:cNvSpPr/>
          <p:nvPr/>
        </p:nvSpPr>
        <p:spPr>
          <a:xfrm>
            <a:off x="6167628" y="4078224"/>
            <a:ext cx="5436108" cy="2231136"/>
          </a:xfrm>
          <a:prstGeom prst="rect">
            <a:avLst/>
          </a:prstGeom>
          <a:solidFill>
            <a:srgbClr val="1A4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7628" y="4078224"/>
            <a:ext cx="64008" cy="2231136"/>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508" y="4187952"/>
            <a:ext cx="5125212" cy="457200"/>
          </a:xfrm>
          <a:prstGeom prst="rect">
            <a:avLst/>
          </a:prstGeom>
          <a:noFill/>
        </p:spPr>
        <p:txBody>
          <a:bodyPr wrap="square">
            <a:spAutoFit/>
          </a:bodyPr>
          <a:lstStyle/>
          <a:p>
            <a:pPr algn="l"/>
            <a:r>
              <a:rPr sz="1400" b="1" i="0">
                <a:solidFill>
                  <a:srgbClr val="8CC63F"/>
                </a:solidFill>
                <a:latin typeface="Calibri"/>
              </a:rPr>
              <a:t>Referencia metodológica</a:t>
            </a:r>
          </a:p>
        </p:txBody>
      </p:sp>
      <p:sp>
        <p:nvSpPr>
          <p:cNvPr id="23" name="TextBox 22"/>
          <p:cNvSpPr txBox="1"/>
          <p:nvPr/>
        </p:nvSpPr>
        <p:spPr>
          <a:xfrm>
            <a:off x="6350508" y="4700016"/>
            <a:ext cx="5125212" cy="1499616"/>
          </a:xfrm>
          <a:prstGeom prst="rect">
            <a:avLst/>
          </a:prstGeom>
          <a:noFill/>
        </p:spPr>
        <p:txBody>
          <a:bodyPr wrap="square">
            <a:spAutoFit/>
          </a:bodyPr>
          <a:lstStyle/>
          <a:p>
            <a:pPr algn="l"/>
            <a:r>
              <a:rPr sz="1250" b="0" i="0">
                <a:solidFill>
                  <a:srgbClr val="FFFFFF"/>
                </a:solidFill>
                <a:latin typeface="Calibri"/>
              </a:rPr>
              <a:t>Marco reproducible como referente sobre uso responsable de IA en procesos preoperatorios en Colombia. Código fuente, pruebas, reportes y documentación disponibles en GitHub.</a:t>
            </a:r>
          </a:p>
        </p:txBody>
      </p:sp>
      <p:sp>
        <p:nvSpPr>
          <p:cNvPr id="24" name="TextBox 23"/>
          <p:cNvSpPr txBox="1"/>
          <p:nvPr/>
        </p:nvSpPr>
        <p:spPr>
          <a:xfrm>
            <a:off x="548640" y="6547104"/>
            <a:ext cx="11091672" cy="310896"/>
          </a:xfrm>
          <a:prstGeom prst="rect">
            <a:avLst/>
          </a:prstGeom>
          <a:noFill/>
        </p:spPr>
        <p:txBody>
          <a:bodyPr wrap="square">
            <a:spAutoFit/>
          </a:bodyPr>
          <a:lstStyle/>
          <a:p>
            <a:pPr algn="l"/>
            <a:r>
              <a:rPr sz="1200" b="0" i="1">
                <a:solidFill>
                  <a:srgbClr val="A8C4B4"/>
                </a:solidFill>
                <a:latin typeface="Calibri"/>
              </a:rPr>
              <a:t>github.com/AIFVL/predictive-screening-preanesthesia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C2D2D"/>
        </a:solidFill>
        <a:effectLst/>
      </p:bgPr>
    </p:bg>
    <p:spTree>
      <p:nvGrpSpPr>
        <p:cNvPr id="1" name=""/>
        <p:cNvGrpSpPr/>
        <p:nvPr/>
      </p:nvGrpSpPr>
      <p:grpSpPr/>
      <p:sp>
        <p:nvSpPr>
          <p:cNvPr id="2" name="Rectangle 1"/>
          <p:cNvSpPr/>
          <p:nvPr/>
        </p:nvSpPr>
        <p:spPr>
          <a:xfrm>
            <a:off x="0" y="0"/>
            <a:ext cx="7069592" cy="6858000"/>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959864" y="0"/>
            <a:ext cx="118872" cy="6858000"/>
          </a:xfrm>
          <a:prstGeom prst="rect">
            <a:avLst/>
          </a:prstGeom>
          <a:solidFill>
            <a:srgbClr val="8CC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6246632" cy="2651760"/>
          </a:xfrm>
          <a:prstGeom prst="rect">
            <a:avLst/>
          </a:prstGeom>
          <a:noFill/>
        </p:spPr>
        <p:txBody>
          <a:bodyPr wrap="square">
            <a:spAutoFit/>
          </a:bodyPr>
          <a:lstStyle/>
          <a:p>
            <a:pPr algn="l"/>
            <a:r>
              <a:rPr sz="3000" b="1" i="0">
                <a:solidFill>
                  <a:srgbClr val="FFFFFF"/>
                </a:solidFill>
                <a:latin typeface="Calibri"/>
              </a:rPr>
              <a:t>Un modelo no
reemplaza el juicio
clínico. Lo hace
más oportuno.</a:t>
            </a:r>
          </a:p>
        </p:txBody>
      </p:sp>
      <p:sp>
        <p:nvSpPr>
          <p:cNvPr id="5" name="TextBox 4"/>
          <p:cNvSpPr txBox="1"/>
          <p:nvPr/>
        </p:nvSpPr>
        <p:spPr>
          <a:xfrm>
            <a:off x="502920" y="3931920"/>
            <a:ext cx="6246632" cy="402336"/>
          </a:xfrm>
          <a:prstGeom prst="rect">
            <a:avLst/>
          </a:prstGeom>
          <a:noFill/>
        </p:spPr>
        <p:txBody>
          <a:bodyPr wrap="square">
            <a:spAutoFit/>
          </a:bodyPr>
          <a:lstStyle/>
          <a:p>
            <a:pPr algn="l"/>
            <a:r>
              <a:rPr sz="1300" b="1" i="0">
                <a:solidFill>
                  <a:srgbClr val="8CC63F"/>
                </a:solidFill>
                <a:latin typeface="Calibri"/>
              </a:rPr>
              <a:t>XGBoost calibrado  ·  ROC-AUC 0.861  ·  Recall 0.853  ·  F2 0.677</a:t>
            </a:r>
          </a:p>
        </p:txBody>
      </p:sp>
      <p:sp>
        <p:nvSpPr>
          <p:cNvPr id="6" name="TextBox 5"/>
          <p:cNvSpPr txBox="1"/>
          <p:nvPr/>
        </p:nvSpPr>
        <p:spPr>
          <a:xfrm>
            <a:off x="502920" y="4572000"/>
            <a:ext cx="6246632" cy="1005840"/>
          </a:xfrm>
          <a:prstGeom prst="rect">
            <a:avLst/>
          </a:prstGeom>
          <a:noFill/>
        </p:spPr>
        <p:txBody>
          <a:bodyPr wrap="square">
            <a:spAutoFit/>
          </a:bodyPr>
          <a:lstStyle/>
          <a:p>
            <a:pPr algn="l"/>
            <a:r>
              <a:rPr sz="1400" b="0" i="0">
                <a:solidFill>
                  <a:srgbClr val="A8C4B4"/>
                </a:solidFill>
                <a:latin typeface="Calibri"/>
              </a:rPr>
              <a:t>María Alejandra Mantilla Coral
Silem Nabib Villa Contreras
Andrés David Parra García</a:t>
            </a:r>
          </a:p>
        </p:txBody>
      </p:sp>
      <p:sp>
        <p:nvSpPr>
          <p:cNvPr id="7" name="TextBox 6"/>
          <p:cNvSpPr txBox="1"/>
          <p:nvPr/>
        </p:nvSpPr>
        <p:spPr>
          <a:xfrm>
            <a:off x="502920" y="5742432"/>
            <a:ext cx="6246632" cy="329184"/>
          </a:xfrm>
          <a:prstGeom prst="rect">
            <a:avLst/>
          </a:prstGeom>
          <a:noFill/>
        </p:spPr>
        <p:txBody>
          <a:bodyPr wrap="square">
            <a:spAutoFit/>
          </a:bodyPr>
          <a:lstStyle/>
          <a:p>
            <a:pPr algn="l"/>
            <a:r>
              <a:rPr sz="1200" b="0" i="1">
                <a:solidFill>
                  <a:srgbClr val="A8C4B4"/>
                </a:solidFill>
                <a:latin typeface="Calibri"/>
              </a:rPr>
              <a:t>Ingeniería de Sistemas  ·  ICESI  ·  2026</a:t>
            </a:r>
          </a:p>
        </p:txBody>
      </p:sp>
      <p:sp>
        <p:nvSpPr>
          <p:cNvPr id="8" name="TextBox 7"/>
          <p:cNvSpPr txBox="1"/>
          <p:nvPr/>
        </p:nvSpPr>
        <p:spPr>
          <a:xfrm>
            <a:off x="7325624" y="1737360"/>
            <a:ext cx="4589007" cy="1005840"/>
          </a:xfrm>
          <a:prstGeom prst="rect">
            <a:avLst/>
          </a:prstGeom>
          <a:noFill/>
        </p:spPr>
        <p:txBody>
          <a:bodyPr wrap="square">
            <a:spAutoFit/>
          </a:bodyPr>
          <a:lstStyle/>
          <a:p>
            <a:pPr algn="ctr"/>
            <a:r>
              <a:rPr sz="4000" b="1" i="0">
                <a:solidFill>
                  <a:srgbClr val="FFFFFF"/>
                </a:solidFill>
                <a:latin typeface="Calibri"/>
              </a:rPr>
              <a:t>¡Gracias!</a:t>
            </a:r>
          </a:p>
        </p:txBody>
      </p:sp>
      <p:sp>
        <p:nvSpPr>
          <p:cNvPr id="9" name="TextBox 8"/>
          <p:cNvSpPr txBox="1"/>
          <p:nvPr/>
        </p:nvSpPr>
        <p:spPr>
          <a:xfrm>
            <a:off x="7325624" y="2926080"/>
            <a:ext cx="4589007" cy="594360"/>
          </a:xfrm>
          <a:prstGeom prst="rect">
            <a:avLst/>
          </a:prstGeom>
          <a:noFill/>
        </p:spPr>
        <p:txBody>
          <a:bodyPr wrap="square">
            <a:spAutoFit/>
          </a:bodyPr>
          <a:lstStyle/>
          <a:p>
            <a:pPr algn="ctr"/>
            <a:r>
              <a:rPr sz="2400" b="0" i="0">
                <a:solidFill>
                  <a:srgbClr val="8CC63F"/>
                </a:solidFill>
                <a:latin typeface="Calibri"/>
              </a:rPr>
              <a:t>¿Preguntas?</a:t>
            </a:r>
          </a:p>
        </p:txBody>
      </p:sp>
      <p:sp>
        <p:nvSpPr>
          <p:cNvPr id="10" name="TextBox 9"/>
          <p:cNvSpPr txBox="1"/>
          <p:nvPr/>
        </p:nvSpPr>
        <p:spPr>
          <a:xfrm>
            <a:off x="7325624" y="3931920"/>
            <a:ext cx="4589007" cy="1920240"/>
          </a:xfrm>
          <a:prstGeom prst="rect">
            <a:avLst/>
          </a:prstGeom>
          <a:noFill/>
        </p:spPr>
        <p:txBody>
          <a:bodyPr wrap="square">
            <a:spAutoFit/>
          </a:bodyPr>
          <a:lstStyle/>
          <a:p>
            <a:pPr algn="ctr"/>
            <a:r>
              <a:rPr sz="1300" b="0" i="1">
                <a:solidFill>
                  <a:srgbClr val="A8C4B4"/>
                </a:solidFill>
                <a:latin typeface="Calibri"/>
              </a:rPr>
              <a:t>[Logo ICESI]
[Logo Fundación
Valle del Lili]</a:t>
            </a:r>
          </a:p>
        </p:txBody>
      </p:sp>
      <p:sp>
        <p:nvSpPr>
          <p:cNvPr id="11" name="TextBox 10"/>
          <p:cNvSpPr txBox="1"/>
          <p:nvPr/>
        </p:nvSpPr>
        <p:spPr>
          <a:xfrm>
            <a:off x="7325624" y="6144768"/>
            <a:ext cx="4589007" cy="347472"/>
          </a:xfrm>
          <a:prstGeom prst="rect">
            <a:avLst/>
          </a:prstGeom>
          <a:noFill/>
        </p:spPr>
        <p:txBody>
          <a:bodyPr wrap="square">
            <a:spAutoFit/>
          </a:bodyPr>
          <a:lstStyle/>
          <a:p>
            <a:pPr algn="ctr"/>
            <a:r>
              <a:rPr sz="1100" b="0" i="1">
                <a:solidFill>
                  <a:srgbClr val="A8C4B4"/>
                </a:solidFill>
                <a:latin typeface="Calibri"/>
              </a:rPr>
              <a:t>github.com/AIFVL/predictive-screening-preanesthesia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